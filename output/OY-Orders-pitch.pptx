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901b9fe76248c6" /><Relationship Type="http://schemas.openxmlformats.org/officeDocument/2006/relationships/extended-properties" Target="/docProps/app.xml" Id="R32b23237d6134421" /><Relationship Type="http://schemas.openxmlformats.org/officeDocument/2006/relationships/officeDocument" Target="/ppt/presentation.xml" Id="R4ff8577e63fc4d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9033a5dd504ca4"/>
  </p:sldMasterIdLst>
  <p:notesMasterIdLst>
    <p:notesMasterId xmlns:r="http://schemas.openxmlformats.org/officeDocument/2006/relationships" r:id="R99808a470f5741f5"/>
  </p:notesMasterIdLst>
  <p:sldIdLst>
    <p:sldId xmlns:r="http://schemas.openxmlformats.org/officeDocument/2006/relationships" id="256" r:id="R1fc3823aa7a841ad"/>
    <p:sldId xmlns:r="http://schemas.openxmlformats.org/officeDocument/2006/relationships" id="257" r:id="R7907889a86c74b60"/>
    <p:sldId xmlns:r="http://schemas.openxmlformats.org/officeDocument/2006/relationships" id="258" r:id="Racf6a29b3af54f55"/>
    <p:sldId xmlns:r="http://schemas.openxmlformats.org/officeDocument/2006/relationships" id="259" r:id="Rfceb86f44c764379"/>
    <p:sldId xmlns:r="http://schemas.openxmlformats.org/officeDocument/2006/relationships" id="260" r:id="Ra5f5cae346d149aa"/>
    <p:sldId xmlns:r="http://schemas.openxmlformats.org/officeDocument/2006/relationships" id="261" r:id="R978cfaf6dba24c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56004d2df041d1" /><Relationship Type="http://schemas.openxmlformats.org/officeDocument/2006/relationships/slideMaster" Target="/ppt/slideMasters/slideMaster1.xml" Id="R579033a5dd504ca4" /><Relationship Type="http://schemas.openxmlformats.org/officeDocument/2006/relationships/notesMaster" Target="/ppt/notesMasters/notesMaster1.xml" Id="R99808a470f5741f5" /><Relationship Type="http://schemas.openxmlformats.org/officeDocument/2006/relationships/presProps" Target="/ppt/presProps.xml" Id="R36e9096ff161431b" /><Relationship Type="http://schemas.openxmlformats.org/officeDocument/2006/relationships/tableStyles" Target="/ppt/tableStyles.xml" Id="Rf3b60e22fca54d5f" /><Relationship Type="http://schemas.openxmlformats.org/officeDocument/2006/relationships/slide" Target="/ppt/slides/slide1.xml" Id="R1fc3823aa7a841ad" /><Relationship Type="http://schemas.openxmlformats.org/officeDocument/2006/relationships/slide" Target="/ppt/slides/slide2.xml" Id="R7907889a86c74b60" /><Relationship Type="http://schemas.openxmlformats.org/officeDocument/2006/relationships/slide" Target="/ppt/slides/slide3.xml" Id="Racf6a29b3af54f55" /><Relationship Type="http://schemas.openxmlformats.org/officeDocument/2006/relationships/slide" Target="/ppt/slides/slide4.xml" Id="Rfceb86f44c764379" /><Relationship Type="http://schemas.openxmlformats.org/officeDocument/2006/relationships/slide" Target="/ppt/slides/slide5.xml" Id="Ra5f5cae346d149aa" /><Relationship Type="http://schemas.openxmlformats.org/officeDocument/2006/relationships/slide" Target="/ppt/slides/slide6.xml" Id="R978cfaf6dba24c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c8f513c9d847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a70fde07354691" /><Relationship Type="http://schemas.openxmlformats.org/officeDocument/2006/relationships/notesMaster" Target="/ppt/notesMasters/notesMaster1.xml" Id="R2f0b7a7fd35043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f3b3b746094214" /><Relationship Type="http://schemas.openxmlformats.org/officeDocument/2006/relationships/notesMaster" Target="/ppt/notesMasters/notesMaster1.xml" Id="Rc23538be81a548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80cac319654a1a" /><Relationship Type="http://schemas.openxmlformats.org/officeDocument/2006/relationships/notesMaster" Target="/ppt/notesMasters/notesMaster1.xml" Id="R555a8e12bcc746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4ceacbe70c4e1d" /><Relationship Type="http://schemas.openxmlformats.org/officeDocument/2006/relationships/notesMaster" Target="/ppt/notesMasters/notesMaster1.xml" Id="Re0d0996051ad41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0863e5f6c44ca8" /><Relationship Type="http://schemas.openxmlformats.org/officeDocument/2006/relationships/notesMaster" Target="/ppt/notesMasters/notesMaster1.xml" Id="Re42fdc2f6bc44b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cc22ccce3044f9" /><Relationship Type="http://schemas.openxmlformats.org/officeDocument/2006/relationships/notesMaster" Target="/ppt/notesMasters/notesMaster1.xml" Id="R43cde845422040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Orca Labs, TOKEN2049 Origins 2026. Product renamed OY Orders. The MVP buys deterministic Solana and Cardano wallet reports; it does not implement an LLM or general truth verification. Public app: https://oy-orders.vercel.app. Recorded proof and the live challenge are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use case: operations teams buying wallet transaction reports. Independent verification is limited to recorded blockchain facts, paid service terms and escrow. This is a controlled adversarial demo, not an allegation about a third-party supplier. Real example from the public challenge: a signed Solana transaction fee claim of 30,000,001 lamports disagrees with the independently read 30,000.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Play the embedded narrated edited screenshot tour. Authentic app screenshots show a new signed claim audit, valid signature with false facts, a fresh corrected-claim check, actual settled testnet proof, and the confirmed reward refund from the same rejected order. The audit itself never changes an order or moves money. It uses a separate challenge signer and official CRE CLI simulation. Video uses synthetic narration and edited still holds, not a continuous execution recording. Native PowerPoint/Keynote movie playback and the organizer’s acceptance of PPTX remain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track rules: https://builderbase.com/track/solana-best-use-of-solana ; https://builderbase.com/track/cardano-agentic-commerce ; https://builderbase.com/track/chainlink-best-workflow-with-cre ; https://builderbase.com/track/nownodes-multichain-infrastructure-challenge . x402 alone is an eligible Cardano route; Sokosumi listing approval is optional for that route. Successful CRE simulation qualifies; production deployment is optional. Role evidence and exact hashes: docs/evidence/STATUS.md.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47 meaningful tests pass across native Solana program LiteSVM, core verification, spend guards, payment reuse, recovery and full CRE return-value parsing. Live challenge: fresh official CRE simulations catch a thousand-fold Solana lie and a one-unit Cardano lie while signatures pass. Production frontend/API runs on Vercel with a persistent Sandbox and Drive. Cold starts and Hobby free quotas apply. The trusted relayer and shared operator-controlled seller remain prototype assumptions. No DON deployment, production SLA, customer traction or general truth oracle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model is a hypothesis: a verification fee per task or a team subscription. Initial customer target: blockchain operations teams buying repeatable wallet activity reports. No interviews, revenue, partnerships or traction are claimed. Next validation: ask three operators about actual reporting errors, spending approvals and audit cost, then narrow to a recurring paid job. Judging gates remain GitHub sign-in/publication, Drive judge access, partner check-in status and exact stage-format/movie playback. Submission deadline Oct 7 2026 23:59 Singapore / 17:59 Berlin. The user will submit with us; no submission has been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2690b1d79649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77d106b3704ab1" /><Relationship Type="http://schemas.openxmlformats.org/officeDocument/2006/relationships/slideLayout" Target="/ppt/slideLayouts/slideLayout1.xml" Id="Rf1e31ed8ac5040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e31ed8ac5040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32416cc3f4325" /><Relationship Type="http://schemas.openxmlformats.org/officeDocument/2006/relationships/notesSlide" Target="/ppt/notesSlides/notesSlide1.xml" Id="R84973ea72d4946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e75e20e3d4ab1" /><Relationship Type="http://schemas.openxmlformats.org/officeDocument/2006/relationships/notesSlide" Target="/ppt/notesSlides/notesSlide2.xml" Id="R69e4d432c508466e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d1718fb80bd4ea2" /><Relationship Type="http://schemas.openxmlformats.org/officeDocument/2006/relationships/image" Target="/ppt/media/image.jpeg" Id="R9b1bccfc414f458c" /><Relationship Type="http://schemas.openxmlformats.org/officeDocument/2006/relationships/notesSlide" Target="/ppt/notesSlides/notesSlide3.xml" Id="R98f426ea79224e51" /><Relationship Id="rOYVideo" Type="http://schemas.openxmlformats.org/officeDocument/2006/relationships/video" Target="../media/oy-demo.mp4" /><Relationship Id="rOYMedia" Type="http://schemas.microsoft.com/office/2007/relationships/media" Target="../media/oy-demo.mp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cb6740ab245b0" /><Relationship Type="http://schemas.openxmlformats.org/officeDocument/2006/relationships/notesSlide" Target="/ppt/notesSlides/notesSlide4.xml" Id="R142bfc97155e42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0f7e68cd94bc0" /><Relationship Type="http://schemas.openxmlformats.org/officeDocument/2006/relationships/notesSlide" Target="/ppt/notesSlides/notesSlide5.xml" Id="R9bfcbd017d4849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f119bcd5b4f38" /><Relationship Type="http://schemas.openxmlformats.org/officeDocument/2006/relationships/notesSlide" Target="/ppt/notesSlides/notesSlide6.xml" Id="R466350276c074f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C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10076-AF77-472B-992A-61EA315B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OY Orders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B2127-9385-424A-9D93-0E9ADE4C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668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signed answer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 still be wrong.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BDCA1-1015-4A53-83A6-36CB5DB6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A8B9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A8B9FF"/>
                </a:solidFill>
                <a:latin typeface="Arial"/>
                <a:ea typeface="Arial"/>
                <a:cs typeface="Arial"/>
              </a:rPr>
              <a:t>Proof before payday.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37279-2665-4FBD-AA58-E0163EA9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4DEF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4DEF2"/>
                </a:solidFill>
                <a:latin typeface="Arial"/>
                <a:ea typeface="Arial"/>
                <a:cs typeface="Arial"/>
              </a:rPr>
              <a:t>Orca Labs  ·  TOKEN2049 Origins 2026</a:t>
            </a:r>
          </a:p>
        </p:txBody>
      </p:sp>
    </p:spTree>
    <p:extLst>
      <p:ext uri="{BB962C8B-B14F-4D97-AF65-F5344CB8AC3E}">
        <p14:creationId xmlns:p14="http://schemas.microsoft.com/office/powerpoint/2010/main" val="491131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85F75-0351-44E7-811A-02A49DFF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1C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1C30"/>
                </a:solidFill>
                <a:latin typeface="Arial"/>
                <a:ea typeface="Arial"/>
                <a:cs typeface="Arial"/>
              </a:rPr>
              <a:t>Who checks the answer before payday?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B7CBB-1C45-4A4B-82BB-34728433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3DD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DD8"/>
                </a:solidFill>
                <a:latin typeface="Arial"/>
                <a:ea typeface="Arial"/>
                <a:cs typeface="Arial"/>
              </a:rPr>
              <a:t>THE SIGNATURE PASSES. THE FACT DOES NOT.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D732B-CFFE-4522-BDB5-60364DCE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191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121C30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121C30"/>
                </a:solidFill>
                <a:latin typeface="Arial"/>
                <a:ea typeface="Arial"/>
                <a:cs typeface="Arial"/>
              </a:rPr>
              <a:t>30,000,001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349AA-71D8-44A1-B919-780CE4F1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57450"/>
            <a:ext cx="857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5C677B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5C677B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60F19-39D8-4557-B282-E1E14118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57450"/>
            <a:ext cx="4667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203DD8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203DD8"/>
                </a:solidFill>
                <a:latin typeface="Arial"/>
                <a:ea typeface="Arial"/>
                <a:cs typeface="Arial"/>
              </a:rPr>
              <a:t>30,000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86FD5-9347-4BEB-B4F9-A0D79504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7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C677B"/>
                </a:solidFill>
                <a:latin typeface="Arial"/>
                <a:ea typeface="Arial"/>
                <a:cs typeface="Arial"/>
              </a:rPr>
              <a:t>What the claim says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67E88-1FA4-48B9-8495-482C9F70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8142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7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C677B"/>
                </a:solidFill>
                <a:latin typeface="Arial"/>
                <a:ea typeface="Arial"/>
                <a:cs typeface="Arial"/>
              </a:rPr>
              <a:t>What the records show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B5820-2BD3-431A-9876-6D8669F1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76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1C3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1C30"/>
                </a:solidFill>
                <a:latin typeface="Arial"/>
                <a:ea typeface="Arial"/>
                <a:cs typeface="Arial"/>
              </a:rPr>
              <a:t>Pay for checked work.</a:t>
            </a:r>
          </a:p>
          <a:p xmlns:a="http://schemas.openxmlformats.org/drawingml/2006/main">
            <a:pPr>
              <a:defRPr sz="2850" b="1">
                <a:solidFill>
                  <a:srgbClr val="121C3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1C30"/>
                </a:solidFill>
                <a:latin typeface="Arial"/>
                <a:ea typeface="Arial"/>
                <a:cs typeface="Arial"/>
              </a:rPr>
              <a:t>Protect the task reward when the facts fail.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420A5-F7D8-40BE-9131-9E110C42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67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77B"/>
                </a:solidFill>
                <a:latin typeface="Arial"/>
                <a:ea typeface="Arial"/>
                <a:cs typeface="Arial"/>
              </a:rPr>
              <a:t>A bounded reporting task · actual testnet payment and refund evidence</a:t>
            </a:r>
          </a:p>
        </p:txBody>
      </p:sp>
    </p:spTree>
    <p:extLst>
      <p:ext uri="{BB962C8B-B14F-4D97-AF65-F5344CB8AC3E}">
        <p14:creationId xmlns:p14="http://schemas.microsoft.com/office/powerpoint/2010/main" val="1514273094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D187097A-2FD6-455F-B83F-09ED82D1116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21C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1C30"/>
                </a:solidFill>
                <a:latin typeface="Arial"/>
                <a:ea typeface="Arial"/>
                <a:cs typeface="Arial"/>
              </a:rPr>
              <a:t>Try to fool it. Then correct it.</a:t>
            </a:r>
          </a:p>
        </p:txBody>
      </p:sp>
      <p:sp>
        <p:nvSpPr>
          <p:cNvPr id="2" name="">
            <a:extLst>
              <a:ext uri="{FF2B5EF4-FFF2-40B4-BE49-F238E27FC236}">
                <ns2:creationId id="{3BBC418A-4052-447E-92AE-7D8DFA72B69C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03DD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DD8"/>
                </a:solidFill>
                <a:latin typeface="Arial"/>
                <a:ea typeface="Arial"/>
                <a:cs typeface="Arial"/>
              </a:rPr>
              <a:t>Live claim audit + recorded money protection</a:t>
            </a:r>
          </a:p>
        </p:txBody>
      </p:sp>
      <p:pic>
        <p:nvPicPr>
          <p:cNvPr id="10" name="OY Orders testnet proof tour">
            <a:hlinkClick action="ppaction://media"/>
          </p:cNvPr>
          <p:cNvPicPr>
            <a:picLocks noChangeAspect="1"/>
          </p:cNvPicPr>
          <p:nvPr>
            <a:videoFile r:link="rOYVideo"/>
            <p:extLst>
              <p:ext uri="{DAA4B4D4-6D71-4841-9C94-3DE7FCFB9230}">
                <p14:media r:embed="rOYMedia"/>
              </p:ext>
            </p:extLst>
          </p:nvPr>
        </p:nvPicPr>
        <p:blipFill>
          <a:blip r:embed="R9b1bccfc414f458c"/>
          <a:stretch/>
        </p:blipFill>
        <p:spPr>
          <a:xfrm>
            <a:off x="610658" y="1924050"/>
            <a:ext cx="8094133" cy="4552950"/>
          </a:xfrm>
          <a:prstGeom prst="rect">
            <a:avLst/>
          </a:prstGeom>
        </p:spPr>
      </p:pic>
      <p:sp>
        <p:nvSpPr>
          <p:cNvPr id="4" name="">
            <a:extLst>
              <a:ext uri="{FF2B5EF4-FFF2-40B4-BE49-F238E27FC236}">
                <ns2:creationId id="{557C066B-5042-4916-A062-B446FE8E9244}"/>
              </a:ext>
            </a:extLst>
          </p:cNvPr>
          <p:cNvSpPr>
            <a:spLocks noGrp="1"/>
          </p:cNvSpPr>
          <p:nvPr/>
        </p:nvSpPr>
        <p:spPr>
          <a:xfrm>
            <a:off x="9048750" y="2133600"/>
            <a:ext cx="2476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21C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C30"/>
                </a:solidFill>
                <a:latin typeface="Arial"/>
                <a:ea typeface="Arial"/>
                <a:cs typeface="Arial"/>
              </a:rPr>
              <a:t>Change a claim</a:t>
            </a:r>
          </a:p>
        </p:txBody>
      </p:sp>
      <p:sp>
        <p:nvSpPr>
          <p:cNvPr id="5" name="">
            <a:extLst>
              <a:ext uri="{FF2B5EF4-FFF2-40B4-BE49-F238E27FC236}">
                <ns2:creationId id="{234167E2-AD38-48DE-B1E5-FBE1E1B5D91A}"/>
              </a:ext>
            </a:extLst>
          </p:cNvPr>
          <p:cNvSpPr>
            <a:spLocks noGrp="1"/>
          </p:cNvSpPr>
          <p:nvPr/>
        </p:nvSpPr>
        <p:spPr>
          <a:xfrm>
            <a:off x="9048750" y="2809875"/>
            <a:ext cx="2476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C67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C677B"/>
                </a:solidFill>
                <a:latin typeface="Arial"/>
                <a:ea typeface="Arial"/>
                <a:cs typeface="Arial"/>
              </a:rPr>
              <a:t>Try Solana or Cardano.</a:t>
            </a:r>
          </a:p>
          <a:p>
            <a:pPr>
              <a:defRPr sz="1875" b="0">
                <a:solidFill>
                  <a:srgbClr val="5C67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C677B"/>
                </a:solidFill>
                <a:latin typeface="Arial"/>
                <a:ea typeface="Arial"/>
                <a:cs typeface="Arial"/>
              </a:rPr>
              <a:t>No wallet or charge.</a:t>
            </a:r>
          </a:p>
        </p:txBody>
      </p:sp>
      <p:sp>
        <p:nvSpPr>
          <p:cNvPr id="6" name="">
            <a:extLst>
              <a:ext uri="{FF2B5EF4-FFF2-40B4-BE49-F238E27FC236}">
                <ns2:creationId id="{CE7458F2-288E-4316-9382-A0C7AFD862DF}"/>
              </a:ext>
            </a:extLst>
          </p:cNvPr>
          <p:cNvSpPr>
            <a:spLocks noGrp="1"/>
          </p:cNvSpPr>
          <p:nvPr/>
        </p:nvSpPr>
        <p:spPr>
          <a:xfrm>
            <a:off x="9048750" y="4010025"/>
            <a:ext cx="2476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21C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C30"/>
                </a:solidFill>
                <a:latin typeface="Arial"/>
                <a:ea typeface="Arial"/>
                <a:cs typeface="Arial"/>
              </a:rPr>
              <a:t>See the difference</a:t>
            </a:r>
          </a:p>
        </p:txBody>
      </p:sp>
      <p:sp>
        <p:nvSpPr>
          <p:cNvPr id="7" name="">
            <a:extLst>
              <a:ext uri="{FF2B5EF4-FFF2-40B4-BE49-F238E27FC236}">
                <ns2:creationId id="{C98C5820-0E94-4898-9A73-53A93DEA7484}"/>
              </a:ext>
            </a:extLst>
          </p:cNvPr>
          <p:cNvSpPr>
            <a:spLocks noGrp="1"/>
          </p:cNvSpPr>
          <p:nvPr/>
        </p:nvSpPr>
        <p:spPr>
          <a:xfrm>
            <a:off x="9048750" y="4876800"/>
            <a:ext cx="24765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C67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C677B"/>
                </a:solidFill>
                <a:latin typeface="Arial"/>
                <a:ea typeface="Arial"/>
                <a:cs typeface="Arial"/>
              </a:rPr>
              <a:t>Fresh CRE checks.</a:t>
            </a:r>
          </a:p>
          <a:p>
            <a:pPr>
              <a:defRPr sz="1875" b="0">
                <a:solidFill>
                  <a:srgbClr val="5C67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C677B"/>
                </a:solidFill>
                <a:latin typeface="Arial"/>
                <a:ea typeface="Arial"/>
                <a:cs typeface="Arial"/>
              </a:rPr>
              <a:t>Actual source values.</a:t>
            </a:r>
          </a:p>
        </p:txBody>
      </p:sp>
    </p:spTree>
    <p:extLst>
      <p:ext uri="{BB962C8B-B14F-4D97-AF65-F5344CB8AC3E}">
        <p14:creationId val="954770175"/>
      </p:ext>
    </p:extLst>
  </p:cSld>
  <p:timing>
    <p:tnLst>
      <p:par>
        <p:cTn id="1" dur="indefinite" restart="never" nodeType="tmRoot">
          <p:childTnLst>
            <p:video fullScrn="1"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C0978-8571-4D43-BE35-B209ECD3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1C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1C30"/>
                </a:solidFill>
                <a:latin typeface="Arial"/>
                <a:ea typeface="Arial"/>
                <a:cs typeface="Arial"/>
              </a:rPr>
              <a:t>Four sponsors. One necessary flow.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4D29A-DE43-4425-B6DD-8992A3BE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3DD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DD8"/>
                </a:solidFill>
                <a:latin typeface="Arial"/>
                <a:ea typeface="Arial"/>
                <a:cs typeface="Arial"/>
              </a:rPr>
              <a:t>Solana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C47AE-A396-4497-A974-1996E89C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7762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C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C30"/>
                </a:solidFill>
                <a:latin typeface="Arial"/>
                <a:ea typeface="Arial"/>
                <a:cs typeface="Arial"/>
              </a:rPr>
              <a:t>Lock the task reward. Pay checked work. Refund after expiry.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BA6C5-0CEB-48ED-A26C-6D9AB29E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3DD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DD8"/>
                </a:solidFill>
                <a:latin typeface="Arial"/>
                <a:ea typeface="Arial"/>
                <a:cs typeface="Arial"/>
              </a:rPr>
              <a:t>Cardano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904A2-B146-4A5C-8297-CF4F0D8A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43200"/>
            <a:ext cx="7762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C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C30"/>
                </a:solidFill>
                <a:latin typeface="Arial"/>
                <a:ea typeface="Arial"/>
                <a:cs typeface="Arial"/>
              </a:rPr>
              <a:t>The agent buys the reporting resource through x402.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216A0-DB2A-4BBD-BE8F-64D289BE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3DD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DD8"/>
                </a:solidFill>
                <a:latin typeface="Arial"/>
                <a:ea typeface="Arial"/>
                <a:cs typeface="Arial"/>
              </a:rPr>
              <a:t>NOWNodes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3C939-71A0-4421-BFC9-71A2AD63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76650"/>
            <a:ext cx="7762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C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C30"/>
                </a:solidFill>
                <a:latin typeface="Arial"/>
                <a:ea typeface="Arial"/>
                <a:cs typeface="Arial"/>
              </a:rPr>
              <a:t>Supply real facts from both chains; read them again to check.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A278D-D1F8-4BAE-BF78-150EAF35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3DD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DD8"/>
                </a:solidFill>
                <a:latin typeface="Arial"/>
                <a:ea typeface="Arial"/>
                <a:cs typeface="Arial"/>
              </a:rPr>
              <a:t>Chainlink CRE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060C0-961B-43DC-B3E3-507858AF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0100"/>
            <a:ext cx="7762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1C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C30"/>
                </a:solidFill>
                <a:latin typeface="Arial"/>
                <a:ea typeface="Arial"/>
                <a:cs typeface="Arial"/>
              </a:rPr>
              <a:t>Independently verify the purchase, signature and facts.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243B4-0C43-4091-BA75-FF6AC0B7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7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C677B"/>
                </a:solidFill>
                <a:latin typeface="Arial"/>
                <a:ea typeface="Arial"/>
                <a:cs typeface="Arial"/>
              </a:rPr>
              <a:t>Separate test-asset payments · Solana Devnet + Cardano preprod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613D1-1EF8-486F-8B3E-2E4359F1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C67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77B"/>
                </a:solidFill>
                <a:latin typeface="Arial"/>
                <a:ea typeface="Arial"/>
                <a:cs typeface="Arial"/>
              </a:rPr>
              <a:t>Cardano supplier purchase is final. Only the task reward is refundable.</a:t>
            </a:r>
          </a:p>
        </p:txBody>
      </p:sp>
    </p:spTree>
    <p:extLst>
      <p:ext uri="{BB962C8B-B14F-4D97-AF65-F5344CB8AC3E}">
        <p14:creationId xmlns:p14="http://schemas.microsoft.com/office/powerpoint/2010/main" val="11361029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A8107-AC6D-4C53-8838-BC7909AB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1C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1C30"/>
                </a:solidFill>
                <a:latin typeface="Arial"/>
                <a:ea typeface="Arial"/>
                <a:cs typeface="Arial"/>
              </a:rPr>
              <a:t>Real execution. Inspectable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32DC3-6EE1-41A9-AA72-A5DC31F3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42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700" b="1">
                <a:solidFill>
                  <a:srgbClr val="203DD8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203DD8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F33CC-03B0-4A42-BDDA-238E327D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1C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1C30"/>
                </a:solidFill>
                <a:latin typeface="Arial"/>
                <a:ea typeface="Arial"/>
                <a:cs typeface="Arial"/>
              </a:rPr>
              <a:t>passing tests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9A8EA-8FAF-4135-82DE-D1355F2C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4429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C677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C677B"/>
                </a:solidFill>
                <a:latin typeface="Arial"/>
                <a:ea typeface="Arial"/>
                <a:cs typeface="Arial"/>
              </a:rPr>
              <a:t>Escrow VM + independent source checks</a:t>
            </a:r>
          </a:p>
          <a:p xmlns:a="http://schemas.openxmlformats.org/drawingml/2006/main">
            <a:pPr>
              <a:defRPr sz="2025" b="0">
                <a:solidFill>
                  <a:srgbClr val="5C677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C677B"/>
                </a:solidFill>
                <a:latin typeface="Arial"/>
                <a:ea typeface="Arial"/>
                <a:cs typeface="Arial"/>
              </a:rPr>
              <a:t>Budget and transaction reuse guards</a:t>
            </a:r>
          </a:p>
          <a:p xmlns:a="http://schemas.openxmlformats.org/drawingml/2006/main">
            <a:pPr>
              <a:defRPr sz="2025" b="0">
                <a:solidFill>
                  <a:srgbClr val="5C677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C677B"/>
                </a:solidFill>
                <a:latin typeface="Arial"/>
                <a:ea typeface="Arial"/>
                <a:cs typeface="Arial"/>
              </a:rPr>
              <a:t>Fresh signed-claim audit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6B99B-420B-42EA-988F-E6DC67F6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47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1C3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1C30"/>
                </a:solidFill>
                <a:latin typeface="Arial"/>
                <a:ea typeface="Arial"/>
                <a:cs typeface="Arial"/>
              </a:rPr>
              <a:t>Actual payments + protected reward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78BEB-6B64-4B54-B52B-4DD68963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90825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C677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C677B"/>
                </a:solidFill>
                <a:latin typeface="Arial"/>
                <a:ea typeface="Arial"/>
                <a:cs typeface="Arial"/>
              </a:rPr>
              <a:t>Recorded Cardano x402 purchases</a:t>
            </a:r>
          </a:p>
          <a:p xmlns:a="http://schemas.openxmlformats.org/drawingml/2006/main">
            <a:pPr>
              <a:defRPr sz="2025" b="0">
                <a:solidFill>
                  <a:srgbClr val="5C677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C677B"/>
                </a:solidFill>
                <a:latin typeface="Arial"/>
                <a:ea typeface="Arial"/>
                <a:cs typeface="Arial"/>
              </a:rPr>
              <a:t>Solana settlements and confirmed refund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B8140-98FF-4FB3-B91A-9AA176E0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1957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3D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3DD8"/>
                </a:solidFill>
                <a:latin typeface="Arial"/>
                <a:ea typeface="Arial"/>
                <a:cs typeface="Arial"/>
              </a:rPr>
              <a:t>Cloud demo + live challenge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25297-623D-473B-A27A-6442DF77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38725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C677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C677B"/>
                </a:solidFill>
                <a:latin typeface="Arial"/>
                <a:ea typeface="Arial"/>
                <a:cs typeface="Arial"/>
              </a:rPr>
              <a:t>Vercel backend and persistent state</a:t>
            </a:r>
          </a:p>
          <a:p xmlns:a="http://schemas.openxmlformats.org/drawingml/2006/main">
            <a:pPr>
              <a:defRPr sz="2025" b="0">
                <a:solidFill>
                  <a:srgbClr val="5C677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C677B"/>
                </a:solidFill>
                <a:latin typeface="Arial"/>
                <a:ea typeface="Arial"/>
                <a:cs typeface="Arial"/>
              </a:rPr>
              <a:t>Fresh reads. Downloadable proof.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26327-58C4-48F3-93B3-A80C4AD8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67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77B"/>
                </a:solidFill>
                <a:latin typeface="Arial"/>
                <a:ea typeface="Arial"/>
                <a:cs typeface="Arial"/>
              </a:rPr>
              <a:t>Test assets · official CRE simulation · trusted relayer · free-quota limits</a:t>
            </a:r>
          </a:p>
        </p:txBody>
      </p:sp>
    </p:spTree>
    <p:extLst>
      <p:ext uri="{BB962C8B-B14F-4D97-AF65-F5344CB8AC3E}">
        <p14:creationId xmlns:p14="http://schemas.microsoft.com/office/powerpoint/2010/main" val="12058494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BBA5D-AFFD-44BB-AA1D-561F5D69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1C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1C30"/>
                </a:solidFill>
                <a:latin typeface="Arial"/>
                <a:ea typeface="Arial"/>
                <a:cs typeface="Arial"/>
              </a:rPr>
              <a:t>Make agents earn trust before money.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7605A-7AB1-48D1-A840-A2E6E987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DD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DD8"/>
                </a:solidFill>
                <a:latin typeface="Arial"/>
                <a:ea typeface="Arial"/>
                <a:cs typeface="Arial"/>
              </a:rPr>
              <a:t>First users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3D07D-345C-4390-A542-EEC4A73C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43075"/>
            <a:ext cx="7524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21C3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21C30"/>
                </a:solidFill>
                <a:latin typeface="Arial"/>
                <a:ea typeface="Arial"/>
                <a:cs typeface="Arial"/>
              </a:rPr>
              <a:t>Blockchain operations teams buying</a:t>
            </a:r>
          </a:p>
          <a:p xmlns:a="http://schemas.openxmlformats.org/drawingml/2006/main">
            <a:pPr>
              <a:defRPr sz="2775" b="1">
                <a:solidFill>
                  <a:srgbClr val="121C3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21C30"/>
                </a:solidFill>
                <a:latin typeface="Arial"/>
                <a:ea typeface="Arial"/>
                <a:cs typeface="Arial"/>
              </a:rPr>
              <a:t>repeatable transaction reports.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8C77D-D470-4C20-8ABC-80D1EF63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1C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C30"/>
                </a:solidFill>
                <a:latin typeface="Arial"/>
                <a:ea typeface="Arial"/>
                <a:cs typeface="Arial"/>
              </a:rPr>
              <a:t>Business hypothesis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3C96B-D34B-4AD1-860D-67104ED5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33800"/>
            <a:ext cx="752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C677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C677B"/>
                </a:solidFill>
                <a:latin typeface="Arial"/>
                <a:ea typeface="Arial"/>
                <a:cs typeface="Arial"/>
              </a:rPr>
              <a:t>Verification fee per task, or a team subscription.</a:t>
            </a:r>
          </a:p>
          <a:p xmlns:a="http://schemas.openxmlformats.org/drawingml/2006/main">
            <a:pPr>
              <a:defRPr sz="2100" b="0">
                <a:solidFill>
                  <a:srgbClr val="5C677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C677B"/>
                </a:solidFill>
                <a:latin typeface="Arial"/>
                <a:ea typeface="Arial"/>
                <a:cs typeface="Arial"/>
              </a:rPr>
              <a:t>Validate reporting errors, budgets and audit cost.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C1CEE-0A1D-4AA3-A3FD-7C7F6517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DD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DD8"/>
                </a:solidFill>
                <a:latin typeface="Arial"/>
                <a:ea typeface="Arial"/>
                <a:cs typeface="Arial"/>
              </a:rPr>
              <a:t>Try the challenge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5AA4C-59B9-4245-BAB7-0924E418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57800"/>
            <a:ext cx="7524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1C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C30"/>
                </a:solidFill>
                <a:latin typeface="Arial"/>
                <a:ea typeface="Arial"/>
                <a:cs typeface="Arial"/>
              </a:rPr>
              <a:t>oy-orders.vercel.app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965ED-71BD-481D-9EE5-1CEE34F1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C67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77B"/>
                </a:solidFill>
                <a:latin typeface="Arial"/>
                <a:ea typeface="Arial"/>
                <a:cs typeface="Arial"/>
              </a:rPr>
              <a:t>Orca Labs  ·  TOKEN2049 Origins 2026</a:t>
            </a:r>
          </a:p>
        </p:txBody>
      </p:sp>
    </p:spTree>
    <p:extLst>
      <p:ext uri="{BB962C8B-B14F-4D97-AF65-F5344CB8AC3E}">
        <p14:creationId xmlns:p14="http://schemas.microsoft.com/office/powerpoint/2010/main" val="1812514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2026-10-07T06:28:55.7490000Z</dcterms:created>
  <dcterms:modified xsi:type="dcterms:W3CDTF">2026-10-07T06:28:55.7490000Z</dcterms:modified>
</coreProperties>
</file>