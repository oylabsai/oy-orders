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f0329125fd784f3b" /><Relationship Type="http://schemas.openxmlformats.org/officeDocument/2006/relationships/extended-properties" Target="/docProps/app.xml" Id="R0294c7a6b20b49e5" /><Relationship Type="http://schemas.openxmlformats.org/officeDocument/2006/relationships/officeDocument" Target="/ppt/presentation.xml" Id="R86892b58a39b4512" /></Relationships>
</file>

<file path=ppt/presentation.xml><?xml version="1.0" encoding="utf-8"?>
<p:presentation xmlns:p="http://schemas.openxmlformats.org/presentationml/2006/main">
  <p:sldMasterIdLst>
    <p:sldMasterId xmlns:r="http://schemas.openxmlformats.org/officeDocument/2006/relationships" id="2147483648" r:id="R1e730f4a3eb64fab"/>
  </p:sldMasterIdLst>
  <p:notesMasterIdLst>
    <p:notesMasterId xmlns:r="http://schemas.openxmlformats.org/officeDocument/2006/relationships" r:id="R9b87cf23334648a0"/>
  </p:notesMasterIdLst>
  <p:sldIdLst>
    <p:sldId xmlns:r="http://schemas.openxmlformats.org/officeDocument/2006/relationships" id="256" r:id="Rabb268eeede84bd1"/>
    <p:sldId xmlns:r="http://schemas.openxmlformats.org/officeDocument/2006/relationships" id="257" r:id="Rfd8b1a6103014812"/>
    <p:sldId xmlns:r="http://schemas.openxmlformats.org/officeDocument/2006/relationships" id="258" r:id="R81b1737db9b14ff8"/>
    <p:sldId xmlns:r="http://schemas.openxmlformats.org/officeDocument/2006/relationships" id="259" r:id="Ra79bf3624fa74fee"/>
    <p:sldId xmlns:r="http://schemas.openxmlformats.org/officeDocument/2006/relationships" id="260" r:id="R06c4e670f8df4fae"/>
    <p:sldId xmlns:r="http://schemas.openxmlformats.org/officeDocument/2006/relationships" id="261" r:id="R4e28b31288c546e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e8ec3e3e6240ba" /><Relationship Type="http://schemas.openxmlformats.org/officeDocument/2006/relationships/slideMaster" Target="/ppt/slideMasters/slideMaster1.xml" Id="R1e730f4a3eb64fab" /><Relationship Type="http://schemas.openxmlformats.org/officeDocument/2006/relationships/notesMaster" Target="/ppt/notesMasters/notesMaster1.xml" Id="R9b87cf23334648a0" /><Relationship Type="http://schemas.openxmlformats.org/officeDocument/2006/relationships/presProps" Target="/ppt/presProps.xml" Id="Rc934faf57c4a429a" /><Relationship Type="http://schemas.openxmlformats.org/officeDocument/2006/relationships/tableStyles" Target="/ppt/tableStyles.xml" Id="Rbaf9023cdc154db6" /><Relationship Type="http://schemas.openxmlformats.org/officeDocument/2006/relationships/slide" Target="/ppt/slides/slide1.xml" Id="Rabb268eeede84bd1" /><Relationship Type="http://schemas.openxmlformats.org/officeDocument/2006/relationships/slide" Target="/ppt/slides/slide2.xml" Id="Rfd8b1a6103014812" /><Relationship Type="http://schemas.openxmlformats.org/officeDocument/2006/relationships/slide" Target="/ppt/slides/slide3.xml" Id="R81b1737db9b14ff8" /><Relationship Type="http://schemas.openxmlformats.org/officeDocument/2006/relationships/slide" Target="/ppt/slides/slide4.xml" Id="Ra79bf3624fa74fee" /><Relationship Type="http://schemas.openxmlformats.org/officeDocument/2006/relationships/slide" Target="/ppt/slides/slide5.xml" Id="R06c4e670f8df4fae" /><Relationship Type="http://schemas.openxmlformats.org/officeDocument/2006/relationships/slide" Target="/ppt/slides/slide6.xml" Id="R4e28b31288c546e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a10f2be5554f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208fcbc65e0411e" /><Relationship Type="http://schemas.openxmlformats.org/officeDocument/2006/relationships/notesMaster" Target="/ppt/notesMasters/notesMaster1.xml" Id="Rd51dcc782ca140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1ba8b9c3f4450f" /><Relationship Type="http://schemas.openxmlformats.org/officeDocument/2006/relationships/notesMaster" Target="/ppt/notesMasters/notesMaster1.xml" Id="R617e444bfe054e9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e238b0c52a641d1" /><Relationship Type="http://schemas.openxmlformats.org/officeDocument/2006/relationships/notesMaster" Target="/ppt/notesMasters/notesMaster1.xml" Id="Rd51733b0b415493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8d2f15906ae4a4b" /><Relationship Type="http://schemas.openxmlformats.org/officeDocument/2006/relationships/notesMaster" Target="/ppt/notesMasters/notesMaster1.xml" Id="R7f8f519b103c4f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49a3b2e64047dd" /><Relationship Type="http://schemas.openxmlformats.org/officeDocument/2006/relationships/notesMaster" Target="/ppt/notesMasters/notesMaster1.xml" Id="R886f68331d7641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c6c5b174276945e4" /><Relationship Type="http://schemas.openxmlformats.org/officeDocument/2006/relationships/notesMaster" Target="/ppt/notesMasters/notesMaster1.xml" Id="R8cc911a14f1242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TOKEN2049 Origins 2026. Main dashboard team OY Labs; partner dashboard team Orca Labs with the same four members. Retail is a demo voucher using operator-funded test coins and cannot buy real coffee or admission. The actual checkout used separate Solana Devnet and Cardano preprod funds. The agent is deterministic. No customer traction or awards are claimed. Evidence: docs/evidence/retail-pass.json and https://oy-orders.vercel.app/api/orders/29ab7330-93fa-4aef-b74e-02bca9495b3a/evidence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pass is a bearer ticket. Its commitment is fixed in the funded input and merchant-signed delivery. The QR is issued only after actual payment verification and settlement. The first cashier request accepts one use. Subsequent requests refuse it. Pass use is an atomic SQLite write with persistence, not on-chain redemption or an NFT. The photograph-style ticket art is a native SVG visual rendered in the actual 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Play the embedded edited authentic screen tour. It contains genuine UI result captures and a live duplicate-check screen recording, with synthetic narration. It does not claim a continuous recording of the full purchase. Actual retail order: 29ab7330-93fa-4aef-b74e-02bca9495b3a. The free signed-lie challenge is separate and does not move money. The recorded rejected-task refund is from a different paid reporting order and is labeled separately. Native movie playback must be checked before the stage pitch.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Sponsor logos are original bundled vector assets identifying actual technology use, without endorsement. Source: apps/web/src/assets/README.md; Chainlink brand assets https://chain.link/brand-assets and NOWNodes https://nownodes.io. Rules reread 7 October: https://builderbase.com/track/solana-best-use-of-solana ; https://builderbase.com/track/cardano-agentic-commerce ; https://builderbase.com/track/chainlink-best-workflow-with-cre ; https://builderbase.com/track/nownodes-multichain-infrastructure-challenge . Solana program 2rdpj8fQHaZ7BbyaRFvZfHagJfT4QAWPrCUsC8LKobkj on Devnet. Cardano uses exact x402 on preprod. CRE is official CLI simulation plus a trusted relayer. The Cardano supplier payment is final. There is no bridge or currency swap.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57 tests passed on 7 October. They include compiled Solana program execution in LiteSVM, receipt/input/payment binding, wrong-chain rejection, spending and transaction reuse guards, exact official CRE output parsing, pass credential isolation, two-cashier contention and persistent one-use records. Eight paid testnet orders are documented: seven settled, one rejected and refunded. Latest retail order passed ten official CRE checks and survived a controlled idle cloud session stop/resume in 8.525 seconds with used state and token commitment preserved. Sources: docs/evidence/STATUS.md, retail-pass.json, retail-persistence.json. VM/fixture tests are distinguished from actual public-network executions. Prototype assumptions: trusted relayer, common operator and supplier process, serial worker, Hobby cold starts/free quotas.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Initial commercial hypothesis: merchants selling digital vouchers, or agents buying digital benefits from suppliers. A per-checkout verification fee is a hypothesis. Validate one merchant pilot and customer wallet onboarding before real assets. No merchant integration, acceptance of the demo voucher, interview, revenue or traction is claimed. Pass redemption is server-side. Production needs DON-authorized settlement, independent seller operation, customer authorization, durable queues and appropriate support/refund policies. Public demo https://oy-orders.vercel.app/ . Submission deadline 7 October 2026 23:59 Singapore / 17:59 Berlin. No prize outcome is guaranteed.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e430b1e9f847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5fd756f2ca41b1" /><Relationship Type="http://schemas.openxmlformats.org/officeDocument/2006/relationships/slideLayout" Target="/ppt/slideLayouts/slideLayout1.xml" Id="R5e0b4745c040489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0b4745c040489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3aa28e1e32c4e55" /><Relationship Type="http://schemas.openxmlformats.org/officeDocument/2006/relationships/image" Target="/ppt/media/image.png" Id="R18d1efe25fda433c" /><Relationship Type="http://schemas.openxmlformats.org/officeDocument/2006/relationships/notesSlide" Target="/ppt/notesSlides/notesSlide1.xml" Id="R55e21d7e9dc84e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ac28d7be6aa43cd" /><Relationship Type="http://schemas.openxmlformats.org/officeDocument/2006/relationships/image" Target="/ppt/media/image.jpeg" Id="Re2f16904c5f64aec" /><Relationship Type="http://schemas.openxmlformats.org/officeDocument/2006/relationships/notesSlide" Target="/ppt/notesSlides/notesSlide2.xml" Id="R336a0476e64f4a27" /></Relationships>
</file>

<file path=ppt/slides/_rels/slide3.xml.rels><?xml version='1.0' encoding='utf-8'?>
<Relationships xmlns="http://schemas.openxmlformats.org/package/2006/relationships"><Relationship Type="http://schemas.openxmlformats.org/officeDocument/2006/relationships/slideLayout" Target="/ppt/slideLayouts/slideLayout1.xml" Id="R878d8277d1b3458a" /><Relationship Type="http://schemas.openxmlformats.org/officeDocument/2006/relationships/image" Target="/ppt/media/image2.png" Id="R79b89718f1b54dcd" /><Relationship Type="http://schemas.openxmlformats.org/officeDocument/2006/relationships/notesSlide" Target="/ppt/notesSlides/notesSlide3.xml" Id="R0b47b82bee7b490d" /><Relationship Id="rOYVideo" Type="http://schemas.openxmlformats.org/officeDocument/2006/relationships/video" Target="../media/oy-demo.mp4" /><Relationship Id="rOYMedia" Type="http://schemas.microsoft.com/office/2007/relationships/media" Target="../media/oy-demo.mp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4a05e7190a049bf" /><Relationship Type="http://schemas.openxmlformats.org/officeDocument/2006/relationships/image" Target="/ppt/media/image3.png" Id="R7f500f4384e24314" /><Relationship Type="http://schemas.openxmlformats.org/officeDocument/2006/relationships/image" Target="/ppt/media/image.svg" Id="R941bd0dd9a384fe3" /><Relationship Type="http://schemas.openxmlformats.org/officeDocument/2006/relationships/image" Target="/ppt/media/image4.png" Id="R053acededae44b48" /><Relationship Type="http://schemas.openxmlformats.org/officeDocument/2006/relationships/image" Target="/ppt/media/image2.svg" Id="R6fe0a05aac774452" /><Relationship Type="http://schemas.openxmlformats.org/officeDocument/2006/relationships/image" Target="/ppt/media/image5.png" Id="R4e77246d6d364e54" /><Relationship Type="http://schemas.openxmlformats.org/officeDocument/2006/relationships/image" Target="/ppt/media/image3.svg" Id="Rbd0455906ab04f2d" /><Relationship Type="http://schemas.openxmlformats.org/officeDocument/2006/relationships/image" Target="/ppt/media/image6.png" Id="Rcd45586f8add4f8a" /><Relationship Type="http://schemas.openxmlformats.org/officeDocument/2006/relationships/image" Target="/ppt/media/image4.svg" Id="R2798e0a4b9304502" /><Relationship Type="http://schemas.openxmlformats.org/officeDocument/2006/relationships/notesSlide" Target="/ppt/notesSlides/notesSlide4.xml" Id="Raa5cc81588a14d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70eb78d40f1481b" /><Relationship Type="http://schemas.openxmlformats.org/officeDocument/2006/relationships/notesSlide" Target="/ppt/notesSlides/notesSlide5.xml" Id="R14c9a8e4d6fc4cb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b9d4cb5c0bf4378" /><Relationship Type="http://schemas.openxmlformats.org/officeDocument/2006/relationships/notesSlide" Target="/ppt/notesSlides/notesSlide6.xml" Id="Rfa95a813fd50499b" /></Relationships>
</file>

<file path=ppt/slides/slide1.xml><?xml version="1.0" encoding="utf-8"?>
<p:sld xmlns:p="http://schemas.openxmlformats.org/presentationml/2006/main">
  <p:cSld>
    <p:bg>
      <p:bgPr>
        <a:solidFill xmlns:a="http://schemas.openxmlformats.org/drawingml/2006/main">
          <a:srgbClr val="173B2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61FE378-E05E-4BAB-B992-9A6371F0BE8E}"/>
              </a:ext>
            </a:extLst>
          </p:cNvPr>
          <p:cNvSpPr>
            <a:spLocks xmlns:a="http://schemas.openxmlformats.org/drawingml/2006/main" noGrp="1"/>
          </p:cNvSpPr>
          <p:nvPr/>
        </p:nvSpPr>
        <p:spPr>
          <a:xfrm xmlns:a="http://schemas.openxmlformats.org/drawingml/2006/main">
            <a:off x="609600" y="428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OY Orders</a:t>
            </a:r>
          </a:p>
        </p:txBody>
      </p:sp>
      <p:sp>
        <p:nvSpPr>
          <p:cNvPr id="2" name="">
            <a:extLst xmlns:a="http://schemas.openxmlformats.org/drawingml/2006/main">
              <a:ext uri="{FF2B5EF4-FFF2-40B4-BE49-F238E27FC236}">
                <a16:creationId xmlns:a16="http://schemas.microsoft.com/office/drawing/2014/main" id="{1F55A14C-47E5-40AE-BF41-294393670DEE}"/>
              </a:ext>
            </a:extLst>
          </p:cNvPr>
          <p:cNvSpPr>
            <a:spLocks xmlns:a="http://schemas.openxmlformats.org/drawingml/2006/main" noGrp="1"/>
          </p:cNvSpPr>
          <p:nvPr/>
        </p:nvSpPr>
        <p:spPr>
          <a:xfrm xmlns:a="http://schemas.openxmlformats.org/drawingml/2006/main">
            <a:off x="609600" y="1809750"/>
            <a:ext cx="72390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A coffee.</a:t>
            </a:r>
          </a:p>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Paid with crypto.</a:t>
            </a:r>
          </a:p>
        </p:txBody>
      </p:sp>
      <p:sp>
        <p:nvSpPr>
          <p:cNvPr id="3" name="">
            <a:extLst xmlns:a="http://schemas.openxmlformats.org/drawingml/2006/main">
              <a:ext uri="{FF2B5EF4-FFF2-40B4-BE49-F238E27FC236}">
                <a16:creationId xmlns:a16="http://schemas.microsoft.com/office/drawing/2014/main" id="{9F2F7847-7FDB-44B5-A6E6-46CAEB9DF745}"/>
              </a:ext>
            </a:extLst>
          </p:cNvPr>
          <p:cNvSpPr>
            <a:spLocks xmlns:a="http://schemas.openxmlformats.org/drawingml/2006/main" noGrp="1"/>
          </p:cNvSpPr>
          <p:nvPr/>
        </p:nvSpPr>
        <p:spPr>
          <a:xfrm xmlns:a="http://schemas.openxmlformats.org/drawingml/2006/main">
            <a:off x="609600" y="4381500"/>
            <a:ext cx="704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D4E9D6"/>
                </a:solidFill>
                <a:latin typeface="Arial"/>
                <a:ea typeface="Arial"/>
                <a:cs typeface="Arial"/>
              </a:defRPr>
            </a:pPr>
            <a:r>
              <a:rPr sz="2400" b="0">
                <a:solidFill>
                  <a:srgbClr val="D4E9D6"/>
                </a:solidFill>
                <a:latin typeface="Arial"/>
                <a:ea typeface="Arial"/>
                <a:cs typeface="Arial"/>
              </a:rPr>
              <a:t>An agent buys your digital pass.</a:t>
            </a:r>
          </a:p>
          <a:p xmlns:a="http://schemas.openxmlformats.org/drawingml/2006/main">
            <a:pPr>
              <a:defRPr sz="2400" b="0">
                <a:solidFill>
                  <a:srgbClr val="D4E9D6"/>
                </a:solidFill>
                <a:latin typeface="Arial"/>
                <a:ea typeface="Arial"/>
                <a:cs typeface="Arial"/>
              </a:defRPr>
            </a:pPr>
            <a:r>
              <a:rPr sz="2400" b="0">
                <a:solidFill>
                  <a:srgbClr val="D4E9D6"/>
                </a:solidFill>
                <a:latin typeface="Arial"/>
                <a:ea typeface="Arial"/>
                <a:cs typeface="Arial"/>
              </a:rPr>
              <a:t>A checker confirms delivery before payout.</a:t>
            </a:r>
          </a:p>
        </p:txBody>
      </p:sp>
      <p:sp>
        <p:nvSpPr>
          <p:cNvPr id="4" name="">
            <a:extLst xmlns:a="http://schemas.openxmlformats.org/drawingml/2006/main">
              <a:ext uri="{FF2B5EF4-FFF2-40B4-BE49-F238E27FC236}">
                <a16:creationId xmlns:a16="http://schemas.microsoft.com/office/drawing/2014/main" id="{2DE90770-254A-4E1A-B4D7-F97E230C15F7}"/>
              </a:ext>
            </a:extLst>
          </p:cNvPr>
          <p:cNvSpPr>
            <a:spLocks xmlns:a="http://schemas.openxmlformats.org/drawingml/2006/main" noGrp="1"/>
          </p:cNvSpPr>
          <p:nvPr/>
        </p:nvSpPr>
        <p:spPr>
          <a:xfrm xmlns:a="http://schemas.openxmlformats.org/drawingml/2006/main">
            <a:off x="609600" y="6076950"/>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4E9D6"/>
                </a:solidFill>
                <a:latin typeface="Arial"/>
                <a:ea typeface="Arial"/>
                <a:cs typeface="Arial"/>
              </a:defRPr>
            </a:pPr>
            <a:r>
              <a:rPr sz="1725" b="0">
                <a:solidFill>
                  <a:srgbClr val="D4E9D6"/>
                </a:solidFill>
                <a:latin typeface="Arial"/>
                <a:ea typeface="Arial"/>
                <a:cs typeface="Arial"/>
              </a:rPr>
              <a:t>Demo voucher. Test coins only.</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8d1efe25fda433c"/>
          <a:stretch xmlns:a="http://schemas.openxmlformats.org/drawingml/2006/main"/>
        </p:blipFill>
        <p:spPr>
          <a:xfrm xmlns:a="http://schemas.openxmlformats.org/drawingml/2006/main">
            <a:off x="8477250" y="991961"/>
            <a:ext cx="3009900" cy="5159829"/>
          </a:xfrm>
          <a:prstGeom xmlns:a="http://schemas.openxmlformats.org/drawingml/2006/main" prst="rect">
            <a:avLst/>
          </a:prstGeom>
        </p:spPr>
      </p:pic>
    </p:spTree>
    <p:extLst>
      <p:ext uri="{BB962C8B-B14F-4D97-AF65-F5344CB8AC3E}">
        <p14:creationId xmlns:p14="http://schemas.microsoft.com/office/powerpoint/2010/main" val="2102725964"/>
      </p:ext>
    </p:extLst>
  </p:cSld>
</p:sld>
</file>

<file path=ppt/slides/slide2.xml><?xml version="1.0" encoding="utf-8"?>
<p:sld xmlns:p="http://schemas.openxmlformats.org/presentationml/2006/main">
  <p:cSld>
    <p:bg>
      <p:bgPr>
        <a:solidFill xmlns:a="http://schemas.openxmlformats.org/drawingml/2006/main">
          <a:srgbClr val="F4F6E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AC59B8F-FC7B-4705-B7A7-376F0ACC8DAA}"/>
              </a:ext>
            </a:extLst>
          </p:cNvPr>
          <p:cNvSpPr>
            <a:spLocks xmlns:a="http://schemas.openxmlformats.org/drawingml/2006/main" noGrp="1"/>
          </p:cNvSpPr>
          <p:nvPr/>
        </p:nvSpPr>
        <p:spPr>
          <a:xfrm xmlns:a="http://schemas.openxmlformats.org/drawingml/2006/main">
            <a:off x="609600" y="428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B2B"/>
                </a:solidFill>
                <a:latin typeface="Arial"/>
                <a:ea typeface="Arial"/>
                <a:cs typeface="Arial"/>
              </a:defRPr>
            </a:pPr>
            <a:r>
              <a:rPr sz="3450" b="1">
                <a:solidFill>
                  <a:srgbClr val="173B2B"/>
                </a:solidFill>
                <a:latin typeface="Arial"/>
                <a:ea typeface="Arial"/>
                <a:cs typeface="Arial"/>
              </a:rPr>
              <a:t>The retail checkout</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2f16904c5f64aec"/>
          <a:stretch xmlns:a="http://schemas.openxmlformats.org/drawingml/2006/main"/>
        </p:blipFill>
        <p:spPr>
          <a:xfrm xmlns:a="http://schemas.openxmlformats.org/drawingml/2006/main">
            <a:off x="1552763" y="1438275"/>
            <a:ext cx="2476123" cy="49339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0A53583-29BF-4F7E-B575-28EE00336119}"/>
              </a:ext>
            </a:extLst>
          </p:cNvPr>
          <p:cNvSpPr>
            <a:spLocks xmlns:a="http://schemas.openxmlformats.org/drawingml/2006/main" noGrp="1"/>
          </p:cNvSpPr>
          <p:nvPr/>
        </p:nvSpPr>
        <p:spPr>
          <a:xfrm xmlns:a="http://schemas.openxmlformats.org/drawingml/2006/main">
            <a:off x="5524500" y="1905000"/>
            <a:ext cx="5905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3B2B"/>
                </a:solidFill>
                <a:latin typeface="Arial"/>
                <a:ea typeface="Arial"/>
                <a:cs typeface="Arial"/>
              </a:defRPr>
            </a:pPr>
            <a:r>
              <a:rPr sz="2700" b="1">
                <a:solidFill>
                  <a:srgbClr val="173B2B"/>
                </a:solidFill>
                <a:latin typeface="Arial"/>
                <a:ea typeface="Arial"/>
                <a:cs typeface="Arial"/>
              </a:rPr>
              <a:t>01  Buy a demo pass</a:t>
            </a:r>
          </a:p>
        </p:txBody>
      </p:sp>
      <p:sp>
        <p:nvSpPr>
          <p:cNvPr id="4" name="">
            <a:extLst xmlns:a="http://schemas.openxmlformats.org/drawingml/2006/main">
              <a:ext uri="{FF2B5EF4-FFF2-40B4-BE49-F238E27FC236}">
                <a16:creationId xmlns:a16="http://schemas.microsoft.com/office/drawing/2014/main" id="{4A4ABE6C-C5FD-4B7D-8EA1-3A37879F16E3}"/>
              </a:ext>
            </a:extLst>
          </p:cNvPr>
          <p:cNvSpPr>
            <a:spLocks xmlns:a="http://schemas.openxmlformats.org/drawingml/2006/main" noGrp="1"/>
          </p:cNvSpPr>
          <p:nvPr/>
        </p:nvSpPr>
        <p:spPr>
          <a:xfrm xmlns:a="http://schemas.openxmlformats.org/drawingml/2006/main">
            <a:off x="5524500" y="2686050"/>
            <a:ext cx="590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8705F"/>
                </a:solidFill>
                <a:latin typeface="Arial"/>
                <a:ea typeface="Arial"/>
                <a:cs typeface="Arial"/>
              </a:defRPr>
            </a:pPr>
            <a:r>
              <a:rPr sz="2175" b="0">
                <a:solidFill>
                  <a:srgbClr val="58705F"/>
                </a:solidFill>
                <a:latin typeface="Arial"/>
                <a:ea typeface="Arial"/>
                <a:cs typeface="Arial"/>
              </a:rPr>
              <a:t>A funded test wallet makes the</a:t>
            </a:r>
          </a:p>
          <a:p xmlns:a="http://schemas.openxmlformats.org/drawingml/2006/main">
            <a:pPr>
              <a:defRPr sz="2175" b="0">
                <a:solidFill>
                  <a:srgbClr val="58705F"/>
                </a:solidFill>
                <a:latin typeface="Arial"/>
                <a:ea typeface="Arial"/>
                <a:cs typeface="Arial"/>
              </a:defRPr>
            </a:pPr>
            <a:r>
              <a:rPr sz="2175" b="0">
                <a:solidFill>
                  <a:srgbClr val="58705F"/>
                </a:solidFill>
                <a:latin typeface="Arial"/>
                <a:ea typeface="Arial"/>
                <a:cs typeface="Arial"/>
              </a:rPr>
              <a:t>crypto checkout easy to try.</a:t>
            </a:r>
          </a:p>
        </p:txBody>
      </p:sp>
      <p:sp>
        <p:nvSpPr>
          <p:cNvPr id="5" name="">
            <a:extLst xmlns:a="http://schemas.openxmlformats.org/drawingml/2006/main">
              <a:ext uri="{FF2B5EF4-FFF2-40B4-BE49-F238E27FC236}">
                <a16:creationId xmlns:a16="http://schemas.microsoft.com/office/drawing/2014/main" id="{63D57B1E-84F6-4178-BA50-1813A804DC96}"/>
              </a:ext>
            </a:extLst>
          </p:cNvPr>
          <p:cNvSpPr>
            <a:spLocks xmlns:a="http://schemas.openxmlformats.org/drawingml/2006/main" noGrp="1"/>
          </p:cNvSpPr>
          <p:nvPr/>
        </p:nvSpPr>
        <p:spPr>
          <a:xfrm xmlns:a="http://schemas.openxmlformats.org/drawingml/2006/main">
            <a:off x="5524500" y="3838575"/>
            <a:ext cx="609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B2B"/>
                </a:solidFill>
                <a:latin typeface="Arial"/>
                <a:ea typeface="Arial"/>
                <a:cs typeface="Arial"/>
              </a:defRPr>
            </a:pPr>
            <a:r>
              <a:rPr sz="2550" b="1">
                <a:solidFill>
                  <a:srgbClr val="173B2B"/>
                </a:solidFill>
                <a:latin typeface="Arial"/>
                <a:ea typeface="Arial"/>
                <a:cs typeface="Arial"/>
              </a:rPr>
              <a:t>02  Check the payment and pass</a:t>
            </a:r>
          </a:p>
        </p:txBody>
      </p:sp>
      <p:sp>
        <p:nvSpPr>
          <p:cNvPr id="6" name="">
            <a:extLst xmlns:a="http://schemas.openxmlformats.org/drawingml/2006/main">
              <a:ext uri="{FF2B5EF4-FFF2-40B4-BE49-F238E27FC236}">
                <a16:creationId xmlns:a16="http://schemas.microsoft.com/office/drawing/2014/main" id="{09A6E6A8-04CC-474E-87FA-EFCAF7B9F4FE}"/>
              </a:ext>
            </a:extLst>
          </p:cNvPr>
          <p:cNvSpPr>
            <a:spLocks xmlns:a="http://schemas.openxmlformats.org/drawingml/2006/main" noGrp="1"/>
          </p:cNvSpPr>
          <p:nvPr/>
        </p:nvSpPr>
        <p:spPr>
          <a:xfrm xmlns:a="http://schemas.openxmlformats.org/drawingml/2006/main">
            <a:off x="5524500" y="5219700"/>
            <a:ext cx="600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B2B"/>
                </a:solidFill>
                <a:latin typeface="Arial"/>
                <a:ea typeface="Arial"/>
                <a:cs typeface="Arial"/>
              </a:defRPr>
            </a:pPr>
            <a:r>
              <a:rPr sz="2550" b="1">
                <a:solidFill>
                  <a:srgbClr val="173B2B"/>
                </a:solidFill>
                <a:latin typeface="Arial"/>
                <a:ea typeface="Arial"/>
                <a:cs typeface="Arial"/>
              </a:rPr>
              <a:t>03  Accept one scan. Refuse reuse.</a:t>
            </a:r>
          </a:p>
        </p:txBody>
      </p:sp>
    </p:spTree>
    <p:extLst>
      <p:ext uri="{BB962C8B-B14F-4D97-AF65-F5344CB8AC3E}">
        <p14:creationId xmlns:p14="http://schemas.microsoft.com/office/powerpoint/2010/main" val="1488401779"/>
      </p:ext>
    </p:extLst>
  </p:cSld>
</p:sld>
</file>

<file path=ppt/slides/slide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4F6EC"/>
        </a:solidFill>
      </p:bgPr>
    </p:bg>
    <p:spTree>
      <p:nvGrpSpPr>
        <p:cNvPr id="1" name=""/>
        <p:cNvGrpSpPr/>
        <p:nvPr/>
      </p:nvGrpSpPr>
      <p:grpSpPr>
        <a:xfrm/>
      </p:grpSpPr>
      <p:sp>
        <p:nvSpPr>
          <p:cNvPr id="7" name="">
            <a:extLst>
              <a:ext uri="{FF2B5EF4-FFF2-40B4-BE49-F238E27FC236}">
                <ns2:creationId id="{8CFB5340-B7D7-4A34-86C6-ECAAFDE304E1}"/>
              </a:ext>
            </a:extLst>
          </p:cNvPr>
          <p:cNvSpPr>
            <a:spLocks noGrp="1"/>
          </p:cNvSpPr>
          <p:nvPr/>
        </p:nvSpPr>
        <p:spPr>
          <a:xfrm>
            <a:off x="609600" y="428625"/>
            <a:ext cx="10972800" cy="809625"/>
          </a:xfrm>
          <a:prstGeom prst="rect">
            <a:avLst/>
          </a:prstGeom>
          <a:noFill/>
          <a:ln w="0">
            <a:noFill/>
          </a:ln>
        </p:spPr>
        <p:txBody>
          <a:bodyPr>
            <a:noAutofit/>
          </a:bodyPr>
          <a:lstStyle/>
          <a:p>
            <a:pPr>
              <a:defRPr sz="3450" b="1">
                <a:solidFill>
                  <a:srgbClr val="173B2B"/>
                </a:solidFill>
                <a:latin typeface="Arial"/>
                <a:ea typeface="Arial"/>
                <a:cs typeface="Arial"/>
              </a:defRPr>
            </a:pPr>
            <a:r>
              <a:rPr sz="3450" b="1">
                <a:solidFill>
                  <a:srgbClr val="173B2B"/>
                </a:solidFill>
                <a:latin typeface="Arial"/>
                <a:ea typeface="Arial"/>
                <a:cs typeface="Arial"/>
              </a:rPr>
              <a:t>Coffee pass in action</a:t>
            </a:r>
          </a:p>
        </p:txBody>
      </p:sp>
      <p:pic>
        <p:nvPicPr>
          <p:cNvPr id="8" name="OY Orders retail screen tour">
            <a:hlinkClick action="ppaction://media"/>
          </p:cNvPr>
          <p:cNvPicPr>
            <a:picLocks noChangeAspect="1"/>
          </p:cNvPicPr>
          <p:nvPr>
            <a:videoFile r:link="rOYVideo"/>
            <p:extLst>
              <p:ext uri="{DAA4B4D4-6D71-4841-9C94-3DE7FCFB9230}">
                <p14:media r:embed="rOYMedia"/>
              </p:ext>
            </p:extLst>
          </p:nvPr>
        </p:nvPicPr>
        <p:blipFill>
          <a:blip r:embed="R79b89718f1b54dcd"/>
          <a:stretch/>
        </p:blipFill>
        <p:spPr>
          <a:xfrm>
            <a:off x="609600" y="2253528"/>
            <a:ext cx="8077200" cy="3074843"/>
          </a:xfrm>
          <a:prstGeom prst="rect">
            <a:avLst/>
          </a:prstGeom>
        </p:spPr>
      </p:pic>
      <p:sp>
        <p:nvSpPr>
          <p:cNvPr id="3" name="">
            <a:extLst>
              <a:ext uri="{FF2B5EF4-FFF2-40B4-BE49-F238E27FC236}">
                <ns2:creationId id="{2EFFC684-3B94-4757-9245-D5406FA1FACE}"/>
              </a:ext>
            </a:extLst>
          </p:cNvPr>
          <p:cNvSpPr>
            <a:spLocks noGrp="1"/>
          </p:cNvSpPr>
          <p:nvPr/>
        </p:nvSpPr>
        <p:spPr>
          <a:xfrm>
            <a:off x="9067800" y="1857375"/>
            <a:ext cx="2524125" cy="1047750"/>
          </a:xfrm>
          <a:prstGeom prst="rect">
            <a:avLst/>
          </a:prstGeom>
          <a:noFill/>
          <a:ln w="0">
            <a:noFill/>
          </a:ln>
        </p:spPr>
        <p:txBody>
          <a:bodyPr>
            <a:noAutofit/>
          </a:bodyPr>
          <a:lstStyle/>
          <a:p>
            <a:pPr>
              <a:defRPr sz="2325" b="1">
                <a:solidFill>
                  <a:srgbClr val="173B2B"/>
                </a:solidFill>
                <a:latin typeface="Arial"/>
                <a:ea typeface="Arial"/>
                <a:cs typeface="Arial"/>
              </a:defRPr>
            </a:pPr>
            <a:r>
              <a:rPr sz="2325" b="1">
                <a:solidFill>
                  <a:srgbClr val="173B2B"/>
                </a:solidFill>
                <a:latin typeface="Arial"/>
                <a:ea typeface="Arial"/>
                <a:cs typeface="Arial"/>
              </a:rPr>
              <a:t>First scan accepted</a:t>
            </a:r>
          </a:p>
        </p:txBody>
      </p:sp>
      <p:sp>
        <p:nvSpPr>
          <p:cNvPr id="4" name="">
            <a:extLst>
              <a:ext uri="{FF2B5EF4-FFF2-40B4-BE49-F238E27FC236}">
                <ns2:creationId id="{4DD2A6C7-605D-4092-BA6E-A58FDF2688C4}"/>
              </a:ext>
            </a:extLst>
          </p:cNvPr>
          <p:cNvSpPr>
            <a:spLocks noGrp="1"/>
          </p:cNvSpPr>
          <p:nvPr/>
        </p:nvSpPr>
        <p:spPr>
          <a:xfrm>
            <a:off x="9067800" y="3390900"/>
            <a:ext cx="2524125" cy="1047750"/>
          </a:xfrm>
          <a:prstGeom prst="rect">
            <a:avLst/>
          </a:prstGeom>
          <a:noFill/>
          <a:ln w="0">
            <a:noFill/>
          </a:ln>
        </p:spPr>
        <p:txBody>
          <a:bodyPr>
            <a:noAutofit/>
          </a:bodyPr>
          <a:lstStyle/>
          <a:p>
            <a:pPr>
              <a:defRPr sz="2325" b="1">
                <a:solidFill>
                  <a:srgbClr val="173B2B"/>
                </a:solidFill>
                <a:latin typeface="Arial"/>
                <a:ea typeface="Arial"/>
                <a:cs typeface="Arial"/>
              </a:defRPr>
            </a:pPr>
            <a:r>
              <a:rPr sz="2325" b="1">
                <a:solidFill>
                  <a:srgbClr val="173B2B"/>
                </a:solidFill>
                <a:latin typeface="Arial"/>
                <a:ea typeface="Arial"/>
                <a:cs typeface="Arial"/>
              </a:rPr>
              <a:t>Same pass refused</a:t>
            </a:r>
          </a:p>
        </p:txBody>
      </p:sp>
      <p:sp>
        <p:nvSpPr>
          <p:cNvPr id="5" name="">
            <a:extLst>
              <a:ext uri="{FF2B5EF4-FFF2-40B4-BE49-F238E27FC236}">
                <ns2:creationId id="{C15463CB-8374-405E-91A6-D6CDAF11E0F9}"/>
              </a:ext>
            </a:extLst>
          </p:cNvPr>
          <p:cNvSpPr>
            <a:spLocks noGrp="1"/>
          </p:cNvSpPr>
          <p:nvPr/>
        </p:nvSpPr>
        <p:spPr>
          <a:xfrm>
            <a:off x="9067800" y="4838700"/>
            <a:ext cx="2476500" cy="1047750"/>
          </a:xfrm>
          <a:prstGeom prst="rect">
            <a:avLst/>
          </a:prstGeom>
          <a:noFill/>
          <a:ln w="0">
            <a:noFill/>
          </a:ln>
        </p:spPr>
        <p:txBody>
          <a:bodyPr>
            <a:noAutofit/>
          </a:bodyPr>
          <a:lstStyle/>
          <a:p>
            <a:pPr>
              <a:defRPr sz="2025" b="0">
                <a:solidFill>
                  <a:srgbClr val="58705F"/>
                </a:solidFill>
                <a:latin typeface="Arial"/>
                <a:ea typeface="Arial"/>
                <a:cs typeface="Arial"/>
              </a:defRPr>
            </a:pPr>
            <a:r>
              <a:rPr sz="2025" b="0">
                <a:solidFill>
                  <a:srgbClr val="58705F"/>
                </a:solidFill>
                <a:latin typeface="Arial"/>
                <a:ea typeface="Arial"/>
                <a:cs typeface="Arial"/>
              </a:rPr>
              <a:t>Inspect the</a:t>
            </a:r>
          </a:p>
          <a:p>
            <a:pPr>
              <a:defRPr sz="2025" b="0">
                <a:solidFill>
                  <a:srgbClr val="58705F"/>
                </a:solidFill>
                <a:latin typeface="Arial"/>
                <a:ea typeface="Arial"/>
                <a:cs typeface="Arial"/>
              </a:defRPr>
            </a:pPr>
            <a:r>
              <a:rPr sz="2025" b="0">
                <a:solidFill>
                  <a:srgbClr val="58705F"/>
                </a:solidFill>
                <a:latin typeface="Arial"/>
                <a:ea typeface="Arial"/>
                <a:cs typeface="Arial"/>
              </a:rPr>
              <a:t>actual payment</a:t>
            </a:r>
          </a:p>
        </p:txBody>
      </p:sp>
      <p:sp>
        <p:nvSpPr>
          <p:cNvPr id="6" name="">
            <a:extLst>
              <a:ext uri="{FF2B5EF4-FFF2-40B4-BE49-F238E27FC236}">
                <ns2:creationId id="{D08E9D63-5AF0-4393-A28E-27DA84D0A5B8}"/>
              </a:ext>
            </a:extLst>
          </p:cNvPr>
          <p:cNvSpPr>
            <a:spLocks noGrp="1"/>
          </p:cNvSpPr>
          <p:nvPr/>
        </p:nvSpPr>
        <p:spPr>
          <a:xfrm>
            <a:off x="609600" y="6096000"/>
            <a:ext cx="10477500" cy="400050"/>
          </a:xfrm>
          <a:prstGeom prst="rect">
            <a:avLst/>
          </a:prstGeom>
          <a:noFill/>
          <a:ln w="0">
            <a:noFill/>
          </a:ln>
        </p:spPr>
        <p:txBody>
          <a:bodyPr>
            <a:noAutofit/>
          </a:bodyPr>
          <a:lstStyle/>
          <a:p>
            <a:pPr>
              <a:defRPr sz="1800" b="0">
                <a:solidFill>
                  <a:srgbClr val="58705F"/>
                </a:solidFill>
                <a:latin typeface="Arial"/>
                <a:ea typeface="Arial"/>
                <a:cs typeface="Arial"/>
              </a:defRPr>
            </a:pPr>
            <a:r>
              <a:rPr sz="1800" b="0">
                <a:solidFill>
                  <a:srgbClr val="58705F"/>
                </a:solidFill>
                <a:latin typeface="Arial"/>
                <a:ea typeface="Arial"/>
                <a:cs typeface="Arial"/>
              </a:rPr>
              <a:t>Recorded actual testnet evidence. Demo voucher only.</a:t>
            </a:r>
          </a:p>
        </p:txBody>
      </p:sp>
    </p:spTree>
    <p:extLst>
      <p:ext uri="{BB962C8B-B14F-4D97-AF65-F5344CB8AC3E}">
        <p14:creationId val="1551969266"/>
      </p:ext>
    </p:extLst>
  </p:cSld>
  <p:timing>
    <p:tnLst>
      <p:par>
        <p:cTn id="1" dur="indefinite" restart="never" nodeType="tmRoot">
          <p:childTnLst>
            <p:video fullScrn="1">
              <p:cMediaNode vol="80000">
                <p:cTn id="2" fill="hold" display="0">
                  <p:stCondLst>
                    <p:cond delay="0"/>
                  </p:stCondLst>
                </p:cTn>
                <p:tgtEl>
                  <p:spTgt spid="8"/>
                </p:tgtEl>
              </p:cMediaNode>
            </p:video>
          </p:childTnLst>
        </p:cTn>
      </p:par>
    </p:tnLst>
  </p:timing>
</p:sld>
</file>

<file path=ppt/slides/slide4.xml><?xml version="1.0" encoding="utf-8"?>
<p:sld xmlns:p="http://schemas.openxmlformats.org/presentationml/2006/main">
  <p:cSld>
    <p:bg>
      <p:bgPr>
        <a:solidFill xmlns:a="http://schemas.openxmlformats.org/drawingml/2006/main">
          <a:srgbClr val="173B2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26404A6-521C-4BCD-9C32-A12937AB65C2}"/>
              </a:ext>
            </a:extLst>
          </p:cNvPr>
          <p:cNvSpPr>
            <a:spLocks xmlns:a="http://schemas.openxmlformats.org/drawingml/2006/main" noGrp="1"/>
          </p:cNvSpPr>
          <p:nvPr/>
        </p:nvSpPr>
        <p:spPr>
          <a:xfrm xmlns:a="http://schemas.openxmlformats.org/drawingml/2006/main">
            <a:off x="609600" y="428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Why each technology is here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f500f4384e24314">
            <a:extLst>
              <a:ext uri="{96DAC541-7B7A-43D3-8B79-37D633B846F1}">
                <asvg:svgBlip xmlns:asvg="http://schemas.microsoft.com/office/drawing/2016/SVG/main" r:embed="R941bd0dd9a384fe3"/>
              </a:ext>
            </a:extLst>
          </a:blip>
          <a:stretch xmlns:a="http://schemas.openxmlformats.org/drawingml/2006/main"/>
        </p:blipFill>
        <p:spPr>
          <a:xfrm xmlns:a="http://schemas.openxmlformats.org/drawingml/2006/main">
            <a:off x="609600" y="1685925"/>
            <a:ext cx="495300" cy="5524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1EFC022-E483-4660-B5FC-9C0B3A03D6B6}"/>
              </a:ext>
            </a:extLst>
          </p:cNvPr>
          <p:cNvSpPr>
            <a:spLocks xmlns:a="http://schemas.openxmlformats.org/drawingml/2006/main" noGrp="1"/>
          </p:cNvSpPr>
          <p:nvPr/>
        </p:nvSpPr>
        <p:spPr>
          <a:xfrm xmlns:a="http://schemas.openxmlformats.org/drawingml/2006/main">
            <a:off x="1352550" y="1724025"/>
            <a:ext cx="314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Solana</a:t>
            </a:r>
          </a:p>
        </p:txBody>
      </p:sp>
      <p:sp>
        <p:nvSpPr>
          <p:cNvPr id="4" name="">
            <a:extLst xmlns:a="http://schemas.openxmlformats.org/drawingml/2006/main">
              <a:ext uri="{FF2B5EF4-FFF2-40B4-BE49-F238E27FC236}">
                <a16:creationId xmlns:a16="http://schemas.microsoft.com/office/drawing/2014/main" id="{AB0288B5-04B3-4C41-9FC2-0B898C29CCE6}"/>
              </a:ext>
            </a:extLst>
          </p:cNvPr>
          <p:cNvSpPr>
            <a:spLocks xmlns:a="http://schemas.openxmlformats.org/drawingml/2006/main" noGrp="1"/>
          </p:cNvSpPr>
          <p:nvPr/>
        </p:nvSpPr>
        <p:spPr>
          <a:xfrm xmlns:a="http://schemas.openxmlformats.org/drawingml/2006/main">
            <a:off x="4667250" y="1704975"/>
            <a:ext cx="685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4E9D6"/>
                </a:solidFill>
                <a:latin typeface="Arial"/>
                <a:ea typeface="Arial"/>
                <a:cs typeface="Arial"/>
              </a:defRPr>
            </a:pPr>
            <a:r>
              <a:rPr sz="2100" b="0">
                <a:solidFill>
                  <a:srgbClr val="D4E9D6"/>
                </a:solidFill>
                <a:latin typeface="Arial"/>
                <a:ea typeface="Arial"/>
                <a:cs typeface="Arial"/>
              </a:rPr>
              <a:t>Protect the task payment with immutable on-chain terms.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53acededae44b48">
            <a:extLst>
              <a:ext uri="{96DAC541-7B7A-43D3-8B79-37D633B846F1}">
                <asvg:svgBlip xmlns:asvg="http://schemas.microsoft.com/office/drawing/2016/SVG/main" r:embed="R6fe0a05aac774452"/>
              </a:ext>
            </a:extLst>
          </a:blip>
          <a:stretch xmlns:a="http://schemas.openxmlformats.org/drawingml/2006/main"/>
        </p:blipFill>
        <p:spPr>
          <a:xfrm xmlns:a="http://schemas.openxmlformats.org/drawingml/2006/main">
            <a:off x="609600" y="2686050"/>
            <a:ext cx="495300" cy="5524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640012F-D2CD-4307-8741-F8AA8A39B005}"/>
              </a:ext>
            </a:extLst>
          </p:cNvPr>
          <p:cNvSpPr>
            <a:spLocks xmlns:a="http://schemas.openxmlformats.org/drawingml/2006/main" noGrp="1"/>
          </p:cNvSpPr>
          <p:nvPr/>
        </p:nvSpPr>
        <p:spPr>
          <a:xfrm xmlns:a="http://schemas.openxmlformats.org/drawingml/2006/main">
            <a:off x="1352550" y="2724150"/>
            <a:ext cx="314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Cardano</a:t>
            </a:r>
          </a:p>
        </p:txBody>
      </p:sp>
      <p:sp>
        <p:nvSpPr>
          <p:cNvPr id="7" name="">
            <a:extLst xmlns:a="http://schemas.openxmlformats.org/drawingml/2006/main">
              <a:ext uri="{FF2B5EF4-FFF2-40B4-BE49-F238E27FC236}">
                <a16:creationId xmlns:a16="http://schemas.microsoft.com/office/drawing/2014/main" id="{5523A48F-9588-4460-9645-992FFAA18C41}"/>
              </a:ext>
            </a:extLst>
          </p:cNvPr>
          <p:cNvSpPr>
            <a:spLocks xmlns:a="http://schemas.openxmlformats.org/drawingml/2006/main" noGrp="1"/>
          </p:cNvSpPr>
          <p:nvPr/>
        </p:nvSpPr>
        <p:spPr>
          <a:xfrm xmlns:a="http://schemas.openxmlformats.org/drawingml/2006/main">
            <a:off x="4667250" y="2705100"/>
            <a:ext cx="685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4E9D6"/>
                </a:solidFill>
                <a:latin typeface="Arial"/>
                <a:ea typeface="Arial"/>
                <a:cs typeface="Arial"/>
              </a:defRPr>
            </a:pPr>
            <a:r>
              <a:rPr sz="2100" b="0">
                <a:solidFill>
                  <a:srgbClr val="D4E9D6"/>
                </a:solidFill>
                <a:latin typeface="Arial"/>
                <a:ea typeface="Arial"/>
                <a:cs typeface="Arial"/>
              </a:rPr>
              <a:t>Let the agent purchase the supplier-signed pass through x402.</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4e77246d6d364e54">
            <a:extLst>
              <a:ext uri="{96DAC541-7B7A-43D3-8B79-37D633B846F1}">
                <asvg:svgBlip xmlns:asvg="http://schemas.microsoft.com/office/drawing/2016/SVG/main" r:embed="Rbd0455906ab04f2d"/>
              </a:ext>
            </a:extLst>
          </a:blip>
          <a:stretch xmlns:a="http://schemas.openxmlformats.org/drawingml/2006/main"/>
        </p:blipFill>
        <p:spPr>
          <a:xfrm xmlns:a="http://schemas.openxmlformats.org/drawingml/2006/main">
            <a:off x="609600" y="3686175"/>
            <a:ext cx="495300" cy="5524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5E9FD24-B06F-4110-BB58-741456AC17FF}"/>
              </a:ext>
            </a:extLst>
          </p:cNvPr>
          <p:cNvSpPr>
            <a:spLocks xmlns:a="http://schemas.openxmlformats.org/drawingml/2006/main" noGrp="1"/>
          </p:cNvSpPr>
          <p:nvPr/>
        </p:nvSpPr>
        <p:spPr>
          <a:xfrm xmlns:a="http://schemas.openxmlformats.org/drawingml/2006/main">
            <a:off x="1352550" y="3724275"/>
            <a:ext cx="314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Chainlink CRE</a:t>
            </a:r>
          </a:p>
        </p:txBody>
      </p:sp>
      <p:sp>
        <p:nvSpPr>
          <p:cNvPr id="10" name="">
            <a:extLst xmlns:a="http://schemas.openxmlformats.org/drawingml/2006/main">
              <a:ext uri="{FF2B5EF4-FFF2-40B4-BE49-F238E27FC236}">
                <a16:creationId xmlns:a16="http://schemas.microsoft.com/office/drawing/2014/main" id="{A4B3D12A-A4A4-4F79-AA66-FE0F9ED68AB9}"/>
              </a:ext>
            </a:extLst>
          </p:cNvPr>
          <p:cNvSpPr>
            <a:spLocks xmlns:a="http://schemas.openxmlformats.org/drawingml/2006/main" noGrp="1"/>
          </p:cNvSpPr>
          <p:nvPr/>
        </p:nvSpPr>
        <p:spPr>
          <a:xfrm xmlns:a="http://schemas.openxmlformats.org/drawingml/2006/main">
            <a:off x="4667250" y="3705225"/>
            <a:ext cx="685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4E9D6"/>
                </a:solidFill>
                <a:latin typeface="Arial"/>
                <a:ea typeface="Arial"/>
                <a:cs typeface="Arial"/>
              </a:defRPr>
            </a:pPr>
            <a:r>
              <a:rPr sz="2100" b="0">
                <a:solidFill>
                  <a:srgbClr val="D4E9D6"/>
                </a:solidFill>
                <a:latin typeface="Arial"/>
                <a:ea typeface="Arial"/>
                <a:cs typeface="Arial"/>
              </a:rPr>
              <a:t>Independently check the escrow, purchase and promised pass.</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cd45586f8add4f8a">
            <a:extLst>
              <a:ext uri="{96DAC541-7B7A-43D3-8B79-37D633B846F1}">
                <asvg:svgBlip xmlns:asvg="http://schemas.microsoft.com/office/drawing/2016/SVG/main" r:embed="R2798e0a4b9304502"/>
              </a:ext>
            </a:extLst>
          </a:blip>
          <a:stretch xmlns:a="http://schemas.openxmlformats.org/drawingml/2006/main"/>
        </p:blipFill>
        <p:spPr>
          <a:xfrm xmlns:a="http://schemas.openxmlformats.org/drawingml/2006/main">
            <a:off x="609600" y="4686300"/>
            <a:ext cx="495300" cy="5524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D9759DE3-F67B-4008-B4BE-FB1CEE3B8F38}"/>
              </a:ext>
            </a:extLst>
          </p:cNvPr>
          <p:cNvSpPr>
            <a:spLocks xmlns:a="http://schemas.openxmlformats.org/drawingml/2006/main" noGrp="1"/>
          </p:cNvSpPr>
          <p:nvPr/>
        </p:nvSpPr>
        <p:spPr>
          <a:xfrm xmlns:a="http://schemas.openxmlformats.org/drawingml/2006/main">
            <a:off x="1352550" y="4724400"/>
            <a:ext cx="314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NOWNodes</a:t>
            </a:r>
          </a:p>
        </p:txBody>
      </p:sp>
      <p:sp>
        <p:nvSpPr>
          <p:cNvPr id="13" name="">
            <a:extLst xmlns:a="http://schemas.openxmlformats.org/drawingml/2006/main">
              <a:ext uri="{FF2B5EF4-FFF2-40B4-BE49-F238E27FC236}">
                <a16:creationId xmlns:a16="http://schemas.microsoft.com/office/drawing/2014/main" id="{9EA19E01-B896-48FB-AC9A-1105B5D1433D}"/>
              </a:ext>
            </a:extLst>
          </p:cNvPr>
          <p:cNvSpPr>
            <a:spLocks xmlns:a="http://schemas.openxmlformats.org/drawingml/2006/main" noGrp="1"/>
          </p:cNvSpPr>
          <p:nvPr/>
        </p:nvSpPr>
        <p:spPr>
          <a:xfrm xmlns:a="http://schemas.openxmlformats.org/drawingml/2006/main">
            <a:off x="4667250" y="4705350"/>
            <a:ext cx="685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4E9D6"/>
                </a:solidFill>
                <a:latin typeface="Arial"/>
                <a:ea typeface="Arial"/>
                <a:cs typeface="Arial"/>
              </a:defRPr>
            </a:pPr>
            <a:r>
              <a:rPr sz="2100" b="0">
                <a:solidFill>
                  <a:srgbClr val="D4E9D6"/>
                </a:solidFill>
                <a:latin typeface="Arial"/>
                <a:ea typeface="Arial"/>
                <a:cs typeface="Arial"/>
              </a:rPr>
              <a:t>Read the original payment records and both-network report facts.</a:t>
            </a:r>
          </a:p>
        </p:txBody>
      </p:sp>
      <p:sp>
        <p:nvSpPr>
          <p:cNvPr id="14" name="">
            <a:extLst xmlns:a="http://schemas.openxmlformats.org/drawingml/2006/main">
              <a:ext uri="{FF2B5EF4-FFF2-40B4-BE49-F238E27FC236}">
                <a16:creationId xmlns:a16="http://schemas.microsoft.com/office/drawing/2014/main" id="{02EE7CD2-5A9E-4E89-B8C0-600C53163A66}"/>
              </a:ext>
            </a:extLst>
          </p:cNvPr>
          <p:cNvSpPr>
            <a:spLocks xmlns:a="http://schemas.openxmlformats.org/drawingml/2006/main" noGrp="1"/>
          </p:cNvSpPr>
          <p:nvPr/>
        </p:nvSpPr>
        <p:spPr>
          <a:xfrm xmlns:a="http://schemas.openxmlformats.org/drawingml/2006/main">
            <a:off x="609600" y="609600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4E9D6"/>
                </a:solidFill>
                <a:latin typeface="Arial"/>
                <a:ea typeface="Arial"/>
                <a:cs typeface="Arial"/>
              </a:defRPr>
            </a:pPr>
            <a:r>
              <a:rPr sz="1725" b="0">
                <a:solidFill>
                  <a:srgbClr val="D4E9D6"/>
                </a:solidFill>
                <a:latin typeface="Arial"/>
                <a:ea typeface="Arial"/>
                <a:cs typeface="Arial"/>
              </a:rPr>
              <a:t>0.01 tSOL task payment. Separate 2 tADA supplier funds.</a:t>
            </a:r>
          </a:p>
        </p:txBody>
      </p:sp>
    </p:spTree>
    <p:extLst>
      <p:ext uri="{BB962C8B-B14F-4D97-AF65-F5344CB8AC3E}">
        <p14:creationId xmlns:p14="http://schemas.microsoft.com/office/powerpoint/2010/main" val="1437612962"/>
      </p:ext>
    </p:extLst>
  </p:cSld>
</p:sld>
</file>

<file path=ppt/slides/slide5.xml><?xml version="1.0" encoding="utf-8"?>
<p:sld xmlns:p="http://schemas.openxmlformats.org/presentationml/2006/main">
  <p:cSld>
    <p:bg>
      <p:bgPr>
        <a:solidFill xmlns:a="http://schemas.openxmlformats.org/drawingml/2006/main">
          <a:srgbClr val="F4F6E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4BD84F2-1889-4F31-9BDE-26752B094DE1}"/>
              </a:ext>
            </a:extLst>
          </p:cNvPr>
          <p:cNvSpPr>
            <a:spLocks xmlns:a="http://schemas.openxmlformats.org/drawingml/2006/main" noGrp="1"/>
          </p:cNvSpPr>
          <p:nvPr/>
        </p:nvSpPr>
        <p:spPr>
          <a:xfrm xmlns:a="http://schemas.openxmlformats.org/drawingml/2006/main">
            <a:off x="609600" y="428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B2B"/>
                </a:solidFill>
                <a:latin typeface="Arial"/>
                <a:ea typeface="Arial"/>
                <a:cs typeface="Arial"/>
              </a:defRPr>
            </a:pPr>
            <a:r>
              <a:rPr sz="3450" b="1">
                <a:solidFill>
                  <a:srgbClr val="173B2B"/>
                </a:solidFill>
                <a:latin typeface="Arial"/>
                <a:ea typeface="Arial"/>
                <a:cs typeface="Arial"/>
              </a:rPr>
              <a:t>What we actually proved</a:t>
            </a:r>
          </a:p>
        </p:txBody>
      </p:sp>
      <p:sp>
        <p:nvSpPr>
          <p:cNvPr id="2" name="">
            <a:extLst xmlns:a="http://schemas.openxmlformats.org/drawingml/2006/main">
              <a:ext uri="{FF2B5EF4-FFF2-40B4-BE49-F238E27FC236}">
                <a16:creationId xmlns:a16="http://schemas.microsoft.com/office/drawing/2014/main" id="{F6C14A59-2714-4616-8D55-511EE2C9C9E7}"/>
              </a:ext>
            </a:extLst>
          </p:cNvPr>
          <p:cNvSpPr>
            <a:spLocks xmlns:a="http://schemas.openxmlformats.org/drawingml/2006/main" noGrp="1"/>
          </p:cNvSpPr>
          <p:nvPr/>
        </p:nvSpPr>
        <p:spPr>
          <a:xfrm xmlns:a="http://schemas.openxmlformats.org/drawingml/2006/main">
            <a:off x="609600" y="1619250"/>
            <a:ext cx="3714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850" b="1">
                <a:solidFill>
                  <a:srgbClr val="173B2B"/>
                </a:solidFill>
                <a:latin typeface="Arial"/>
                <a:ea typeface="Arial"/>
                <a:cs typeface="Arial"/>
              </a:defRPr>
            </a:pPr>
            <a:r>
              <a:rPr sz="8850" b="1">
                <a:solidFill>
                  <a:srgbClr val="173B2B"/>
                </a:solidFill>
                <a:latin typeface="Arial"/>
                <a:ea typeface="Arial"/>
                <a:cs typeface="Arial"/>
              </a:rPr>
              <a:t>57</a:t>
            </a:r>
          </a:p>
        </p:txBody>
      </p:sp>
      <p:sp>
        <p:nvSpPr>
          <p:cNvPr id="3" name="">
            <a:extLst xmlns:a="http://schemas.openxmlformats.org/drawingml/2006/main">
              <a:ext uri="{FF2B5EF4-FFF2-40B4-BE49-F238E27FC236}">
                <a16:creationId xmlns:a16="http://schemas.microsoft.com/office/drawing/2014/main" id="{F72AE76A-196D-49D3-A76B-9BFBDC095C84}"/>
              </a:ext>
            </a:extLst>
          </p:cNvPr>
          <p:cNvSpPr>
            <a:spLocks xmlns:a="http://schemas.openxmlformats.org/drawingml/2006/main" noGrp="1"/>
          </p:cNvSpPr>
          <p:nvPr/>
        </p:nvSpPr>
        <p:spPr>
          <a:xfrm xmlns:a="http://schemas.openxmlformats.org/drawingml/2006/main">
            <a:off x="609600" y="3238500"/>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3B2B"/>
                </a:solidFill>
                <a:latin typeface="Arial"/>
                <a:ea typeface="Arial"/>
                <a:cs typeface="Arial"/>
              </a:defRPr>
            </a:pPr>
            <a:r>
              <a:rPr sz="2700" b="1">
                <a:solidFill>
                  <a:srgbClr val="173B2B"/>
                </a:solidFill>
                <a:latin typeface="Arial"/>
                <a:ea typeface="Arial"/>
                <a:cs typeface="Arial"/>
              </a:rPr>
              <a:t>passing tests</a:t>
            </a:r>
          </a:p>
        </p:txBody>
      </p:sp>
      <p:sp>
        <p:nvSpPr>
          <p:cNvPr id="4" name="">
            <a:extLst xmlns:a="http://schemas.openxmlformats.org/drawingml/2006/main">
              <a:ext uri="{FF2B5EF4-FFF2-40B4-BE49-F238E27FC236}">
                <a16:creationId xmlns:a16="http://schemas.microsoft.com/office/drawing/2014/main" id="{1FEB8A74-688F-429F-92B3-4FF1DF1094A1}"/>
              </a:ext>
            </a:extLst>
          </p:cNvPr>
          <p:cNvSpPr>
            <a:spLocks xmlns:a="http://schemas.openxmlformats.org/drawingml/2006/main" noGrp="1"/>
          </p:cNvSpPr>
          <p:nvPr/>
        </p:nvSpPr>
        <p:spPr>
          <a:xfrm xmlns:a="http://schemas.openxmlformats.org/drawingml/2006/main">
            <a:off x="609600" y="4171950"/>
            <a:ext cx="4429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8705F"/>
                </a:solidFill>
                <a:latin typeface="Arial"/>
                <a:ea typeface="Arial"/>
                <a:cs typeface="Arial"/>
              </a:defRPr>
            </a:pPr>
            <a:r>
              <a:rPr sz="2025" b="0">
                <a:solidFill>
                  <a:srgbClr val="58705F"/>
                </a:solidFill>
                <a:latin typeface="Arial"/>
                <a:ea typeface="Arial"/>
                <a:cs typeface="Arial"/>
              </a:rPr>
              <a:t>Spending limits and wrong-chain checks</a:t>
            </a:r>
          </a:p>
          <a:p xmlns:a="http://schemas.openxmlformats.org/drawingml/2006/main">
            <a:pPr>
              <a:defRPr sz="2025" b="0">
                <a:solidFill>
                  <a:srgbClr val="58705F"/>
                </a:solidFill>
                <a:latin typeface="Arial"/>
                <a:ea typeface="Arial"/>
                <a:cs typeface="Arial"/>
              </a:defRPr>
            </a:pPr>
            <a:r>
              <a:rPr sz="2025" b="0">
                <a:solidFill>
                  <a:srgbClr val="58705F"/>
                </a:solidFill>
                <a:latin typeface="Arial"/>
                <a:ea typeface="Arial"/>
                <a:cs typeface="Arial"/>
              </a:rPr>
              <a:t>Pass reuse and restart protection</a:t>
            </a:r>
          </a:p>
          <a:p xmlns:a="http://schemas.openxmlformats.org/drawingml/2006/main">
            <a:pPr>
              <a:defRPr sz="2025" b="0">
                <a:solidFill>
                  <a:srgbClr val="58705F"/>
                </a:solidFill>
                <a:latin typeface="Arial"/>
                <a:ea typeface="Arial"/>
                <a:cs typeface="Arial"/>
              </a:defRPr>
            </a:pPr>
            <a:r>
              <a:rPr sz="2025" b="0">
                <a:solidFill>
                  <a:srgbClr val="58705F"/>
                </a:solidFill>
                <a:latin typeface="Arial"/>
                <a:ea typeface="Arial"/>
                <a:cs typeface="Arial"/>
              </a:rPr>
              <a:t>Compiled Solana program execution</a:t>
            </a:r>
          </a:p>
        </p:txBody>
      </p:sp>
      <p:sp>
        <p:nvSpPr>
          <p:cNvPr id="5" name="">
            <a:extLst xmlns:a="http://schemas.openxmlformats.org/drawingml/2006/main">
              <a:ext uri="{FF2B5EF4-FFF2-40B4-BE49-F238E27FC236}">
                <a16:creationId xmlns:a16="http://schemas.microsoft.com/office/drawing/2014/main" id="{020B3C7C-0E2C-4175-8DB6-DD19FCD2EFD9}"/>
              </a:ext>
            </a:extLst>
          </p:cNvPr>
          <p:cNvSpPr>
            <a:spLocks xmlns:a="http://schemas.openxmlformats.org/drawingml/2006/main" noGrp="1"/>
          </p:cNvSpPr>
          <p:nvPr/>
        </p:nvSpPr>
        <p:spPr>
          <a:xfrm xmlns:a="http://schemas.openxmlformats.org/drawingml/2006/main">
            <a:off x="5619750" y="1752600"/>
            <a:ext cx="5905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73B2B"/>
                </a:solidFill>
                <a:latin typeface="Arial"/>
                <a:ea typeface="Arial"/>
                <a:cs typeface="Arial"/>
              </a:defRPr>
            </a:pPr>
            <a:r>
              <a:rPr sz="2925" b="1">
                <a:solidFill>
                  <a:srgbClr val="173B2B"/>
                </a:solidFill>
                <a:latin typeface="Arial"/>
                <a:ea typeface="Arial"/>
                <a:cs typeface="Arial"/>
              </a:rPr>
              <a:t>10/10 delivery checks</a:t>
            </a:r>
          </a:p>
        </p:txBody>
      </p:sp>
      <p:sp>
        <p:nvSpPr>
          <p:cNvPr id="6" name="">
            <a:extLst xmlns:a="http://schemas.openxmlformats.org/drawingml/2006/main">
              <a:ext uri="{FF2B5EF4-FFF2-40B4-BE49-F238E27FC236}">
                <a16:creationId xmlns:a16="http://schemas.microsoft.com/office/drawing/2014/main" id="{15F144B4-7C09-431E-A14D-267D9528A018}"/>
              </a:ext>
            </a:extLst>
          </p:cNvPr>
          <p:cNvSpPr>
            <a:spLocks xmlns:a="http://schemas.openxmlformats.org/drawingml/2006/main" noGrp="1"/>
          </p:cNvSpPr>
          <p:nvPr/>
        </p:nvSpPr>
        <p:spPr>
          <a:xfrm xmlns:a="http://schemas.openxmlformats.org/drawingml/2006/main">
            <a:off x="5619750" y="2695575"/>
            <a:ext cx="590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8705F"/>
                </a:solidFill>
                <a:latin typeface="Arial"/>
                <a:ea typeface="Arial"/>
                <a:cs typeface="Arial"/>
              </a:defRPr>
            </a:pPr>
            <a:r>
              <a:rPr sz="2100" b="0">
                <a:solidFill>
                  <a:srgbClr val="58705F"/>
                </a:solidFill>
                <a:latin typeface="Arial"/>
                <a:ea typeface="Arial"/>
                <a:cs typeface="Arial"/>
              </a:rPr>
              <a:t>Real retail payment and signed pass</a:t>
            </a:r>
          </a:p>
        </p:txBody>
      </p:sp>
      <p:sp>
        <p:nvSpPr>
          <p:cNvPr id="7" name="">
            <a:extLst xmlns:a="http://schemas.openxmlformats.org/drawingml/2006/main">
              <a:ext uri="{FF2B5EF4-FFF2-40B4-BE49-F238E27FC236}">
                <a16:creationId xmlns:a16="http://schemas.microsoft.com/office/drawing/2014/main" id="{94743274-00CE-442A-81DC-60323FF5D0A2}"/>
              </a:ext>
            </a:extLst>
          </p:cNvPr>
          <p:cNvSpPr>
            <a:spLocks xmlns:a="http://schemas.openxmlformats.org/drawingml/2006/main" noGrp="1"/>
          </p:cNvSpPr>
          <p:nvPr/>
        </p:nvSpPr>
        <p:spPr>
          <a:xfrm xmlns:a="http://schemas.openxmlformats.org/drawingml/2006/main">
            <a:off x="5619750" y="4000500"/>
            <a:ext cx="590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3B2B"/>
                </a:solidFill>
                <a:latin typeface="Arial"/>
                <a:ea typeface="Arial"/>
                <a:cs typeface="Arial"/>
              </a:defRPr>
            </a:pPr>
            <a:r>
              <a:rPr sz="2625" b="1">
                <a:solidFill>
                  <a:srgbClr val="173B2B"/>
                </a:solidFill>
                <a:latin typeface="Arial"/>
                <a:ea typeface="Arial"/>
                <a:cs typeface="Arial"/>
              </a:rPr>
              <a:t>8 paid testnet orders</a:t>
            </a:r>
          </a:p>
        </p:txBody>
      </p:sp>
      <p:sp>
        <p:nvSpPr>
          <p:cNvPr id="8" name="">
            <a:extLst xmlns:a="http://schemas.openxmlformats.org/drawingml/2006/main">
              <a:ext uri="{FF2B5EF4-FFF2-40B4-BE49-F238E27FC236}">
                <a16:creationId xmlns:a16="http://schemas.microsoft.com/office/drawing/2014/main" id="{2F4CEAE0-FECA-4A95-9A32-4794438E78A6}"/>
              </a:ext>
            </a:extLst>
          </p:cNvPr>
          <p:cNvSpPr>
            <a:spLocks xmlns:a="http://schemas.openxmlformats.org/drawingml/2006/main" noGrp="1"/>
          </p:cNvSpPr>
          <p:nvPr/>
        </p:nvSpPr>
        <p:spPr>
          <a:xfrm xmlns:a="http://schemas.openxmlformats.org/drawingml/2006/main">
            <a:off x="5619750" y="483870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8705F"/>
                </a:solidFill>
                <a:latin typeface="Arial"/>
                <a:ea typeface="Arial"/>
                <a:cs typeface="Arial"/>
              </a:defRPr>
            </a:pPr>
            <a:r>
              <a:rPr sz="2025" b="0">
                <a:solidFill>
                  <a:srgbClr val="58705F"/>
                </a:solidFill>
                <a:latin typeface="Arial"/>
                <a:ea typeface="Arial"/>
                <a:cs typeface="Arial"/>
              </a:rPr>
              <a:t>7 settled. 1 rejected with reward refunded.</a:t>
            </a:r>
          </a:p>
        </p:txBody>
      </p:sp>
      <p:sp>
        <p:nvSpPr>
          <p:cNvPr id="9" name="">
            <a:extLst xmlns:a="http://schemas.openxmlformats.org/drawingml/2006/main">
              <a:ext uri="{FF2B5EF4-FFF2-40B4-BE49-F238E27FC236}">
                <a16:creationId xmlns:a16="http://schemas.microsoft.com/office/drawing/2014/main" id="{B0E91E3C-DF0E-4FE4-AD8F-2B157099DF31}"/>
              </a:ext>
            </a:extLst>
          </p:cNvPr>
          <p:cNvSpPr>
            <a:spLocks xmlns:a="http://schemas.openxmlformats.org/drawingml/2006/main" noGrp="1"/>
          </p:cNvSpPr>
          <p:nvPr/>
        </p:nvSpPr>
        <p:spPr>
          <a:xfrm xmlns:a="http://schemas.openxmlformats.org/drawingml/2006/main">
            <a:off x="609600" y="62293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8705F"/>
                </a:solidFill>
                <a:latin typeface="Arial"/>
                <a:ea typeface="Arial"/>
                <a:cs typeface="Arial"/>
              </a:defRPr>
            </a:pPr>
            <a:r>
              <a:rPr sz="1650" b="0">
                <a:solidFill>
                  <a:srgbClr val="58705F"/>
                </a:solidFill>
                <a:latin typeface="Arial"/>
                <a:ea typeface="Arial"/>
                <a:cs typeface="Arial"/>
              </a:rPr>
              <a:t>Devnet and preprod. Official CRE simulation. Trusted relayer.</a:t>
            </a:r>
          </a:p>
        </p:txBody>
      </p:sp>
    </p:spTree>
    <p:extLst>
      <p:ext uri="{BB962C8B-B14F-4D97-AF65-F5344CB8AC3E}">
        <p14:creationId xmlns:p14="http://schemas.microsoft.com/office/powerpoint/2010/main" val="1511473829"/>
      </p:ext>
    </p:extLst>
  </p:cSld>
</p:sld>
</file>

<file path=ppt/slides/slide6.xml><?xml version="1.0" encoding="utf-8"?>
<p:sld xmlns:p="http://schemas.openxmlformats.org/presentationml/2006/main">
  <p:cSld>
    <p:bg>
      <p:bgPr>
        <a:solidFill xmlns:a="http://schemas.openxmlformats.org/drawingml/2006/main">
          <a:srgbClr val="F4F6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D7D2CF6-4EB3-45F2-AE73-F31F116E7D36}"/>
              </a:ext>
            </a:extLst>
          </p:cNvPr>
          <p:cNvSpPr>
            <a:spLocks xmlns:a="http://schemas.openxmlformats.org/drawingml/2006/main" noGrp="1"/>
          </p:cNvSpPr>
          <p:nvPr/>
        </p:nvSpPr>
        <p:spPr>
          <a:xfrm xmlns:a="http://schemas.openxmlformats.org/drawingml/2006/main">
            <a:off x="609600" y="428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B2B"/>
                </a:solidFill>
                <a:latin typeface="Arial"/>
                <a:ea typeface="Arial"/>
                <a:cs typeface="Arial"/>
              </a:defRPr>
            </a:pPr>
            <a:r>
              <a:rPr sz="3450" b="1">
                <a:solidFill>
                  <a:srgbClr val="173B2B"/>
                </a:solidFill>
                <a:latin typeface="Arial"/>
                <a:ea typeface="Arial"/>
                <a:cs typeface="Arial"/>
              </a:rPr>
              <a:t>Retail delivery with inspectable payments</a:t>
            </a:r>
          </a:p>
        </p:txBody>
      </p:sp>
      <p:sp>
        <p:nvSpPr>
          <p:cNvPr id="2" name="">
            <a:extLst xmlns:a="http://schemas.openxmlformats.org/drawingml/2006/main">
              <a:ext uri="{FF2B5EF4-FFF2-40B4-BE49-F238E27FC236}">
                <a16:creationId xmlns:a16="http://schemas.microsoft.com/office/drawing/2014/main" id="{221B5B8E-366E-4ED1-B21D-D8AB4849595C}"/>
              </a:ext>
            </a:extLst>
          </p:cNvPr>
          <p:cNvSpPr>
            <a:spLocks xmlns:a="http://schemas.openxmlformats.org/drawingml/2006/main" noGrp="1"/>
          </p:cNvSpPr>
          <p:nvPr/>
        </p:nvSpPr>
        <p:spPr>
          <a:xfrm xmlns:a="http://schemas.openxmlformats.org/drawingml/2006/main">
            <a:off x="609600" y="183832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58705F"/>
                </a:solidFill>
                <a:latin typeface="Arial"/>
                <a:ea typeface="Arial"/>
                <a:cs typeface="Arial"/>
              </a:defRPr>
            </a:pPr>
            <a:r>
              <a:rPr sz="2175" b="1">
                <a:solidFill>
                  <a:srgbClr val="58705F"/>
                </a:solidFill>
                <a:latin typeface="Arial"/>
                <a:ea typeface="Arial"/>
                <a:cs typeface="Arial"/>
              </a:rPr>
              <a:t>First use case</a:t>
            </a:r>
          </a:p>
        </p:txBody>
      </p:sp>
      <p:sp>
        <p:nvSpPr>
          <p:cNvPr id="3" name="">
            <a:extLst xmlns:a="http://schemas.openxmlformats.org/drawingml/2006/main">
              <a:ext uri="{FF2B5EF4-FFF2-40B4-BE49-F238E27FC236}">
                <a16:creationId xmlns:a16="http://schemas.microsoft.com/office/drawing/2014/main" id="{E3A9587B-4CB4-4640-87DC-03D9A28E31D2}"/>
              </a:ext>
            </a:extLst>
          </p:cNvPr>
          <p:cNvSpPr>
            <a:spLocks xmlns:a="http://schemas.openxmlformats.org/drawingml/2006/main" noGrp="1"/>
          </p:cNvSpPr>
          <p:nvPr/>
        </p:nvSpPr>
        <p:spPr>
          <a:xfrm xmlns:a="http://schemas.openxmlformats.org/drawingml/2006/main">
            <a:off x="4000500" y="1714500"/>
            <a:ext cx="7524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B2B"/>
                </a:solidFill>
                <a:latin typeface="Arial"/>
                <a:ea typeface="Arial"/>
                <a:cs typeface="Arial"/>
              </a:defRPr>
            </a:pPr>
            <a:r>
              <a:rPr sz="3150" b="1">
                <a:solidFill>
                  <a:srgbClr val="173B2B"/>
                </a:solidFill>
                <a:latin typeface="Arial"/>
                <a:ea typeface="Arial"/>
                <a:cs typeface="Arial"/>
              </a:rPr>
              <a:t>Digital vouchers that shops can verify</a:t>
            </a:r>
          </a:p>
        </p:txBody>
      </p:sp>
      <p:sp>
        <p:nvSpPr>
          <p:cNvPr id="4" name="">
            <a:extLst xmlns:a="http://schemas.openxmlformats.org/drawingml/2006/main">
              <a:ext uri="{FF2B5EF4-FFF2-40B4-BE49-F238E27FC236}">
                <a16:creationId xmlns:a16="http://schemas.microsoft.com/office/drawing/2014/main" id="{0DAAA4B5-E5B6-459A-A355-0BFB4FE4466C}"/>
              </a:ext>
            </a:extLst>
          </p:cNvPr>
          <p:cNvSpPr>
            <a:spLocks xmlns:a="http://schemas.openxmlformats.org/drawingml/2006/main" noGrp="1"/>
          </p:cNvSpPr>
          <p:nvPr/>
        </p:nvSpPr>
        <p:spPr>
          <a:xfrm xmlns:a="http://schemas.openxmlformats.org/drawingml/2006/main">
            <a:off x="609600" y="358140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58705F"/>
                </a:solidFill>
                <a:latin typeface="Arial"/>
                <a:ea typeface="Arial"/>
                <a:cs typeface="Arial"/>
              </a:defRPr>
            </a:pPr>
            <a:r>
              <a:rPr sz="2100" b="1">
                <a:solidFill>
                  <a:srgbClr val="58705F"/>
                </a:solidFill>
                <a:latin typeface="Arial"/>
                <a:ea typeface="Arial"/>
                <a:cs typeface="Arial"/>
              </a:rPr>
              <a:t>Business hypothesis</a:t>
            </a:r>
          </a:p>
        </p:txBody>
      </p:sp>
      <p:sp>
        <p:nvSpPr>
          <p:cNvPr id="5" name="">
            <a:extLst xmlns:a="http://schemas.openxmlformats.org/drawingml/2006/main">
              <a:ext uri="{FF2B5EF4-FFF2-40B4-BE49-F238E27FC236}">
                <a16:creationId xmlns:a16="http://schemas.microsoft.com/office/drawing/2014/main" id="{8A468707-264A-4F37-86D7-DBFF16E57FF4}"/>
              </a:ext>
            </a:extLst>
          </p:cNvPr>
          <p:cNvSpPr>
            <a:spLocks xmlns:a="http://schemas.openxmlformats.org/drawingml/2006/main" noGrp="1"/>
          </p:cNvSpPr>
          <p:nvPr/>
        </p:nvSpPr>
        <p:spPr>
          <a:xfrm xmlns:a="http://schemas.openxmlformats.org/drawingml/2006/main">
            <a:off x="4000500" y="3562350"/>
            <a:ext cx="7524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B2B"/>
                </a:solidFill>
                <a:latin typeface="Arial"/>
                <a:ea typeface="Arial"/>
                <a:cs typeface="Arial"/>
              </a:defRPr>
            </a:pPr>
            <a:r>
              <a:rPr sz="2400" b="0">
                <a:solidFill>
                  <a:srgbClr val="173B2B"/>
                </a:solidFill>
                <a:latin typeface="Arial"/>
                <a:ea typeface="Arial"/>
                <a:cs typeface="Arial"/>
              </a:rPr>
              <a:t>A verification fee per checkout.</a:t>
            </a:r>
          </a:p>
          <a:p xmlns:a="http://schemas.openxmlformats.org/drawingml/2006/main">
            <a:pPr>
              <a:defRPr sz="2400" b="0">
                <a:solidFill>
                  <a:srgbClr val="173B2B"/>
                </a:solidFill>
                <a:latin typeface="Arial"/>
                <a:ea typeface="Arial"/>
                <a:cs typeface="Arial"/>
              </a:defRPr>
            </a:pPr>
            <a:r>
              <a:rPr sz="2400" b="0">
                <a:solidFill>
                  <a:srgbClr val="173B2B"/>
                </a:solidFill>
                <a:latin typeface="Arial"/>
                <a:ea typeface="Arial"/>
                <a:cs typeface="Arial"/>
              </a:rPr>
              <a:t>One merchant pilot before real funds.</a:t>
            </a:r>
          </a:p>
        </p:txBody>
      </p:sp>
      <p:sp>
        <p:nvSpPr>
          <p:cNvPr id="6" name="">
            <a:extLst xmlns:a="http://schemas.openxmlformats.org/drawingml/2006/main">
              <a:ext uri="{FF2B5EF4-FFF2-40B4-BE49-F238E27FC236}">
                <a16:creationId xmlns:a16="http://schemas.microsoft.com/office/drawing/2014/main" id="{2702E6B1-E4B2-4A24-8B18-90B296125C37}"/>
              </a:ext>
            </a:extLst>
          </p:cNvPr>
          <p:cNvSpPr>
            <a:spLocks xmlns:a="http://schemas.openxmlformats.org/drawingml/2006/main" noGrp="1"/>
          </p:cNvSpPr>
          <p:nvPr/>
        </p:nvSpPr>
        <p:spPr>
          <a:xfrm xmlns:a="http://schemas.openxmlformats.org/drawingml/2006/main">
            <a:off x="609600" y="54102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58705F"/>
                </a:solidFill>
                <a:latin typeface="Arial"/>
                <a:ea typeface="Arial"/>
                <a:cs typeface="Arial"/>
              </a:defRPr>
            </a:pPr>
            <a:r>
              <a:rPr sz="2175" b="1">
                <a:solidFill>
                  <a:srgbClr val="58705F"/>
                </a:solidFill>
                <a:latin typeface="Arial"/>
                <a:ea typeface="Arial"/>
                <a:cs typeface="Arial"/>
              </a:rPr>
              <a:t>Try the demo</a:t>
            </a:r>
          </a:p>
        </p:txBody>
      </p:sp>
      <p:sp>
        <p:nvSpPr>
          <p:cNvPr id="7" name="">
            <a:extLst xmlns:a="http://schemas.openxmlformats.org/drawingml/2006/main">
              <a:ext uri="{FF2B5EF4-FFF2-40B4-BE49-F238E27FC236}">
                <a16:creationId xmlns:a16="http://schemas.microsoft.com/office/drawing/2014/main" id="{50F0927E-BE35-472D-8116-4CCE4C204F1F}"/>
              </a:ext>
            </a:extLst>
          </p:cNvPr>
          <p:cNvSpPr>
            <a:spLocks xmlns:a="http://schemas.openxmlformats.org/drawingml/2006/main" noGrp="1"/>
          </p:cNvSpPr>
          <p:nvPr/>
        </p:nvSpPr>
        <p:spPr>
          <a:xfrm xmlns:a="http://schemas.openxmlformats.org/drawingml/2006/main">
            <a:off x="4000500" y="5286375"/>
            <a:ext cx="7524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B2B"/>
                </a:solidFill>
                <a:latin typeface="Arial"/>
                <a:ea typeface="Arial"/>
                <a:cs typeface="Arial"/>
              </a:defRPr>
            </a:pPr>
            <a:r>
              <a:rPr sz="3300" b="1">
                <a:solidFill>
                  <a:srgbClr val="173B2B"/>
                </a:solidFill>
                <a:latin typeface="Arial"/>
                <a:ea typeface="Arial"/>
                <a:cs typeface="Arial"/>
              </a:rPr>
              <a:t>oy-orders.vercel.app</a:t>
            </a:r>
          </a:p>
        </p:txBody>
      </p:sp>
      <p:sp>
        <p:nvSpPr>
          <p:cNvPr id="8" name="">
            <a:extLst xmlns:a="http://schemas.openxmlformats.org/drawingml/2006/main">
              <a:ext uri="{FF2B5EF4-FFF2-40B4-BE49-F238E27FC236}">
                <a16:creationId xmlns:a16="http://schemas.microsoft.com/office/drawing/2014/main" id="{C62DF6A7-3341-4EB0-B7DB-35880553B835}"/>
              </a:ext>
            </a:extLst>
          </p:cNvPr>
          <p:cNvSpPr>
            <a:spLocks xmlns:a="http://schemas.openxmlformats.org/drawingml/2006/main" noGrp="1"/>
          </p:cNvSpPr>
          <p:nvPr/>
        </p:nvSpPr>
        <p:spPr>
          <a:xfrm xmlns:a="http://schemas.openxmlformats.org/drawingml/2006/main">
            <a:off x="609600" y="62293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8705F"/>
                </a:solidFill>
                <a:latin typeface="Arial"/>
                <a:ea typeface="Arial"/>
                <a:cs typeface="Arial"/>
              </a:defRPr>
            </a:pPr>
            <a:r>
              <a:rPr sz="1650" b="0">
                <a:solidFill>
                  <a:srgbClr val="58705F"/>
                </a:solidFill>
                <a:latin typeface="Arial"/>
                <a:ea typeface="Arial"/>
                <a:cs typeface="Arial"/>
              </a:rPr>
              <a:t>Demo voucher only. Customer demand remains unvalidated.</a:t>
            </a:r>
          </a:p>
        </p:txBody>
      </p:sp>
    </p:spTree>
    <p:extLst>
      <p:ext uri="{BB962C8B-B14F-4D97-AF65-F5344CB8AC3E}">
        <p14:creationId xmlns:p14="http://schemas.microsoft.com/office/powerpoint/2010/main" val="16652430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2026-10-07T10:03:02.8460000Z</dcterms:created>
  <dcterms:modified xsi:type="dcterms:W3CDTF">2026-10-07T10:03:02.8460000Z</dcterms:modified>
</coreProperties>
</file>