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ab999469e0b54d4a" /><Relationship Type="http://schemas.openxmlformats.org/officeDocument/2006/relationships/extended-properties" Target="/docProps/app.xml" Id="Rbea2ce01d6dc4d41" /><Relationship Type="http://schemas.openxmlformats.org/officeDocument/2006/relationships/officeDocument" Target="/ppt/presentation.xml" Id="R9e7cb536688d4e3b" /></Relationships>
</file>

<file path=ppt/presentation.xml><?xml version="1.0" encoding="utf-8"?>
<p:presentation xmlns:p="http://schemas.openxmlformats.org/presentationml/2006/main">
  <p:sldMasterIdLst>
    <p:sldMasterId xmlns:r="http://schemas.openxmlformats.org/officeDocument/2006/relationships" id="2147483648" r:id="R5cb55a0e97be4b6b"/>
  </p:sldMasterIdLst>
  <p:notesMasterIdLst>
    <p:notesMasterId xmlns:r="http://schemas.openxmlformats.org/officeDocument/2006/relationships" r:id="R778885a81009417c"/>
  </p:notesMasterIdLst>
  <p:sldIdLst>
    <p:sldId xmlns:r="http://schemas.openxmlformats.org/officeDocument/2006/relationships" id="256" r:id="R07a726825ffe49b0"/>
    <p:sldId xmlns:r="http://schemas.openxmlformats.org/officeDocument/2006/relationships" id="257" r:id="R81b5adbcf6204a05"/>
    <p:sldId xmlns:r="http://schemas.openxmlformats.org/officeDocument/2006/relationships" id="258" r:id="R9aaa0bc9d7bf405c"/>
    <p:sldId xmlns:r="http://schemas.openxmlformats.org/officeDocument/2006/relationships" id="259" r:id="R13e8e70c4b274ac2"/>
    <p:sldId xmlns:r="http://schemas.openxmlformats.org/officeDocument/2006/relationships" id="260" r:id="R238ca584934846ea"/>
    <p:sldId xmlns:r="http://schemas.openxmlformats.org/officeDocument/2006/relationships" id="261" r:id="R09eee1de98ac4f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dde9f94cd54ffa" /><Relationship Type="http://schemas.openxmlformats.org/officeDocument/2006/relationships/slideMaster" Target="/ppt/slideMasters/slideMaster1.xml" Id="R5cb55a0e97be4b6b" /><Relationship Type="http://schemas.openxmlformats.org/officeDocument/2006/relationships/notesMaster" Target="/ppt/notesMasters/notesMaster1.xml" Id="R778885a81009417c" /><Relationship Type="http://schemas.openxmlformats.org/officeDocument/2006/relationships/presProps" Target="/ppt/presProps.xml" Id="R314375f1bfa94485" /><Relationship Type="http://schemas.openxmlformats.org/officeDocument/2006/relationships/tableStyles" Target="/ppt/tableStyles.xml" Id="Rd8a5aabf3f1c4973" /><Relationship Type="http://schemas.openxmlformats.org/officeDocument/2006/relationships/slide" Target="/ppt/slides/slide1.xml" Id="R07a726825ffe49b0" /><Relationship Type="http://schemas.openxmlformats.org/officeDocument/2006/relationships/slide" Target="/ppt/slides/slide2.xml" Id="R81b5adbcf6204a05" /><Relationship Type="http://schemas.openxmlformats.org/officeDocument/2006/relationships/slide" Target="/ppt/slides/slide3.xml" Id="R9aaa0bc9d7bf405c" /><Relationship Type="http://schemas.openxmlformats.org/officeDocument/2006/relationships/slide" Target="/ppt/slides/slide4.xml" Id="R13e8e70c4b274ac2" /><Relationship Type="http://schemas.openxmlformats.org/officeDocument/2006/relationships/slide" Target="/ppt/slides/slide5.xml" Id="R238ca584934846ea" /><Relationship Type="http://schemas.openxmlformats.org/officeDocument/2006/relationships/slide" Target="/ppt/slides/slide6.xml" Id="R09eee1de98ac4f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bef9402d6045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1a8585c1c64774" /><Relationship Type="http://schemas.openxmlformats.org/officeDocument/2006/relationships/notesMaster" Target="/ppt/notesMasters/notesMaster1.xml" Id="R6447200d9b364f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9b9478b434e69" /><Relationship Type="http://schemas.openxmlformats.org/officeDocument/2006/relationships/notesMaster" Target="/ppt/notesMasters/notesMaster1.xml" Id="Rb95f3c463f8e4b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55cbe19c60411d" /><Relationship Type="http://schemas.openxmlformats.org/officeDocument/2006/relationships/notesMaster" Target="/ppt/notesMasters/notesMaster1.xml" Id="R33d9117d5e8f45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97dc56ab594cea" /><Relationship Type="http://schemas.openxmlformats.org/officeDocument/2006/relationships/notesMaster" Target="/ppt/notesMasters/notesMaster1.xml" Id="R19610dda9fb3422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c12facc7a644e3" /><Relationship Type="http://schemas.openxmlformats.org/officeDocument/2006/relationships/notesMaster" Target="/ppt/notesMasters/notesMaster1.xml" Id="Re01bdc88a8764e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216339156647b8" /><Relationship Type="http://schemas.openxmlformats.org/officeDocument/2006/relationships/notesMaster" Target="/ppt/notesMasters/notesMaster1.xml" Id="Ra4b645ef54244b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Orca Labs — TOKEN2049 Origins 2026. Open with the need for bounded agent spending and independently verified results. Three actual testnet orders now settled across all four partners. The movie tours their recorded proof plus a clearly labeled local tamper replay. There is no production DON.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 hypothesis: blockchain operations teams commissioning repeatable wallet reports. No interviews, revenue or traction have been collected. An agent can pay for a service but still needs a defined budget and a verified output. Separate test-asset payments: Solana task reward and Cardano supplier spend; no bridge or exchange-rate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 the embedded 48-second edited proof tour. Authentic app screenshots show an actual settled testnet order, six NOWNodes facts and ten successful official CRE checks. Paced still holds present the local replay: one fee changes by +1, signature stays valid, integrity/provenance fail, then restore passes. No new payment occurs during this recording. The first two orders required operator recovery after parsing/upstream errors, without duplicate purchases. A separate genuine 90-second direct program expiry probe refunded 0.01 tSOL; the product UI keeps 15 minutes. Native stage playback and exact format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Integration source: docs/ARCHITECTURE.md and implemented adapters. Event track pages: https://builderbase.com/track/solana-best-use-of-solana ; https://builderbase.com/track/cardano-agentic-commerce ; https://builderbase.com/track/chainlink-best-workflow-with-cre ; https://builderbase.com/track/nownodes-multichain-infrastructure-challenge . All four integrations executed in three genuine settled testnet orders. CRE independently reads escrow and payment plus NOWNodes facts. The prototype uses a local simulation and trusted relayer, not a production DON.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36 tests pass, including compiled ELF LiteSVM, CRE fixture reads, full CLI result parsing and portable cryptographic tamper replay. Solana Devnet program deployed with exact binary read-back. Three actual Cardano preprod x402 payments, NOWNodes Solana/Cardano reports, ten accepted official CRE checks per order and actual Solana reward settlements. Separate genuine expiry refund returns 0.01 tSOL. The operator retains upgrade authority; the demo uses local CRE simulation and a trusted relayer. Source/judge access, durable hosting and stage playback remain gates. See docs/evidence/STATUS.md.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Business model hypothesis only: per-task execution/verification fee or team subscription. No paying customers or interview findings are claimed. First validation: speak to blockchain ops teams about reporting errors, budget approvals and audit needs. Actual sponsor execution and expiry refund now pass. Freeze scope and finish judging access, hosting, stage format and playback. Deadline verified in event dashboard: 7 October 2026 23:59 Singapore / 17:59 Berlin. Internal target 22:00 Singapore / 16:00 Berlin. Stage deck should contain the recorded technical demo rather than a live technical demo. https://builderbase.com/event/token2049-origins-hackathon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6e283dc677f4e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e0d211cbe04606" /><Relationship Type="http://schemas.openxmlformats.org/officeDocument/2006/relationships/slideLayout" Target="/ppt/slideLayouts/slideLayout1.xml" Id="Rf7bef71b045c47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bef71b045c47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05b28064454c86" /><Relationship Type="http://schemas.openxmlformats.org/officeDocument/2006/relationships/notesSlide" Target="/ppt/notesSlides/notesSlide1.xml" Id="Rbf2c7058479647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8321646e744101" /><Relationship Type="http://schemas.openxmlformats.org/officeDocument/2006/relationships/notesSlide" Target="/ppt/notesSlides/notesSlide2.xml" Id="R0ea459c0f526417f" /></Relationships>
</file>

<file path=ppt/slides/_rels/slide3.xml.rels><?xml version='1.0' encoding='utf-8'?>
<Relationships xmlns="http://schemas.openxmlformats.org/package/2006/relationships"><Relationship Type="http://schemas.openxmlformats.org/officeDocument/2006/relationships/slideLayout" Target="/ppt/slideLayouts/slideLayout1.xml" Id="R510d19598be44525" /><Relationship Type="http://schemas.openxmlformats.org/officeDocument/2006/relationships/image" Target="/ppt/media/image.jpeg" Id="Rd4c2ad29f08b46b4" /><Relationship Type="http://schemas.openxmlformats.org/officeDocument/2006/relationships/notesSlide" Target="/ppt/notesSlides/notesSlide3.xml" Id="Rc8b7415ffc624fe5" /><Relationship Id="rOrcaVideo" Type="http://schemas.openxmlformats.org/officeDocument/2006/relationships/video" Target="../media/orca-demo.mp4" /><Relationship Id="rOrcaMedia" Type="http://schemas.microsoft.com/office/2007/relationships/media" Target="../media/orca-demo.mp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5347129ecf4694" /><Relationship Type="http://schemas.openxmlformats.org/officeDocument/2006/relationships/notesSlide" Target="/ppt/notesSlides/notesSlide4.xml" Id="Ref4a205356d24b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e8b8ea5f0204339" /><Relationship Type="http://schemas.openxmlformats.org/officeDocument/2006/relationships/notesSlide" Target="/ppt/notesSlides/notesSlide5.xml" Id="R99946f59297243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946824e712842e1" /><Relationship Type="http://schemas.openxmlformats.org/officeDocument/2006/relationships/notesSlide" Target="/ppt/notesSlides/notesSlide6.xml" Id="R5bd76b6412ef46ea" /></Relationships>
</file>

<file path=ppt/slides/slide1.xml><?xml version="1.0" encoding="utf-8"?>
<p:sld xmlns:p="http://schemas.openxmlformats.org/presentationml/2006/main">
  <p:cSld>
    <p:bg>
      <p:bgPr>
        <a:solidFill xmlns:a="http://schemas.openxmlformats.org/drawingml/2006/main">
          <a:srgbClr val="F4F3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38F21B6-BDDA-4D8E-9937-E14E32D4D7CB}"/>
              </a:ext>
            </a:extLst>
          </p:cNvPr>
          <p:cNvSpPr>
            <a:spLocks xmlns:a="http://schemas.openxmlformats.org/drawingml/2006/main" noGrp="1"/>
          </p:cNvSpPr>
          <p:nvPr/>
        </p:nvSpPr>
        <p:spPr>
          <a:xfrm xmlns:a="http://schemas.openxmlformats.org/drawingml/2006/main">
            <a:off x="609600" y="4286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02523"/>
                </a:solidFill>
                <a:latin typeface="Arial"/>
                <a:ea typeface="Arial"/>
                <a:cs typeface="Arial"/>
              </a:defRPr>
            </a:pPr>
            <a:r>
              <a:rPr sz="3450" b="1">
                <a:solidFill>
                  <a:srgbClr val="202523"/>
                </a:solidFill>
                <a:latin typeface="Arial"/>
                <a:ea typeface="Arial"/>
                <a:cs typeface="Arial"/>
              </a:rPr>
              <a:t>Orca Orders</a:t>
            </a:r>
          </a:p>
        </p:txBody>
      </p:sp>
      <p:sp>
        <p:nvSpPr>
          <p:cNvPr id="2" name="">
            <a:extLst xmlns:a="http://schemas.openxmlformats.org/drawingml/2006/main">
              <a:ext uri="{FF2B5EF4-FFF2-40B4-BE49-F238E27FC236}">
                <a16:creationId xmlns:a16="http://schemas.microsoft.com/office/drawing/2014/main" id="{FAF04FD1-55D1-4E81-BD9F-117B7243D06D}"/>
              </a:ext>
            </a:extLst>
          </p:cNvPr>
          <p:cNvSpPr>
            <a:spLocks xmlns:a="http://schemas.openxmlformats.org/drawingml/2006/main" noGrp="1"/>
          </p:cNvSpPr>
          <p:nvPr/>
        </p:nvSpPr>
        <p:spPr>
          <a:xfrm xmlns:a="http://schemas.openxmlformats.org/drawingml/2006/main">
            <a:off x="609600" y="1905000"/>
            <a:ext cx="1057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02523"/>
                </a:solidFill>
                <a:latin typeface="Arial"/>
                <a:ea typeface="Arial"/>
                <a:cs typeface="Arial"/>
              </a:defRPr>
            </a:pPr>
            <a:r>
              <a:rPr sz="5400" b="1">
                <a:solidFill>
                  <a:srgbClr val="202523"/>
                </a:solidFill>
                <a:latin typeface="Arial"/>
                <a:ea typeface="Arial"/>
                <a:cs typeface="Arial"/>
              </a:rPr>
              <a:t>Give your agent a job.</a:t>
            </a:r>
          </a:p>
          <a:p xmlns:a="http://schemas.openxmlformats.org/drawingml/2006/main">
            <a:pPr>
              <a:defRPr sz="5400" b="1">
                <a:solidFill>
                  <a:srgbClr val="202523"/>
                </a:solidFill>
                <a:latin typeface="Arial"/>
                <a:ea typeface="Arial"/>
                <a:cs typeface="Arial"/>
              </a:defRPr>
            </a:pPr>
            <a:r>
              <a:rPr sz="5400" b="1">
                <a:solidFill>
                  <a:srgbClr val="202523"/>
                </a:solidFill>
                <a:latin typeface="Arial"/>
                <a:ea typeface="Arial"/>
                <a:cs typeface="Arial"/>
              </a:rPr>
              <a:t>Keep control of the spend.</a:t>
            </a:r>
          </a:p>
        </p:txBody>
      </p:sp>
      <p:sp>
        <p:nvSpPr>
          <p:cNvPr id="3" name="">
            <a:extLst xmlns:a="http://schemas.openxmlformats.org/drawingml/2006/main">
              <a:ext uri="{FF2B5EF4-FFF2-40B4-BE49-F238E27FC236}">
                <a16:creationId xmlns:a16="http://schemas.microsoft.com/office/drawing/2014/main" id="{BBC96288-A012-4342-9757-3CCA310720B4}"/>
              </a:ext>
            </a:extLst>
          </p:cNvPr>
          <p:cNvSpPr>
            <a:spLocks xmlns:a="http://schemas.openxmlformats.org/drawingml/2006/main" noGrp="1"/>
          </p:cNvSpPr>
          <p:nvPr/>
        </p:nvSpPr>
        <p:spPr>
          <a:xfrm xmlns:a="http://schemas.openxmlformats.org/drawingml/2006/main">
            <a:off x="609600" y="4248150"/>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626963"/>
                </a:solidFill>
                <a:latin typeface="Arial"/>
                <a:ea typeface="Arial"/>
                <a:cs typeface="Arial"/>
              </a:defRPr>
            </a:pPr>
            <a:r>
              <a:rPr sz="2550" b="0">
                <a:solidFill>
                  <a:srgbClr val="626963"/>
                </a:solidFill>
                <a:latin typeface="Arial"/>
                <a:ea typeface="Arial"/>
                <a:cs typeface="Arial"/>
              </a:rPr>
              <a:t>A bounded purchase. A signed receipt.</a:t>
            </a:r>
          </a:p>
          <a:p xmlns:a="http://schemas.openxmlformats.org/drawingml/2006/main">
            <a:pPr>
              <a:defRPr sz="2550" b="0">
                <a:solidFill>
                  <a:srgbClr val="626963"/>
                </a:solidFill>
                <a:latin typeface="Arial"/>
                <a:ea typeface="Arial"/>
                <a:cs typeface="Arial"/>
              </a:defRPr>
            </a:pPr>
            <a:r>
              <a:rPr sz="2550" b="0">
                <a:solidFill>
                  <a:srgbClr val="626963"/>
                </a:solidFill>
                <a:latin typeface="Arial"/>
                <a:ea typeface="Arial"/>
                <a:cs typeface="Arial"/>
              </a:rPr>
              <a:t>A task reward released after verification.</a:t>
            </a:r>
          </a:p>
        </p:txBody>
      </p:sp>
      <p:sp>
        <p:nvSpPr>
          <p:cNvPr id="4" name="">
            <a:extLst xmlns:a="http://schemas.openxmlformats.org/drawingml/2006/main">
              <a:ext uri="{FF2B5EF4-FFF2-40B4-BE49-F238E27FC236}">
                <a16:creationId xmlns:a16="http://schemas.microsoft.com/office/drawing/2014/main" id="{580B5300-08F4-49E9-A93A-0A10AE1ACD4A}"/>
              </a:ext>
            </a:extLst>
          </p:cNvPr>
          <p:cNvSpPr>
            <a:spLocks xmlns:a="http://schemas.openxmlformats.org/drawingml/2006/main" noGrp="1"/>
          </p:cNvSpPr>
          <p:nvPr/>
        </p:nvSpPr>
        <p:spPr>
          <a:xfrm xmlns:a="http://schemas.openxmlformats.org/drawingml/2006/main">
            <a:off x="609600" y="6057900"/>
            <a:ext cx="857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53CD5"/>
                </a:solidFill>
                <a:latin typeface="Arial"/>
                <a:ea typeface="Arial"/>
                <a:cs typeface="Arial"/>
              </a:defRPr>
            </a:pPr>
            <a:r>
              <a:rPr sz="1725" b="0">
                <a:solidFill>
                  <a:srgbClr val="253CD5"/>
                </a:solidFill>
                <a:latin typeface="Arial"/>
                <a:ea typeface="Arial"/>
                <a:cs typeface="Arial"/>
              </a:rPr>
              <a:t>Orca Labs  ·  TOKEN2049 Origins 2026</a:t>
            </a:r>
          </a:p>
        </p:txBody>
      </p:sp>
    </p:spTree>
    <p:extLst>
      <p:ext uri="{BB962C8B-B14F-4D97-AF65-F5344CB8AC3E}">
        <p14:creationId xmlns:p14="http://schemas.microsoft.com/office/powerpoint/2010/main" val="1384025080"/>
      </p:ext>
    </p:extLst>
  </p:cSld>
</p:sld>
</file>

<file path=ppt/slides/slide2.xml><?xml version="1.0" encoding="utf-8"?>
<p:sld xmlns:p="http://schemas.openxmlformats.org/presentationml/2006/main">
  <p:cSld>
    <p:bg>
      <p:bgPr>
        <a:solidFill xmlns:a="http://schemas.openxmlformats.org/drawingml/2006/main">
          <a:srgbClr val="F4F3E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4BC27E-F40F-4BD4-92CA-33C69B557165}"/>
              </a:ext>
            </a:extLst>
          </p:cNvPr>
          <p:cNvSpPr>
            <a:spLocks xmlns:a="http://schemas.openxmlformats.org/drawingml/2006/main" noGrp="1"/>
          </p:cNvSpPr>
          <p:nvPr/>
        </p:nvSpPr>
        <p:spPr>
          <a:xfrm xmlns:a="http://schemas.openxmlformats.org/drawingml/2006/main">
            <a:off x="609600" y="4286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02523"/>
                </a:solidFill>
                <a:latin typeface="Arial"/>
                <a:ea typeface="Arial"/>
                <a:cs typeface="Arial"/>
              </a:defRPr>
            </a:pPr>
            <a:r>
              <a:rPr sz="3450" b="1">
                <a:solidFill>
                  <a:srgbClr val="202523"/>
                </a:solidFill>
                <a:latin typeface="Arial"/>
                <a:ea typeface="Arial"/>
                <a:cs typeface="Arial"/>
              </a:rPr>
              <a:t>Payment is only half the task.</a:t>
            </a:r>
          </a:p>
        </p:txBody>
      </p:sp>
      <p:sp>
        <p:nvSpPr>
          <p:cNvPr id="2" name="">
            <a:extLst xmlns:a="http://schemas.openxmlformats.org/drawingml/2006/main">
              <a:ext uri="{FF2B5EF4-FFF2-40B4-BE49-F238E27FC236}">
                <a16:creationId xmlns:a16="http://schemas.microsoft.com/office/drawing/2014/main" id="{94909EB1-A88F-4C81-A2A5-413250412872}"/>
              </a:ext>
            </a:extLst>
          </p:cNvPr>
          <p:cNvSpPr>
            <a:spLocks xmlns:a="http://schemas.openxmlformats.org/drawingml/2006/main" noGrp="1"/>
          </p:cNvSpPr>
          <p:nvPr/>
        </p:nvSpPr>
        <p:spPr>
          <a:xfrm xmlns:a="http://schemas.openxmlformats.org/drawingml/2006/main">
            <a:off x="609600" y="1676400"/>
            <a:ext cx="104775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02523"/>
                </a:solidFill>
                <a:latin typeface="Arial"/>
                <a:ea typeface="Arial"/>
                <a:cs typeface="Arial"/>
              </a:defRPr>
            </a:pPr>
            <a:r>
              <a:rPr sz="3150" b="1">
                <a:solidFill>
                  <a:srgbClr val="202523"/>
                </a:solidFill>
                <a:latin typeface="Arial"/>
                <a:ea typeface="Arial"/>
                <a:cs typeface="Arial"/>
              </a:rPr>
              <a:t>An agent can buy a report.</a:t>
            </a:r>
          </a:p>
          <a:p xmlns:a="http://schemas.openxmlformats.org/drawingml/2006/main">
            <a:pPr>
              <a:defRPr sz="3150" b="1">
                <a:solidFill>
                  <a:srgbClr val="202523"/>
                </a:solidFill>
                <a:latin typeface="Arial"/>
                <a:ea typeface="Arial"/>
                <a:cs typeface="Arial"/>
              </a:defRPr>
            </a:pPr>
            <a:r>
              <a:rPr sz="3150" b="1">
                <a:solidFill>
                  <a:srgbClr val="202523"/>
                </a:solidFill>
                <a:latin typeface="Arial"/>
                <a:ea typeface="Arial"/>
                <a:cs typeface="Arial"/>
              </a:rPr>
              <a:t>Who checks the spend and the answer?</a:t>
            </a:r>
          </a:p>
        </p:txBody>
      </p:sp>
      <p:sp>
        <p:nvSpPr>
          <p:cNvPr id="3" name="">
            <a:extLst xmlns:a="http://schemas.openxmlformats.org/drawingml/2006/main">
              <a:ext uri="{FF2B5EF4-FFF2-40B4-BE49-F238E27FC236}">
                <a16:creationId xmlns:a16="http://schemas.microsoft.com/office/drawing/2014/main" id="{52E9B6A6-FBB0-4761-A971-08580C497508}"/>
              </a:ext>
            </a:extLst>
          </p:cNvPr>
          <p:cNvSpPr>
            <a:spLocks xmlns:a="http://schemas.openxmlformats.org/drawingml/2006/main" noGrp="1"/>
          </p:cNvSpPr>
          <p:nvPr/>
        </p:nvSpPr>
        <p:spPr>
          <a:xfrm xmlns:a="http://schemas.openxmlformats.org/drawingml/2006/main">
            <a:off x="609600" y="3448050"/>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D6C36F95-68DD-43A3-9B0F-79FB1EAF14A4}"/>
              </a:ext>
            </a:extLst>
          </p:cNvPr>
          <p:cNvSpPr>
            <a:spLocks xmlns:a="http://schemas.openxmlformats.org/drawingml/2006/main" noGrp="1"/>
          </p:cNvSpPr>
          <p:nvPr/>
        </p:nvSpPr>
        <p:spPr>
          <a:xfrm xmlns:a="http://schemas.openxmlformats.org/drawingml/2006/main">
            <a:off x="1571625" y="3448050"/>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02523"/>
                </a:solidFill>
                <a:latin typeface="Arial"/>
                <a:ea typeface="Arial"/>
                <a:cs typeface="Arial"/>
              </a:defRPr>
            </a:pPr>
            <a:r>
              <a:rPr sz="2175" b="1">
                <a:solidFill>
                  <a:srgbClr val="202523"/>
                </a:solidFill>
                <a:latin typeface="Arial"/>
                <a:ea typeface="Arial"/>
                <a:cs typeface="Arial"/>
              </a:rPr>
              <a:t>Bound the purchase</a:t>
            </a:r>
          </a:p>
        </p:txBody>
      </p:sp>
      <p:sp>
        <p:nvSpPr>
          <p:cNvPr id="5" name="">
            <a:extLst xmlns:a="http://schemas.openxmlformats.org/drawingml/2006/main">
              <a:ext uri="{FF2B5EF4-FFF2-40B4-BE49-F238E27FC236}">
                <a16:creationId xmlns:a16="http://schemas.microsoft.com/office/drawing/2014/main" id="{5B4F757C-9ABC-49A4-970D-CE60FBABAB69}"/>
              </a:ext>
            </a:extLst>
          </p:cNvPr>
          <p:cNvSpPr>
            <a:spLocks xmlns:a="http://schemas.openxmlformats.org/drawingml/2006/main" noGrp="1"/>
          </p:cNvSpPr>
          <p:nvPr/>
        </p:nvSpPr>
        <p:spPr>
          <a:xfrm xmlns:a="http://schemas.openxmlformats.org/drawingml/2006/main">
            <a:off x="5334000" y="3448050"/>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Reserve the supplier, price and deadline before signing.</a:t>
            </a:r>
          </a:p>
        </p:txBody>
      </p:sp>
      <p:sp>
        <p:nvSpPr>
          <p:cNvPr id="6" name="">
            <a:extLst xmlns:a="http://schemas.openxmlformats.org/drawingml/2006/main">
              <a:ext uri="{FF2B5EF4-FFF2-40B4-BE49-F238E27FC236}">
                <a16:creationId xmlns:a16="http://schemas.microsoft.com/office/drawing/2014/main" id="{36FE2B17-0BDA-49E1-8E13-1426F55B2054}"/>
              </a:ext>
            </a:extLst>
          </p:cNvPr>
          <p:cNvSpPr>
            <a:spLocks xmlns:a="http://schemas.openxmlformats.org/drawingml/2006/main" noGrp="1"/>
          </p:cNvSpPr>
          <p:nvPr/>
        </p:nvSpPr>
        <p:spPr>
          <a:xfrm xmlns:a="http://schemas.openxmlformats.org/drawingml/2006/main">
            <a:off x="609600" y="4352925"/>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39681A12-7482-4D7F-BC38-4A0A3338B6C1}"/>
              </a:ext>
            </a:extLst>
          </p:cNvPr>
          <p:cNvSpPr>
            <a:spLocks xmlns:a="http://schemas.openxmlformats.org/drawingml/2006/main" noGrp="1"/>
          </p:cNvSpPr>
          <p:nvPr/>
        </p:nvSpPr>
        <p:spPr>
          <a:xfrm xmlns:a="http://schemas.openxmlformats.org/drawingml/2006/main">
            <a:off x="1571625" y="435292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02523"/>
                </a:solidFill>
                <a:latin typeface="Arial"/>
                <a:ea typeface="Arial"/>
                <a:cs typeface="Arial"/>
              </a:defRPr>
            </a:pPr>
            <a:r>
              <a:rPr sz="2175" b="1">
                <a:solidFill>
                  <a:srgbClr val="202523"/>
                </a:solidFill>
                <a:latin typeface="Arial"/>
                <a:ea typeface="Arial"/>
                <a:cs typeface="Arial"/>
              </a:rPr>
              <a:t>Check the deliverable</a:t>
            </a:r>
          </a:p>
        </p:txBody>
      </p:sp>
      <p:sp>
        <p:nvSpPr>
          <p:cNvPr id="8" name="">
            <a:extLst xmlns:a="http://schemas.openxmlformats.org/drawingml/2006/main">
              <a:ext uri="{FF2B5EF4-FFF2-40B4-BE49-F238E27FC236}">
                <a16:creationId xmlns:a16="http://schemas.microsoft.com/office/drawing/2014/main" id="{1752FE81-5B85-4BAC-AA9E-9D37ED60943D}"/>
              </a:ext>
            </a:extLst>
          </p:cNvPr>
          <p:cNvSpPr>
            <a:spLocks xmlns:a="http://schemas.openxmlformats.org/drawingml/2006/main" noGrp="1"/>
          </p:cNvSpPr>
          <p:nvPr/>
        </p:nvSpPr>
        <p:spPr>
          <a:xfrm xmlns:a="http://schemas.openxmlformats.org/drawingml/2006/main">
            <a:off x="5334000" y="435292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Bind the receipt to the order; independently re-fetch facts.</a:t>
            </a:r>
          </a:p>
        </p:txBody>
      </p:sp>
      <p:sp>
        <p:nvSpPr>
          <p:cNvPr id="9" name="">
            <a:extLst xmlns:a="http://schemas.openxmlformats.org/drawingml/2006/main">
              <a:ext uri="{FF2B5EF4-FFF2-40B4-BE49-F238E27FC236}">
                <a16:creationId xmlns:a16="http://schemas.microsoft.com/office/drawing/2014/main" id="{3B518992-E5FC-4884-9D43-4BCDA6DB10CF}"/>
              </a:ext>
            </a:extLst>
          </p:cNvPr>
          <p:cNvSpPr>
            <a:spLocks xmlns:a="http://schemas.openxmlformats.org/drawingml/2006/main" noGrp="1"/>
          </p:cNvSpPr>
          <p:nvPr/>
        </p:nvSpPr>
        <p:spPr>
          <a:xfrm xmlns:a="http://schemas.openxmlformats.org/drawingml/2006/main">
            <a:off x="609600" y="5257800"/>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45BA04C4-3CD7-4AB5-888E-F15A59FF7C64}"/>
              </a:ext>
            </a:extLst>
          </p:cNvPr>
          <p:cNvSpPr>
            <a:spLocks xmlns:a="http://schemas.openxmlformats.org/drawingml/2006/main" noGrp="1"/>
          </p:cNvSpPr>
          <p:nvPr/>
        </p:nvSpPr>
        <p:spPr>
          <a:xfrm xmlns:a="http://schemas.openxmlformats.org/drawingml/2006/main">
            <a:off x="1571625" y="5257800"/>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02523"/>
                </a:solidFill>
                <a:latin typeface="Arial"/>
                <a:ea typeface="Arial"/>
                <a:cs typeface="Arial"/>
              </a:defRPr>
            </a:pPr>
            <a:r>
              <a:rPr sz="2175" b="1">
                <a:solidFill>
                  <a:srgbClr val="202523"/>
                </a:solidFill>
                <a:latin typeface="Arial"/>
                <a:ea typeface="Arial"/>
                <a:cs typeface="Arial"/>
              </a:rPr>
              <a:t>Protect the task reward</a:t>
            </a:r>
          </a:p>
        </p:txBody>
      </p:sp>
      <p:sp>
        <p:nvSpPr>
          <p:cNvPr id="11" name="">
            <a:extLst xmlns:a="http://schemas.openxmlformats.org/drawingml/2006/main">
              <a:ext uri="{FF2B5EF4-FFF2-40B4-BE49-F238E27FC236}">
                <a16:creationId xmlns:a16="http://schemas.microsoft.com/office/drawing/2014/main" id="{184012A2-628B-464D-9D66-67F7DC29FF83}"/>
              </a:ext>
            </a:extLst>
          </p:cNvPr>
          <p:cNvSpPr>
            <a:spLocks xmlns:a="http://schemas.openxmlformats.org/drawingml/2006/main" noGrp="1"/>
          </p:cNvSpPr>
          <p:nvPr/>
        </p:nvSpPr>
        <p:spPr>
          <a:xfrm xmlns:a="http://schemas.openxmlformats.org/drawingml/2006/main">
            <a:off x="5334000" y="5257800"/>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Reject altered reports; refund the reward after expiry.</a:t>
            </a:r>
          </a:p>
        </p:txBody>
      </p:sp>
      <p:sp>
        <p:nvSpPr>
          <p:cNvPr id="12" name="">
            <a:extLst xmlns:a="http://schemas.openxmlformats.org/drawingml/2006/main">
              <a:ext uri="{FF2B5EF4-FFF2-40B4-BE49-F238E27FC236}">
                <a16:creationId xmlns:a16="http://schemas.microsoft.com/office/drawing/2014/main" id="{24B89AD1-9B85-4B49-8EBD-D6E14815D715}"/>
              </a:ext>
            </a:extLst>
          </p:cNvPr>
          <p:cNvSpPr>
            <a:spLocks xmlns:a="http://schemas.openxmlformats.org/drawingml/2006/main" noGrp="1"/>
          </p:cNvSpPr>
          <p:nvPr/>
        </p:nvSpPr>
        <p:spPr>
          <a:xfrm xmlns:a="http://schemas.openxmlformats.org/drawingml/2006/main">
            <a:off x="609600" y="622935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26963"/>
                </a:solidFill>
                <a:latin typeface="Arial"/>
                <a:ea typeface="Arial"/>
                <a:cs typeface="Arial"/>
              </a:defRPr>
            </a:pPr>
            <a:r>
              <a:rPr sz="1650" b="0">
                <a:solidFill>
                  <a:srgbClr val="626963"/>
                </a:solidFill>
                <a:latin typeface="Arial"/>
                <a:ea typeface="Arial"/>
                <a:cs typeface="Arial"/>
              </a:rPr>
              <a:t>First use case: paid Solana + Cardano wallet transaction reports.</a:t>
            </a:r>
          </a:p>
        </p:txBody>
      </p:sp>
    </p:spTree>
    <p:extLst>
      <p:ext uri="{BB962C8B-B14F-4D97-AF65-F5344CB8AC3E}">
        <p14:creationId xmlns:p14="http://schemas.microsoft.com/office/powerpoint/2010/main" val="1004145174"/>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4F3ED"/>
        </a:solidFill>
      </p:bgPr>
    </p:bg>
    <p:spTree>
      <p:nvGrpSpPr>
        <p:cNvPr id="1" name=""/>
        <p:cNvGrpSpPr/>
        <p:nvPr/>
      </p:nvGrpSpPr>
      <p:grpSpPr>
        <a:xfrm/>
      </p:grpSpPr>
      <p:sp>
        <p:nvSpPr>
          <p:cNvPr id="7" name="">
            <a:extLst>
              <a:ext uri="{FF2B5EF4-FFF2-40B4-BE49-F238E27FC236}">
                <ns2:creationId id="{8B297D4E-6909-4AED-B99D-FA8C75C9DE5F}"/>
              </a:ext>
            </a:extLst>
          </p:cNvPr>
          <p:cNvSpPr>
            <a:spLocks noGrp="1"/>
          </p:cNvSpPr>
          <p:nvPr/>
        </p:nvSpPr>
        <p:spPr>
          <a:xfrm>
            <a:off x="609600" y="428625"/>
            <a:ext cx="10972800" cy="1000125"/>
          </a:xfrm>
          <a:prstGeom prst="rect">
            <a:avLst/>
          </a:prstGeom>
          <a:noFill/>
          <a:ln w="0">
            <a:noFill/>
          </a:ln>
        </p:spPr>
        <p:txBody>
          <a:bodyPr>
            <a:noAutofit/>
          </a:bodyPr>
          <a:lstStyle/>
          <a:p>
            <a:pPr>
              <a:defRPr sz="3450" b="1">
                <a:solidFill>
                  <a:srgbClr val="202523"/>
                </a:solidFill>
                <a:latin typeface="Arial"/>
                <a:ea typeface="Arial"/>
                <a:cs typeface="Arial"/>
              </a:defRPr>
            </a:pPr>
            <a:r>
              <a:rPr sz="3450" b="1">
                <a:solidFill>
                  <a:srgbClr val="202523"/>
                </a:solidFill>
                <a:latin typeface="Arial"/>
                <a:ea typeface="Arial"/>
                <a:cs typeface="Arial"/>
              </a:rPr>
              <a:t>The working prototype</a:t>
            </a:r>
          </a:p>
        </p:txBody>
      </p:sp>
      <p:sp>
        <p:nvSpPr>
          <p:cNvPr id="2" name="">
            <a:extLst>
              <a:ext uri="{FF2B5EF4-FFF2-40B4-BE49-F238E27FC236}">
                <ns2:creationId id="{3CB9A78E-CC47-4E94-9C0A-A16673AC69F5}"/>
              </a:ext>
            </a:extLst>
          </p:cNvPr>
          <p:cNvSpPr>
            <a:spLocks noGrp="1"/>
          </p:cNvSpPr>
          <p:nvPr/>
        </p:nvSpPr>
        <p:spPr>
          <a:xfrm>
            <a:off x="609600" y="1333500"/>
            <a:ext cx="10572750" cy="381000"/>
          </a:xfrm>
          <a:prstGeom prst="rect">
            <a:avLst/>
          </a:prstGeom>
          <a:noFill/>
          <a:ln w="0">
            <a:noFill/>
          </a:ln>
        </p:spPr>
        <p:txBody>
          <a:bodyPr>
            <a:noAutofit/>
          </a:bodyPr>
          <a:lstStyle/>
          <a:p>
            <a:pPr>
              <a:defRPr sz="1800" b="0">
                <a:solidFill>
                  <a:srgbClr val="253CD5"/>
                </a:solidFill>
                <a:latin typeface="Arial"/>
                <a:ea typeface="Arial"/>
                <a:cs typeface="Arial"/>
              </a:defRPr>
            </a:pPr>
            <a:r>
              <a:rPr sz="1800" b="0">
                <a:solidFill>
                  <a:srgbClr val="253CD5"/>
                </a:solidFill>
                <a:latin typeface="Arial"/>
                <a:ea typeface="Arial"/>
                <a:cs typeface="Arial"/>
              </a:rPr>
              <a:t>Actual testnet proof · local tamper replay</a:t>
            </a:r>
          </a:p>
        </p:txBody>
      </p:sp>
      <p:pic>
        <p:nvPicPr>
          <p:cNvPr id="9" name="Orca Orders testnet proof tour">
            <a:hlinkClick action="ppaction://media"/>
          </p:cNvPr>
          <p:cNvPicPr>
            <a:picLocks noChangeAspect="1"/>
          </p:cNvPicPr>
          <p:nvPr>
            <a:videoFile r:link="rOrcaVideo"/>
            <p:extLst>
              <p:ext uri="{DAA4B4D4-6D71-4841-9C94-3DE7FCFB9230}">
                <p14:media r:embed="rOrcaMedia"/>
              </p:ext>
            </p:extLst>
          </p:nvPr>
        </p:nvPicPr>
        <p:blipFill>
          <a:blip r:embed="Rd4c2ad29f08b46b4"/>
          <a:stretch/>
        </p:blipFill>
        <p:spPr>
          <a:xfrm>
            <a:off x="1622425" y="1924050"/>
            <a:ext cx="6070600" cy="4552950"/>
          </a:xfrm>
          <a:prstGeom prst="rect">
            <a:avLst/>
          </a:prstGeom>
        </p:spPr>
      </p:pic>
      <p:sp>
        <p:nvSpPr>
          <p:cNvPr id="4" name="">
            <a:extLst>
              <a:ext uri="{FF2B5EF4-FFF2-40B4-BE49-F238E27FC236}">
                <ns2:creationId id="{D7D6B862-757A-4446-AD05-438E6BC9EA2D}"/>
              </a:ext>
            </a:extLst>
          </p:cNvPr>
          <p:cNvSpPr>
            <a:spLocks noGrp="1"/>
          </p:cNvSpPr>
          <p:nvPr/>
        </p:nvSpPr>
        <p:spPr>
          <a:xfrm>
            <a:off x="9048750" y="2047875"/>
            <a:ext cx="2571750" cy="1000125"/>
          </a:xfrm>
          <a:prstGeom prst="rect">
            <a:avLst/>
          </a:prstGeom>
          <a:noFill/>
          <a:ln w="0">
            <a:noFill/>
          </a:ln>
        </p:spPr>
        <p:txBody>
          <a:bodyPr>
            <a:noAutofit/>
          </a:bodyPr>
          <a:lstStyle/>
          <a:p>
            <a:pPr>
              <a:defRPr sz="2100" b="1">
                <a:solidFill>
                  <a:srgbClr val="202523"/>
                </a:solidFill>
                <a:latin typeface="Arial"/>
                <a:ea typeface="Arial"/>
                <a:cs typeface="Arial"/>
              </a:defRPr>
            </a:pPr>
            <a:r>
              <a:rPr sz="2100" b="1">
                <a:solidFill>
                  <a:srgbClr val="202523"/>
                </a:solidFill>
                <a:latin typeface="Arial"/>
                <a:ea typeface="Arial"/>
                <a:cs typeface="Arial"/>
              </a:rPr>
              <a:t>Real proof</a:t>
            </a:r>
          </a:p>
          <a:p>
            <a:pPr>
              <a:defRPr sz="2100" b="1">
                <a:solidFill>
                  <a:srgbClr val="202523"/>
                </a:solidFill>
                <a:latin typeface="Arial"/>
                <a:ea typeface="Arial"/>
                <a:cs typeface="Arial"/>
              </a:defRPr>
            </a:pPr>
            <a:r>
              <a:rPr sz="2100" b="1">
                <a:solidFill>
                  <a:srgbClr val="202523"/>
                </a:solidFill>
                <a:latin typeface="Arial"/>
                <a:ea typeface="Arial"/>
                <a:cs typeface="Arial"/>
              </a:rPr>
              <a:t>Three paid orders settled.</a:t>
            </a:r>
          </a:p>
        </p:txBody>
      </p:sp>
      <p:sp>
        <p:nvSpPr>
          <p:cNvPr id="5" name="">
            <a:extLst>
              <a:ext uri="{FF2B5EF4-FFF2-40B4-BE49-F238E27FC236}">
                <ns2:creationId id="{5ADFDBD1-249D-48E6-A3B4-D6C76971668B}"/>
              </a:ext>
            </a:extLst>
          </p:cNvPr>
          <p:cNvSpPr>
            <a:spLocks noGrp="1"/>
          </p:cNvSpPr>
          <p:nvPr/>
        </p:nvSpPr>
        <p:spPr>
          <a:xfrm>
            <a:off x="9048750" y="3524250"/>
            <a:ext cx="2571750" cy="1095375"/>
          </a:xfrm>
          <a:prstGeom prst="rect">
            <a:avLst/>
          </a:prstGeom>
          <a:noFill/>
          <a:ln w="0">
            <a:noFill/>
          </a:ln>
        </p:spPr>
        <p:txBody>
          <a:bodyPr>
            <a:noAutofit/>
          </a:bodyPr>
          <a:lstStyle/>
          <a:p>
            <a:pPr>
              <a:defRPr sz="2100" b="1">
                <a:solidFill>
                  <a:srgbClr val="202523"/>
                </a:solidFill>
                <a:latin typeface="Arial"/>
                <a:ea typeface="Arial"/>
                <a:cs typeface="Arial"/>
              </a:defRPr>
            </a:pPr>
            <a:r>
              <a:rPr sz="2100" b="1">
                <a:solidFill>
                  <a:srgbClr val="202523"/>
                </a:solidFill>
                <a:latin typeface="Arial"/>
                <a:ea typeface="Arial"/>
                <a:cs typeface="Arial"/>
              </a:rPr>
              <a:t>One fee +1</a:t>
            </a:r>
          </a:p>
          <a:p>
            <a:pPr>
              <a:defRPr sz="2100" b="1">
                <a:solidFill>
                  <a:srgbClr val="202523"/>
                </a:solidFill>
                <a:latin typeface="Arial"/>
                <a:ea typeface="Arial"/>
                <a:cs typeface="Arial"/>
              </a:defRPr>
            </a:pPr>
            <a:r>
              <a:rPr sz="2100" b="1">
                <a:solidFill>
                  <a:srgbClr val="202523"/>
                </a:solidFill>
                <a:latin typeface="Arial"/>
                <a:ea typeface="Arial"/>
                <a:cs typeface="Arial"/>
              </a:rPr>
              <a:t>Valid signature; rejected facts.</a:t>
            </a:r>
          </a:p>
        </p:txBody>
      </p:sp>
      <p:sp>
        <p:nvSpPr>
          <p:cNvPr id="6" name="">
            <a:extLst>
              <a:ext uri="{FF2B5EF4-FFF2-40B4-BE49-F238E27FC236}">
                <ns2:creationId id="{8F40ABB0-E243-4328-A4B3-3753FE7B4669}"/>
              </a:ext>
            </a:extLst>
          </p:cNvPr>
          <p:cNvSpPr>
            <a:spLocks noGrp="1"/>
          </p:cNvSpPr>
          <p:nvPr/>
        </p:nvSpPr>
        <p:spPr>
          <a:xfrm>
            <a:off x="9048750" y="5105400"/>
            <a:ext cx="2571750" cy="1047750"/>
          </a:xfrm>
          <a:prstGeom prst="rect">
            <a:avLst/>
          </a:prstGeom>
          <a:noFill/>
          <a:ln w="0">
            <a:noFill/>
          </a:ln>
        </p:spPr>
        <p:txBody>
          <a:bodyPr>
            <a:noAutofit/>
          </a:bodyPr>
          <a:lstStyle/>
          <a:p>
            <a:pPr>
              <a:defRPr sz="2100" b="1">
                <a:solidFill>
                  <a:srgbClr val="202523"/>
                </a:solidFill>
                <a:latin typeface="Arial"/>
                <a:ea typeface="Arial"/>
                <a:cs typeface="Arial"/>
              </a:defRPr>
            </a:pPr>
            <a:r>
              <a:rPr sz="2100" b="1">
                <a:solidFill>
                  <a:srgbClr val="202523"/>
                </a:solidFill>
                <a:latin typeface="Arial"/>
                <a:ea typeface="Arial"/>
                <a:cs typeface="Arial"/>
              </a:rPr>
              <a:t>Restore</a:t>
            </a:r>
          </a:p>
          <a:p>
            <a:pPr>
              <a:defRPr sz="2100" b="1">
                <a:solidFill>
                  <a:srgbClr val="202523"/>
                </a:solidFill>
                <a:latin typeface="Arial"/>
                <a:ea typeface="Arial"/>
                <a:cs typeface="Arial"/>
              </a:defRPr>
            </a:pPr>
            <a:r>
              <a:rPr sz="2100" b="1">
                <a:solidFill>
                  <a:srgbClr val="202523"/>
                </a:solidFill>
                <a:latin typeface="Arial"/>
                <a:ea typeface="Arial"/>
                <a:cs typeface="Arial"/>
              </a:rPr>
              <a:t>Saved proof passes again.</a:t>
            </a:r>
          </a:p>
        </p:txBody>
      </p:sp>
    </p:spTree>
    <p:extLst>
      <p:ext uri="{BB962C8B-B14F-4D97-AF65-F5344CB8AC3E}">
        <p14:creationId val="145090753"/>
      </p:ext>
    </p:extLst>
  </p:cSld>
  <p:timing>
    <p:tnLst>
      <p:par>
        <p:cTn id="1" dur="indefinite" restart="never" nodeType="tmRoot">
          <p:childTnLst>
            <p:video fullScrn="1">
              <p:cMediaNode vol="80000">
                <p:cTn id="2" fill="hold" display="0">
                  <p:stCondLst>
                    <p:cond delay="0"/>
                  </p:stCondLst>
                </p:cTn>
                <p:tgtEl>
                  <p:spTgt spid="9"/>
                </p:tgtEl>
              </p:cMediaNode>
            </p:video>
          </p:childTnLst>
        </p:cTn>
      </p:par>
    </p:tnLst>
  </p:timing>
</p:sld>
</file>

<file path=ppt/slides/slide4.xml><?xml version="1.0" encoding="utf-8"?>
<p:sld xmlns:p="http://schemas.openxmlformats.org/presentationml/2006/main">
  <p:cSld>
    <p:bg>
      <p:bgPr>
        <a:solidFill xmlns:a="http://schemas.openxmlformats.org/drawingml/2006/main">
          <a:srgbClr val="F4F3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7BD18DD-FC0D-479D-8D4A-4014C02A0D76}"/>
              </a:ext>
            </a:extLst>
          </p:cNvPr>
          <p:cNvSpPr>
            <a:spLocks xmlns:a="http://schemas.openxmlformats.org/drawingml/2006/main" noGrp="1"/>
          </p:cNvSpPr>
          <p:nvPr/>
        </p:nvSpPr>
        <p:spPr>
          <a:xfrm xmlns:a="http://schemas.openxmlformats.org/drawingml/2006/main">
            <a:off x="609600" y="4286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02523"/>
                </a:solidFill>
                <a:latin typeface="Arial"/>
                <a:ea typeface="Arial"/>
                <a:cs typeface="Arial"/>
              </a:defRPr>
            </a:pPr>
            <a:r>
              <a:rPr sz="3450" b="1">
                <a:solidFill>
                  <a:srgbClr val="202523"/>
                </a:solidFill>
                <a:latin typeface="Arial"/>
                <a:ea typeface="Arial"/>
                <a:cs typeface="Arial"/>
              </a:rPr>
              <a:t>Four sponsors. One necessary flow.</a:t>
            </a:r>
          </a:p>
        </p:txBody>
      </p:sp>
      <p:sp>
        <p:nvSpPr>
          <p:cNvPr id="2" name="">
            <a:extLst xmlns:a="http://schemas.openxmlformats.org/drawingml/2006/main">
              <a:ext uri="{FF2B5EF4-FFF2-40B4-BE49-F238E27FC236}">
                <a16:creationId xmlns:a16="http://schemas.microsoft.com/office/drawing/2014/main" id="{5EC0FDEE-0B65-43EF-93BE-51864CAA7A91}"/>
              </a:ext>
            </a:extLst>
          </p:cNvPr>
          <p:cNvSpPr>
            <a:spLocks xmlns:a="http://schemas.openxmlformats.org/drawingml/2006/main" noGrp="1"/>
          </p:cNvSpPr>
          <p:nvPr/>
        </p:nvSpPr>
        <p:spPr>
          <a:xfrm xmlns:a="http://schemas.openxmlformats.org/drawingml/2006/main">
            <a:off x="609600" y="18669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Solana</a:t>
            </a:r>
          </a:p>
        </p:txBody>
      </p:sp>
      <p:sp>
        <p:nvSpPr>
          <p:cNvPr id="3" name="">
            <a:extLst xmlns:a="http://schemas.openxmlformats.org/drawingml/2006/main">
              <a:ext uri="{FF2B5EF4-FFF2-40B4-BE49-F238E27FC236}">
                <a16:creationId xmlns:a16="http://schemas.microsoft.com/office/drawing/2014/main" id="{C36D3C22-2C78-4572-AA62-AFC97609A736}"/>
              </a:ext>
            </a:extLst>
          </p:cNvPr>
          <p:cNvSpPr>
            <a:spLocks xmlns:a="http://schemas.openxmlformats.org/drawingml/2006/main" noGrp="1"/>
          </p:cNvSpPr>
          <p:nvPr/>
        </p:nvSpPr>
        <p:spPr>
          <a:xfrm xmlns:a="http://schemas.openxmlformats.org/drawingml/2006/main">
            <a:off x="3848100" y="1866900"/>
            <a:ext cx="771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02523"/>
                </a:solidFill>
                <a:latin typeface="Arial"/>
                <a:ea typeface="Arial"/>
                <a:cs typeface="Arial"/>
              </a:defRPr>
            </a:pPr>
            <a:r>
              <a:rPr sz="2175" b="0">
                <a:solidFill>
                  <a:srgbClr val="202523"/>
                </a:solidFill>
                <a:latin typeface="Arial"/>
                <a:ea typeface="Arial"/>
                <a:cs typeface="Arial"/>
              </a:rPr>
              <a:t>Task escrow, quote reservation, settlement and expiry refund.</a:t>
            </a:r>
          </a:p>
        </p:txBody>
      </p:sp>
      <p:sp>
        <p:nvSpPr>
          <p:cNvPr id="4" name="">
            <a:extLst xmlns:a="http://schemas.openxmlformats.org/drawingml/2006/main">
              <a:ext uri="{FF2B5EF4-FFF2-40B4-BE49-F238E27FC236}">
                <a16:creationId xmlns:a16="http://schemas.microsoft.com/office/drawing/2014/main" id="{05DA7DBC-CBCB-4B1A-B968-11E5163EB15F}"/>
              </a:ext>
            </a:extLst>
          </p:cNvPr>
          <p:cNvSpPr>
            <a:spLocks xmlns:a="http://schemas.openxmlformats.org/drawingml/2006/main" noGrp="1"/>
          </p:cNvSpPr>
          <p:nvPr/>
        </p:nvSpPr>
        <p:spPr>
          <a:xfrm xmlns:a="http://schemas.openxmlformats.org/drawingml/2006/main">
            <a:off x="609600" y="27813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Cardano</a:t>
            </a:r>
          </a:p>
        </p:txBody>
      </p:sp>
      <p:sp>
        <p:nvSpPr>
          <p:cNvPr id="5" name="">
            <a:extLst xmlns:a="http://schemas.openxmlformats.org/drawingml/2006/main">
              <a:ext uri="{FF2B5EF4-FFF2-40B4-BE49-F238E27FC236}">
                <a16:creationId xmlns:a16="http://schemas.microsoft.com/office/drawing/2014/main" id="{D0741ACE-2022-4792-92FF-6E0BB736601A}"/>
              </a:ext>
            </a:extLst>
          </p:cNvPr>
          <p:cNvSpPr>
            <a:spLocks xmlns:a="http://schemas.openxmlformats.org/drawingml/2006/main" noGrp="1"/>
          </p:cNvSpPr>
          <p:nvPr/>
        </p:nvSpPr>
        <p:spPr>
          <a:xfrm xmlns:a="http://schemas.openxmlformats.org/drawingml/2006/main">
            <a:off x="3848100" y="2781300"/>
            <a:ext cx="771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02523"/>
                </a:solidFill>
                <a:latin typeface="Arial"/>
                <a:ea typeface="Arial"/>
                <a:cs typeface="Arial"/>
              </a:defRPr>
            </a:pPr>
            <a:r>
              <a:rPr sz="2175" b="0">
                <a:solidFill>
                  <a:srgbClr val="202523"/>
                </a:solidFill>
                <a:latin typeface="Arial"/>
                <a:ea typeface="Arial"/>
                <a:cs typeface="Arial"/>
              </a:rPr>
              <a:t>The agent buys the reporting resource through x402.</a:t>
            </a:r>
          </a:p>
        </p:txBody>
      </p:sp>
      <p:sp>
        <p:nvSpPr>
          <p:cNvPr id="6" name="">
            <a:extLst xmlns:a="http://schemas.openxmlformats.org/drawingml/2006/main">
              <a:ext uri="{FF2B5EF4-FFF2-40B4-BE49-F238E27FC236}">
                <a16:creationId xmlns:a16="http://schemas.microsoft.com/office/drawing/2014/main" id="{20FB524A-C071-4E06-9087-BF771F344CEF}"/>
              </a:ext>
            </a:extLst>
          </p:cNvPr>
          <p:cNvSpPr>
            <a:spLocks xmlns:a="http://schemas.openxmlformats.org/drawingml/2006/main" noGrp="1"/>
          </p:cNvSpPr>
          <p:nvPr/>
        </p:nvSpPr>
        <p:spPr>
          <a:xfrm xmlns:a="http://schemas.openxmlformats.org/drawingml/2006/main">
            <a:off x="609600" y="36957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NOWNodes</a:t>
            </a:r>
          </a:p>
        </p:txBody>
      </p:sp>
      <p:sp>
        <p:nvSpPr>
          <p:cNvPr id="7" name="">
            <a:extLst xmlns:a="http://schemas.openxmlformats.org/drawingml/2006/main">
              <a:ext uri="{FF2B5EF4-FFF2-40B4-BE49-F238E27FC236}">
                <a16:creationId xmlns:a16="http://schemas.microsoft.com/office/drawing/2014/main" id="{A392DCFE-F040-4E47-9E37-E0CFE4CFECC2}"/>
              </a:ext>
            </a:extLst>
          </p:cNvPr>
          <p:cNvSpPr>
            <a:spLocks xmlns:a="http://schemas.openxmlformats.org/drawingml/2006/main" noGrp="1"/>
          </p:cNvSpPr>
          <p:nvPr/>
        </p:nvSpPr>
        <p:spPr>
          <a:xfrm xmlns:a="http://schemas.openxmlformats.org/drawingml/2006/main">
            <a:off x="3848100" y="3695700"/>
            <a:ext cx="771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02523"/>
                </a:solidFill>
                <a:latin typeface="Arial"/>
                <a:ea typeface="Arial"/>
                <a:cs typeface="Arial"/>
              </a:defRPr>
            </a:pPr>
            <a:r>
              <a:rPr sz="2175" b="0">
                <a:solidFill>
                  <a:srgbClr val="202523"/>
                </a:solidFill>
                <a:latin typeface="Arial"/>
                <a:ea typeface="Arial"/>
                <a:cs typeface="Arial"/>
              </a:rPr>
              <a:t>Confirmed Solana and Cardano mainnet facts.</a:t>
            </a:r>
          </a:p>
        </p:txBody>
      </p:sp>
      <p:sp>
        <p:nvSpPr>
          <p:cNvPr id="8" name="">
            <a:extLst xmlns:a="http://schemas.openxmlformats.org/drawingml/2006/main">
              <a:ext uri="{FF2B5EF4-FFF2-40B4-BE49-F238E27FC236}">
                <a16:creationId xmlns:a16="http://schemas.microsoft.com/office/drawing/2014/main" id="{C79C7F97-FBD6-4D05-A6E8-9CD8B6D6F909}"/>
              </a:ext>
            </a:extLst>
          </p:cNvPr>
          <p:cNvSpPr>
            <a:spLocks xmlns:a="http://schemas.openxmlformats.org/drawingml/2006/main" noGrp="1"/>
          </p:cNvSpPr>
          <p:nvPr/>
        </p:nvSpPr>
        <p:spPr>
          <a:xfrm xmlns:a="http://schemas.openxmlformats.org/drawingml/2006/main">
            <a:off x="609600" y="46101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53CD5"/>
                </a:solidFill>
                <a:latin typeface="Arial"/>
                <a:ea typeface="Arial"/>
                <a:cs typeface="Arial"/>
              </a:defRPr>
            </a:pPr>
            <a:r>
              <a:rPr sz="2550" b="1">
                <a:solidFill>
                  <a:srgbClr val="253CD5"/>
                </a:solidFill>
                <a:latin typeface="Arial"/>
                <a:ea typeface="Arial"/>
                <a:cs typeface="Arial"/>
              </a:rPr>
              <a:t>Chainlink CRE</a:t>
            </a:r>
          </a:p>
        </p:txBody>
      </p:sp>
      <p:sp>
        <p:nvSpPr>
          <p:cNvPr id="9" name="">
            <a:extLst xmlns:a="http://schemas.openxmlformats.org/drawingml/2006/main">
              <a:ext uri="{FF2B5EF4-FFF2-40B4-BE49-F238E27FC236}">
                <a16:creationId xmlns:a16="http://schemas.microsoft.com/office/drawing/2014/main" id="{BB78C6D1-C2C4-40E7-A9F4-6726E6388EEF}"/>
              </a:ext>
            </a:extLst>
          </p:cNvPr>
          <p:cNvSpPr>
            <a:spLocks xmlns:a="http://schemas.openxmlformats.org/drawingml/2006/main" noGrp="1"/>
          </p:cNvSpPr>
          <p:nvPr/>
        </p:nvSpPr>
        <p:spPr>
          <a:xfrm xmlns:a="http://schemas.openxmlformats.org/drawingml/2006/main">
            <a:off x="3848100" y="4610100"/>
            <a:ext cx="771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02523"/>
                </a:solidFill>
                <a:latin typeface="Arial"/>
                <a:ea typeface="Arial"/>
                <a:cs typeface="Arial"/>
              </a:defRPr>
            </a:pPr>
            <a:r>
              <a:rPr sz="2175" b="0">
                <a:solidFill>
                  <a:srgbClr val="202523"/>
                </a:solidFill>
                <a:latin typeface="Arial"/>
                <a:ea typeface="Arial"/>
                <a:cs typeface="Arial"/>
              </a:rPr>
              <a:t>Independent escrow, payment, signature and fact checks.</a:t>
            </a:r>
          </a:p>
        </p:txBody>
      </p:sp>
      <p:sp>
        <p:nvSpPr>
          <p:cNvPr id="10" name="">
            <a:extLst xmlns:a="http://schemas.openxmlformats.org/drawingml/2006/main">
              <a:ext uri="{FF2B5EF4-FFF2-40B4-BE49-F238E27FC236}">
                <a16:creationId xmlns:a16="http://schemas.microsoft.com/office/drawing/2014/main" id="{3AD1DF9C-FE41-40CA-895D-CB8DB5385AC4}"/>
              </a:ext>
            </a:extLst>
          </p:cNvPr>
          <p:cNvSpPr>
            <a:spLocks xmlns:a="http://schemas.openxmlformats.org/drawingml/2006/main" noGrp="1"/>
          </p:cNvSpPr>
          <p:nvPr/>
        </p:nvSpPr>
        <p:spPr>
          <a:xfrm xmlns:a="http://schemas.openxmlformats.org/drawingml/2006/main">
            <a:off x="609600" y="57340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26963"/>
                </a:solidFill>
                <a:latin typeface="Arial"/>
                <a:ea typeface="Arial"/>
                <a:cs typeface="Arial"/>
              </a:defRPr>
            </a:pPr>
            <a:r>
              <a:rPr sz="1875" b="0">
                <a:solidFill>
                  <a:srgbClr val="626963"/>
                </a:solidFill>
                <a:latin typeface="Arial"/>
                <a:ea typeface="Arial"/>
                <a:cs typeface="Arial"/>
              </a:rPr>
              <a:t>Solana Devnet + Cardano preprod · separate test-asset payments</a:t>
            </a:r>
          </a:p>
        </p:txBody>
      </p:sp>
      <p:sp>
        <p:nvSpPr>
          <p:cNvPr id="11" name="">
            <a:extLst xmlns:a="http://schemas.openxmlformats.org/drawingml/2006/main">
              <a:ext uri="{FF2B5EF4-FFF2-40B4-BE49-F238E27FC236}">
                <a16:creationId xmlns:a16="http://schemas.microsoft.com/office/drawing/2014/main" id="{E34A80B2-E503-4408-88B3-B93B6CAD7AB7}"/>
              </a:ext>
            </a:extLst>
          </p:cNvPr>
          <p:cNvSpPr>
            <a:spLocks xmlns:a="http://schemas.openxmlformats.org/drawingml/2006/main" noGrp="1"/>
          </p:cNvSpPr>
          <p:nvPr/>
        </p:nvSpPr>
        <p:spPr>
          <a:xfrm xmlns:a="http://schemas.openxmlformats.org/drawingml/2006/main">
            <a:off x="609600" y="61341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26963"/>
                </a:solidFill>
                <a:latin typeface="Arial"/>
                <a:ea typeface="Arial"/>
                <a:cs typeface="Arial"/>
              </a:defRPr>
            </a:pPr>
            <a:r>
              <a:rPr sz="1875" b="0">
                <a:solidFill>
                  <a:srgbClr val="626963"/>
                </a:solidFill>
                <a:latin typeface="Arial"/>
                <a:ea typeface="Arial"/>
                <a:cs typeface="Arial"/>
              </a:rPr>
              <a:t>CRE local simulation + trusted relayer; no DON deployment claimed.</a:t>
            </a:r>
          </a:p>
        </p:txBody>
      </p:sp>
    </p:spTree>
    <p:extLst>
      <p:ext uri="{BB962C8B-B14F-4D97-AF65-F5344CB8AC3E}">
        <p14:creationId xmlns:p14="http://schemas.microsoft.com/office/powerpoint/2010/main" val="751354175"/>
      </p:ext>
    </p:extLst>
  </p:cSld>
</p:sld>
</file>

<file path=ppt/slides/slide5.xml><?xml version="1.0" encoding="utf-8"?>
<p:sld xmlns:p="http://schemas.openxmlformats.org/presentationml/2006/main">
  <p:cSld>
    <p:bg>
      <p:bgPr>
        <a:solidFill xmlns:a="http://schemas.openxmlformats.org/drawingml/2006/main">
          <a:srgbClr val="F4F3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B2DB604-05B2-458B-88F5-20FCCCD4B0FF}"/>
              </a:ext>
            </a:extLst>
          </p:cNvPr>
          <p:cNvSpPr>
            <a:spLocks xmlns:a="http://schemas.openxmlformats.org/drawingml/2006/main" noGrp="1"/>
          </p:cNvSpPr>
          <p:nvPr/>
        </p:nvSpPr>
        <p:spPr>
          <a:xfrm xmlns:a="http://schemas.openxmlformats.org/drawingml/2006/main">
            <a:off x="609600" y="4286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02523"/>
                </a:solidFill>
                <a:latin typeface="Arial"/>
                <a:ea typeface="Arial"/>
                <a:cs typeface="Arial"/>
              </a:defRPr>
            </a:pPr>
            <a:r>
              <a:rPr sz="3450" b="1">
                <a:solidFill>
                  <a:srgbClr val="202523"/>
                </a:solidFill>
                <a:latin typeface="Arial"/>
                <a:ea typeface="Arial"/>
                <a:cs typeface="Arial"/>
              </a:rPr>
              <a:t>Three paid orders. Four proven integrations.</a:t>
            </a:r>
          </a:p>
        </p:txBody>
      </p:sp>
      <p:sp>
        <p:nvSpPr>
          <p:cNvPr id="2" name="">
            <a:extLst xmlns:a="http://schemas.openxmlformats.org/drawingml/2006/main">
              <a:ext uri="{FF2B5EF4-FFF2-40B4-BE49-F238E27FC236}">
                <a16:creationId xmlns:a16="http://schemas.microsoft.com/office/drawing/2014/main" id="{939E0315-92B7-4B22-9D4C-7D25EE61126F}"/>
              </a:ext>
            </a:extLst>
          </p:cNvPr>
          <p:cNvSpPr>
            <a:spLocks xmlns:a="http://schemas.openxmlformats.org/drawingml/2006/main" noGrp="1"/>
          </p:cNvSpPr>
          <p:nvPr/>
        </p:nvSpPr>
        <p:spPr>
          <a:xfrm xmlns:a="http://schemas.openxmlformats.org/drawingml/2006/main">
            <a:off x="609600" y="1666875"/>
            <a:ext cx="2476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253CD5"/>
                </a:solidFill>
                <a:latin typeface="Arial"/>
                <a:ea typeface="Arial"/>
                <a:cs typeface="Arial"/>
              </a:defRPr>
            </a:pPr>
            <a:r>
              <a:rPr sz="8700" b="1">
                <a:solidFill>
                  <a:srgbClr val="253CD5"/>
                </a:solidFill>
                <a:latin typeface="Arial"/>
                <a:ea typeface="Arial"/>
                <a:cs typeface="Arial"/>
              </a:rPr>
              <a:t>36</a:t>
            </a:r>
          </a:p>
        </p:txBody>
      </p:sp>
      <p:sp>
        <p:nvSpPr>
          <p:cNvPr id="3" name="">
            <a:extLst xmlns:a="http://schemas.openxmlformats.org/drawingml/2006/main">
              <a:ext uri="{FF2B5EF4-FFF2-40B4-BE49-F238E27FC236}">
                <a16:creationId xmlns:a16="http://schemas.microsoft.com/office/drawing/2014/main" id="{756826B5-9965-4AE5-8581-F99CE31F9C5E}"/>
              </a:ext>
            </a:extLst>
          </p:cNvPr>
          <p:cNvSpPr>
            <a:spLocks xmlns:a="http://schemas.openxmlformats.org/drawingml/2006/main" noGrp="1"/>
          </p:cNvSpPr>
          <p:nvPr/>
        </p:nvSpPr>
        <p:spPr>
          <a:xfrm xmlns:a="http://schemas.openxmlformats.org/drawingml/2006/main">
            <a:off x="609600" y="314325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523"/>
                </a:solidFill>
                <a:latin typeface="Arial"/>
                <a:ea typeface="Arial"/>
                <a:cs typeface="Arial"/>
              </a:defRPr>
            </a:pPr>
            <a:r>
              <a:rPr sz="2550" b="1">
                <a:solidFill>
                  <a:srgbClr val="202523"/>
                </a:solidFill>
                <a:latin typeface="Arial"/>
                <a:ea typeface="Arial"/>
                <a:cs typeface="Arial"/>
              </a:rPr>
              <a:t>passing tests</a:t>
            </a:r>
          </a:p>
        </p:txBody>
      </p:sp>
      <p:sp>
        <p:nvSpPr>
          <p:cNvPr id="4" name="">
            <a:extLst xmlns:a="http://schemas.openxmlformats.org/drawingml/2006/main">
              <a:ext uri="{FF2B5EF4-FFF2-40B4-BE49-F238E27FC236}">
                <a16:creationId xmlns:a16="http://schemas.microsoft.com/office/drawing/2014/main" id="{B8BC1185-DC03-4095-AD4E-245798077F23}"/>
              </a:ext>
            </a:extLst>
          </p:cNvPr>
          <p:cNvSpPr>
            <a:spLocks xmlns:a="http://schemas.openxmlformats.org/drawingml/2006/main" noGrp="1"/>
          </p:cNvSpPr>
          <p:nvPr/>
        </p:nvSpPr>
        <p:spPr>
          <a:xfrm xmlns:a="http://schemas.openxmlformats.org/drawingml/2006/main">
            <a:off x="609600" y="3867150"/>
            <a:ext cx="3810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Escrow VM + CRE fixture checks</a:t>
            </a:r>
          </a:p>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Signed receipt and report replay</a:t>
            </a:r>
          </a:p>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Parsing and queue recovery</a:t>
            </a:r>
          </a:p>
        </p:txBody>
      </p:sp>
      <p:sp>
        <p:nvSpPr>
          <p:cNvPr id="5" name="">
            <a:extLst xmlns:a="http://schemas.openxmlformats.org/drawingml/2006/main">
              <a:ext uri="{FF2B5EF4-FFF2-40B4-BE49-F238E27FC236}">
                <a16:creationId xmlns:a16="http://schemas.microsoft.com/office/drawing/2014/main" id="{75FE1BEA-4BB3-464B-84D8-9889ED20EF02}"/>
              </a:ext>
            </a:extLst>
          </p:cNvPr>
          <p:cNvSpPr>
            <a:spLocks xmlns:a="http://schemas.openxmlformats.org/drawingml/2006/main" noGrp="1"/>
          </p:cNvSpPr>
          <p:nvPr/>
        </p:nvSpPr>
        <p:spPr>
          <a:xfrm xmlns:a="http://schemas.openxmlformats.org/drawingml/2006/main">
            <a:off x="5429250" y="1847850"/>
            <a:ext cx="571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202523"/>
                </a:solidFill>
                <a:latin typeface="Arial"/>
                <a:ea typeface="Arial"/>
                <a:cs typeface="Arial"/>
              </a:defRPr>
            </a:pPr>
            <a:r>
              <a:rPr sz="2775" b="1">
                <a:solidFill>
                  <a:srgbClr val="202523"/>
                </a:solidFill>
                <a:latin typeface="Arial"/>
                <a:ea typeface="Arial"/>
                <a:cs typeface="Arial"/>
              </a:rPr>
              <a:t>Actual execution</a:t>
            </a:r>
          </a:p>
        </p:txBody>
      </p:sp>
      <p:sp>
        <p:nvSpPr>
          <p:cNvPr id="6" name="">
            <a:extLst xmlns:a="http://schemas.openxmlformats.org/drawingml/2006/main">
              <a:ext uri="{FF2B5EF4-FFF2-40B4-BE49-F238E27FC236}">
                <a16:creationId xmlns:a16="http://schemas.microsoft.com/office/drawing/2014/main" id="{DE539243-E0F4-425A-85DD-892927E5102C}"/>
              </a:ext>
            </a:extLst>
          </p:cNvPr>
          <p:cNvSpPr>
            <a:spLocks xmlns:a="http://schemas.openxmlformats.org/drawingml/2006/main" noGrp="1"/>
          </p:cNvSpPr>
          <p:nvPr/>
        </p:nvSpPr>
        <p:spPr>
          <a:xfrm xmlns:a="http://schemas.openxmlformats.org/drawingml/2006/main">
            <a:off x="5429250" y="2667000"/>
            <a:ext cx="5810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02523"/>
                </a:solidFill>
                <a:latin typeface="Arial"/>
                <a:ea typeface="Arial"/>
                <a:cs typeface="Arial"/>
              </a:defRPr>
            </a:pPr>
            <a:r>
              <a:rPr sz="2100" b="0">
                <a:solidFill>
                  <a:srgbClr val="202523"/>
                </a:solidFill>
                <a:latin typeface="Arial"/>
                <a:ea typeface="Arial"/>
                <a:cs typeface="Arial"/>
              </a:rPr>
              <a:t>Three Cardano x402 purchases + Solana rewards</a:t>
            </a:r>
          </a:p>
          <a:p xmlns:a="http://schemas.openxmlformats.org/drawingml/2006/main">
            <a:pPr>
              <a:defRPr sz="2100" b="0">
                <a:solidFill>
                  <a:srgbClr val="202523"/>
                </a:solidFill>
                <a:latin typeface="Arial"/>
                <a:ea typeface="Arial"/>
                <a:cs typeface="Arial"/>
              </a:defRPr>
            </a:pPr>
            <a:r>
              <a:rPr sz="2100" b="0">
                <a:solidFill>
                  <a:srgbClr val="202523"/>
                </a:solidFill>
                <a:latin typeface="Arial"/>
                <a:ea typeface="Arial"/>
                <a:cs typeface="Arial"/>
              </a:rPr>
              <a:t>10 CRE checks passed on each order</a:t>
            </a:r>
          </a:p>
        </p:txBody>
      </p:sp>
      <p:sp>
        <p:nvSpPr>
          <p:cNvPr id="7" name="">
            <a:extLst xmlns:a="http://schemas.openxmlformats.org/drawingml/2006/main">
              <a:ext uri="{FF2B5EF4-FFF2-40B4-BE49-F238E27FC236}">
                <a16:creationId xmlns:a16="http://schemas.microsoft.com/office/drawing/2014/main" id="{B5B34DBD-E195-4A36-8299-DB7886B7E9A2}"/>
              </a:ext>
            </a:extLst>
          </p:cNvPr>
          <p:cNvSpPr>
            <a:spLocks xmlns:a="http://schemas.openxmlformats.org/drawingml/2006/main" noGrp="1"/>
          </p:cNvSpPr>
          <p:nvPr/>
        </p:nvSpPr>
        <p:spPr>
          <a:xfrm xmlns:a="http://schemas.openxmlformats.org/drawingml/2006/main">
            <a:off x="5429250" y="4019550"/>
            <a:ext cx="571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53CD5"/>
                </a:solidFill>
                <a:latin typeface="Arial"/>
                <a:ea typeface="Arial"/>
                <a:cs typeface="Arial"/>
              </a:defRPr>
            </a:pPr>
            <a:r>
              <a:rPr sz="2400" b="1">
                <a:solidFill>
                  <a:srgbClr val="253CD5"/>
                </a:solidFill>
                <a:latin typeface="Arial"/>
                <a:ea typeface="Arial"/>
                <a:cs typeface="Arial"/>
              </a:rPr>
              <a:t>Failure protection</a:t>
            </a:r>
          </a:p>
        </p:txBody>
      </p:sp>
      <p:sp>
        <p:nvSpPr>
          <p:cNvPr id="8" name="">
            <a:extLst xmlns:a="http://schemas.openxmlformats.org/drawingml/2006/main">
              <a:ext uri="{FF2B5EF4-FFF2-40B4-BE49-F238E27FC236}">
                <a16:creationId xmlns:a16="http://schemas.microsoft.com/office/drawing/2014/main" id="{0E9EF006-244B-4BDB-A79A-D84491E34B5F}"/>
              </a:ext>
            </a:extLst>
          </p:cNvPr>
          <p:cNvSpPr>
            <a:spLocks xmlns:a="http://schemas.openxmlformats.org/drawingml/2006/main" noGrp="1"/>
          </p:cNvSpPr>
          <p:nvPr/>
        </p:nvSpPr>
        <p:spPr>
          <a:xfrm xmlns:a="http://schemas.openxmlformats.org/drawingml/2006/main">
            <a:off x="5429250" y="4724400"/>
            <a:ext cx="59055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0.01 tSOL returned after real expiry</a:t>
            </a:r>
          </a:p>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One-fee replay catches altered facts</a:t>
            </a:r>
          </a:p>
          <a:p xmlns:a="http://schemas.openxmlformats.org/drawingml/2006/main">
            <a:pPr>
              <a:defRPr sz="2025" b="0">
                <a:solidFill>
                  <a:srgbClr val="202523"/>
                </a:solidFill>
                <a:latin typeface="Arial"/>
                <a:ea typeface="Arial"/>
                <a:cs typeface="Arial"/>
              </a:defRPr>
            </a:pPr>
            <a:r>
              <a:rPr sz="2025" b="0">
                <a:solidFill>
                  <a:srgbClr val="202523"/>
                </a:solidFill>
                <a:latin typeface="Arial"/>
                <a:ea typeface="Arial"/>
                <a:cs typeface="Arial"/>
              </a:rPr>
              <a:t>Every claim links to recorded evidence</a:t>
            </a:r>
          </a:p>
        </p:txBody>
      </p:sp>
      <p:sp>
        <p:nvSpPr>
          <p:cNvPr id="9" name="">
            <a:extLst xmlns:a="http://schemas.openxmlformats.org/drawingml/2006/main">
              <a:ext uri="{FF2B5EF4-FFF2-40B4-BE49-F238E27FC236}">
                <a16:creationId xmlns:a16="http://schemas.microsoft.com/office/drawing/2014/main" id="{5323B80F-D50E-46D6-89E2-22F56CACA376}"/>
              </a:ext>
            </a:extLst>
          </p:cNvPr>
          <p:cNvSpPr>
            <a:spLocks xmlns:a="http://schemas.openxmlformats.org/drawingml/2006/main" noGrp="1"/>
          </p:cNvSpPr>
          <p:nvPr/>
        </p:nvSpPr>
        <p:spPr>
          <a:xfrm xmlns:a="http://schemas.openxmlformats.org/drawingml/2006/main">
            <a:off x="609600" y="626745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26963"/>
                </a:solidFill>
                <a:latin typeface="Arial"/>
                <a:ea typeface="Arial"/>
                <a:cs typeface="Arial"/>
              </a:defRPr>
            </a:pPr>
            <a:r>
              <a:rPr sz="1650" b="0">
                <a:solidFill>
                  <a:srgbClr val="626963"/>
                </a:solidFill>
                <a:latin typeface="Arial"/>
                <a:ea typeface="Arial"/>
                <a:cs typeface="Arial"/>
              </a:rPr>
              <a:t>Test assets only · CRE simulation + trusted relayer · judge access still required.</a:t>
            </a:r>
          </a:p>
        </p:txBody>
      </p:sp>
    </p:spTree>
    <p:extLst>
      <p:ext uri="{BB962C8B-B14F-4D97-AF65-F5344CB8AC3E}">
        <p14:creationId xmlns:p14="http://schemas.microsoft.com/office/powerpoint/2010/main" val="475116656"/>
      </p:ext>
    </p:extLst>
  </p:cSld>
</p:sld>
</file>

<file path=ppt/slides/slide6.xml><?xml version="1.0" encoding="utf-8"?>
<p:sld xmlns:p="http://schemas.openxmlformats.org/presentationml/2006/main">
  <p:cSld>
    <p:bg>
      <p:bgPr>
        <a:solidFill xmlns:a="http://schemas.openxmlformats.org/drawingml/2006/main">
          <a:srgbClr val="F4F3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965DB5-BC5C-4E16-8BDE-99188384CAFB}"/>
              </a:ext>
            </a:extLst>
          </p:cNvPr>
          <p:cNvSpPr>
            <a:spLocks xmlns:a="http://schemas.openxmlformats.org/drawingml/2006/main" noGrp="1"/>
          </p:cNvSpPr>
          <p:nvPr/>
        </p:nvSpPr>
        <p:spPr>
          <a:xfrm xmlns:a="http://schemas.openxmlformats.org/drawingml/2006/main">
            <a:off x="609600" y="4286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02523"/>
                </a:solidFill>
                <a:latin typeface="Arial"/>
                <a:ea typeface="Arial"/>
                <a:cs typeface="Arial"/>
              </a:defRPr>
            </a:pPr>
            <a:r>
              <a:rPr sz="3450" b="1">
                <a:solidFill>
                  <a:srgbClr val="202523"/>
                </a:solidFill>
                <a:latin typeface="Arial"/>
                <a:ea typeface="Arial"/>
                <a:cs typeface="Arial"/>
              </a:rPr>
              <a:t>From one report to repeatable operations.</a:t>
            </a:r>
          </a:p>
        </p:txBody>
      </p:sp>
      <p:sp>
        <p:nvSpPr>
          <p:cNvPr id="2" name="">
            <a:extLst xmlns:a="http://schemas.openxmlformats.org/drawingml/2006/main">
              <a:ext uri="{FF2B5EF4-FFF2-40B4-BE49-F238E27FC236}">
                <a16:creationId xmlns:a16="http://schemas.microsoft.com/office/drawing/2014/main" id="{A0FD76F8-B30B-46FA-90E8-57AFD87CC075}"/>
              </a:ext>
            </a:extLst>
          </p:cNvPr>
          <p:cNvSpPr>
            <a:spLocks xmlns:a="http://schemas.openxmlformats.org/drawingml/2006/main" noGrp="1"/>
          </p:cNvSpPr>
          <p:nvPr/>
        </p:nvSpPr>
        <p:spPr>
          <a:xfrm xmlns:a="http://schemas.openxmlformats.org/drawingml/2006/main">
            <a:off x="609600" y="1752600"/>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53CD5"/>
                </a:solidFill>
                <a:latin typeface="Arial"/>
                <a:ea typeface="Arial"/>
                <a:cs typeface="Arial"/>
              </a:defRPr>
            </a:pPr>
            <a:r>
              <a:rPr sz="2400" b="1">
                <a:solidFill>
                  <a:srgbClr val="253CD5"/>
                </a:solidFill>
                <a:latin typeface="Arial"/>
                <a:ea typeface="Arial"/>
                <a:cs typeface="Arial"/>
              </a:rPr>
              <a:t>First users</a:t>
            </a:r>
          </a:p>
        </p:txBody>
      </p:sp>
      <p:sp>
        <p:nvSpPr>
          <p:cNvPr id="3" name="">
            <a:extLst xmlns:a="http://schemas.openxmlformats.org/drawingml/2006/main">
              <a:ext uri="{FF2B5EF4-FFF2-40B4-BE49-F238E27FC236}">
                <a16:creationId xmlns:a16="http://schemas.microsoft.com/office/drawing/2014/main" id="{F4FDCA0E-E32F-46B8-A289-53953515BF44}"/>
              </a:ext>
            </a:extLst>
          </p:cNvPr>
          <p:cNvSpPr>
            <a:spLocks xmlns:a="http://schemas.openxmlformats.org/drawingml/2006/main" noGrp="1"/>
          </p:cNvSpPr>
          <p:nvPr/>
        </p:nvSpPr>
        <p:spPr>
          <a:xfrm xmlns:a="http://schemas.openxmlformats.org/drawingml/2006/main">
            <a:off x="609600" y="24479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202523"/>
                </a:solidFill>
                <a:latin typeface="Arial"/>
                <a:ea typeface="Arial"/>
                <a:cs typeface="Arial"/>
              </a:defRPr>
            </a:pPr>
            <a:r>
              <a:rPr sz="2850" b="1">
                <a:solidFill>
                  <a:srgbClr val="202523"/>
                </a:solidFill>
                <a:latin typeface="Arial"/>
                <a:ea typeface="Arial"/>
                <a:cs typeface="Arial"/>
              </a:rPr>
              <a:t>Blockchain operations teams buying</a:t>
            </a:r>
          </a:p>
          <a:p xmlns:a="http://schemas.openxmlformats.org/drawingml/2006/main">
            <a:pPr>
              <a:defRPr sz="2850" b="1">
                <a:solidFill>
                  <a:srgbClr val="202523"/>
                </a:solidFill>
                <a:latin typeface="Arial"/>
                <a:ea typeface="Arial"/>
                <a:cs typeface="Arial"/>
              </a:defRPr>
            </a:pPr>
            <a:r>
              <a:rPr sz="2850" b="1">
                <a:solidFill>
                  <a:srgbClr val="202523"/>
                </a:solidFill>
                <a:latin typeface="Arial"/>
                <a:ea typeface="Arial"/>
                <a:cs typeface="Arial"/>
              </a:rPr>
              <a:t>repeatable wallet activity reports.</a:t>
            </a:r>
          </a:p>
        </p:txBody>
      </p:sp>
      <p:sp>
        <p:nvSpPr>
          <p:cNvPr id="4" name="">
            <a:extLst xmlns:a="http://schemas.openxmlformats.org/drawingml/2006/main">
              <a:ext uri="{FF2B5EF4-FFF2-40B4-BE49-F238E27FC236}">
                <a16:creationId xmlns:a16="http://schemas.microsoft.com/office/drawing/2014/main" id="{0014B6D1-01EF-4AB1-B0D3-4BB821974466}"/>
              </a:ext>
            </a:extLst>
          </p:cNvPr>
          <p:cNvSpPr>
            <a:spLocks xmlns:a="http://schemas.openxmlformats.org/drawingml/2006/main" noGrp="1"/>
          </p:cNvSpPr>
          <p:nvPr/>
        </p:nvSpPr>
        <p:spPr>
          <a:xfrm xmlns:a="http://schemas.openxmlformats.org/drawingml/2006/main">
            <a:off x="609600" y="3829050"/>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02523"/>
                </a:solidFill>
                <a:latin typeface="Arial"/>
                <a:ea typeface="Arial"/>
                <a:cs typeface="Arial"/>
              </a:defRPr>
            </a:pPr>
            <a:r>
              <a:rPr sz="2100" b="1">
                <a:solidFill>
                  <a:srgbClr val="202523"/>
                </a:solidFill>
                <a:latin typeface="Arial"/>
                <a:ea typeface="Arial"/>
                <a:cs typeface="Arial"/>
              </a:rPr>
              <a:t>Business hypothesis</a:t>
            </a:r>
          </a:p>
        </p:txBody>
      </p:sp>
      <p:sp>
        <p:nvSpPr>
          <p:cNvPr id="5" name="">
            <a:extLst xmlns:a="http://schemas.openxmlformats.org/drawingml/2006/main">
              <a:ext uri="{FF2B5EF4-FFF2-40B4-BE49-F238E27FC236}">
                <a16:creationId xmlns:a16="http://schemas.microsoft.com/office/drawing/2014/main" id="{901D0CE4-88BF-4F07-873F-C9496A72DB5D}"/>
              </a:ext>
            </a:extLst>
          </p:cNvPr>
          <p:cNvSpPr>
            <a:spLocks xmlns:a="http://schemas.openxmlformats.org/drawingml/2006/main" noGrp="1"/>
          </p:cNvSpPr>
          <p:nvPr/>
        </p:nvSpPr>
        <p:spPr>
          <a:xfrm xmlns:a="http://schemas.openxmlformats.org/drawingml/2006/main">
            <a:off x="4572000" y="3829050"/>
            <a:ext cx="685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02523"/>
                </a:solidFill>
                <a:latin typeface="Arial"/>
                <a:ea typeface="Arial"/>
                <a:cs typeface="Arial"/>
              </a:defRPr>
            </a:pPr>
            <a:r>
              <a:rPr sz="2100" b="0">
                <a:solidFill>
                  <a:srgbClr val="202523"/>
                </a:solidFill>
                <a:latin typeface="Arial"/>
                <a:ea typeface="Arial"/>
                <a:cs typeface="Arial"/>
              </a:rPr>
              <a:t>Per-task verification fee or team subscription.</a:t>
            </a:r>
          </a:p>
          <a:p xmlns:a="http://schemas.openxmlformats.org/drawingml/2006/main">
            <a:pPr>
              <a:defRPr sz="2100" b="0">
                <a:solidFill>
                  <a:srgbClr val="202523"/>
                </a:solidFill>
                <a:latin typeface="Arial"/>
                <a:ea typeface="Arial"/>
                <a:cs typeface="Arial"/>
              </a:defRPr>
            </a:pPr>
            <a:r>
              <a:rPr sz="2100" b="0">
                <a:solidFill>
                  <a:srgbClr val="202523"/>
                </a:solidFill>
                <a:latin typeface="Arial"/>
                <a:ea typeface="Arial"/>
                <a:cs typeface="Arial"/>
              </a:rPr>
              <a:t>Validate budgets, reporting errors and audit needs first.</a:t>
            </a:r>
          </a:p>
        </p:txBody>
      </p:sp>
      <p:sp>
        <p:nvSpPr>
          <p:cNvPr id="6" name="">
            <a:extLst xmlns:a="http://schemas.openxmlformats.org/drawingml/2006/main">
              <a:ext uri="{FF2B5EF4-FFF2-40B4-BE49-F238E27FC236}">
                <a16:creationId xmlns:a16="http://schemas.microsoft.com/office/drawing/2014/main" id="{302D38C3-5130-456B-8167-32B03DF19DAD}"/>
              </a:ext>
            </a:extLst>
          </p:cNvPr>
          <p:cNvSpPr>
            <a:spLocks xmlns:a="http://schemas.openxmlformats.org/drawingml/2006/main" noGrp="1"/>
          </p:cNvSpPr>
          <p:nvPr/>
        </p:nvSpPr>
        <p:spPr>
          <a:xfrm xmlns:a="http://schemas.openxmlformats.org/drawingml/2006/main">
            <a:off x="609600" y="5286375"/>
            <a:ext cx="3619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02523"/>
                </a:solidFill>
                <a:latin typeface="Arial"/>
                <a:ea typeface="Arial"/>
                <a:cs typeface="Arial"/>
              </a:defRPr>
            </a:pPr>
            <a:r>
              <a:rPr sz="2100" b="1">
                <a:solidFill>
                  <a:srgbClr val="202523"/>
                </a:solidFill>
                <a:latin typeface="Arial"/>
                <a:ea typeface="Arial"/>
                <a:cs typeface="Arial"/>
              </a:rPr>
              <a:t>Next milestone</a:t>
            </a:r>
          </a:p>
        </p:txBody>
      </p:sp>
      <p:sp>
        <p:nvSpPr>
          <p:cNvPr id="7" name="">
            <a:extLst xmlns:a="http://schemas.openxmlformats.org/drawingml/2006/main">
              <a:ext uri="{FF2B5EF4-FFF2-40B4-BE49-F238E27FC236}">
                <a16:creationId xmlns:a16="http://schemas.microsoft.com/office/drawing/2014/main" id="{36B1D57F-1123-45C0-9645-D17EECF91FC0}"/>
              </a:ext>
            </a:extLst>
          </p:cNvPr>
          <p:cNvSpPr>
            <a:spLocks xmlns:a="http://schemas.openxmlformats.org/drawingml/2006/main" noGrp="1"/>
          </p:cNvSpPr>
          <p:nvPr/>
        </p:nvSpPr>
        <p:spPr>
          <a:xfrm xmlns:a="http://schemas.openxmlformats.org/drawingml/2006/main">
            <a:off x="4572000" y="5286375"/>
            <a:ext cx="685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02523"/>
                </a:solidFill>
                <a:latin typeface="Arial"/>
                <a:ea typeface="Arial"/>
                <a:cs typeface="Arial"/>
              </a:defRPr>
            </a:pPr>
            <a:r>
              <a:rPr sz="2100" b="0">
                <a:solidFill>
                  <a:srgbClr val="202523"/>
                </a:solidFill>
                <a:latin typeface="Arial"/>
                <a:ea typeface="Arial"/>
                <a:cs typeface="Arial"/>
              </a:rPr>
              <a:t>Judge access, durable hosting and verified stage playback.</a:t>
            </a:r>
          </a:p>
        </p:txBody>
      </p:sp>
      <p:sp>
        <p:nvSpPr>
          <p:cNvPr id="8" name="">
            <a:extLst xmlns:a="http://schemas.openxmlformats.org/drawingml/2006/main">
              <a:ext uri="{FF2B5EF4-FFF2-40B4-BE49-F238E27FC236}">
                <a16:creationId xmlns:a16="http://schemas.microsoft.com/office/drawing/2014/main" id="{7A392BA5-A64B-46EA-9097-ACBFA876FA64}"/>
              </a:ext>
            </a:extLst>
          </p:cNvPr>
          <p:cNvSpPr>
            <a:spLocks xmlns:a="http://schemas.openxmlformats.org/drawingml/2006/main" noGrp="1"/>
          </p:cNvSpPr>
          <p:nvPr/>
        </p:nvSpPr>
        <p:spPr>
          <a:xfrm xmlns:a="http://schemas.openxmlformats.org/drawingml/2006/main">
            <a:off x="609600" y="62293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53CD5"/>
                </a:solidFill>
                <a:latin typeface="Arial"/>
                <a:ea typeface="Arial"/>
                <a:cs typeface="Arial"/>
              </a:defRPr>
            </a:pPr>
            <a:r>
              <a:rPr sz="1725" b="0">
                <a:solidFill>
                  <a:srgbClr val="253CD5"/>
                </a:solidFill>
                <a:latin typeface="Arial"/>
                <a:ea typeface="Arial"/>
                <a:cs typeface="Arial"/>
              </a:rPr>
              <a:t>Submission target: Oct 7, 22:00 Singapore / 16:00 Berlin</a:t>
            </a:r>
          </a:p>
        </p:txBody>
      </p:sp>
    </p:spTree>
    <p:extLst>
      <p:ext uri="{BB962C8B-B14F-4D97-AF65-F5344CB8AC3E}">
        <p14:creationId xmlns:p14="http://schemas.microsoft.com/office/powerpoint/2010/main" val="2710526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2026-10-06T08:46:48.0690000Z</dcterms:created>
  <dcterms:modified xsi:type="dcterms:W3CDTF">2026-10-06T08:46:48.0690000Z</dcterms:modified>
</coreProperties>
</file>