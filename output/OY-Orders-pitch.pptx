
<file path=[Content_Types].xml><?xml version="1.0" encoding="utf-8"?>
<Types xmlns="http://schemas.openxmlformats.org/package/2006/content-types">
  <Default Extension="xml" ContentType="application/vnd.openxmlformats-package.core-properties+xml"/>
  <Default Extension="png" ContentType="image/png"/>
  <Default Extension="svg" ContentType="image/svg+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Default Extension="mp4" ContentType="video/mp4"/>
</Types>
</file>

<file path=_rels/.rels>&#65279;<?xml version="1.0" encoding="utf-8"?><Relationships xmlns="http://schemas.openxmlformats.org/package/2006/relationships"><Relationship Type="http://schemas.openxmlformats.org/package/2006/relationships/metadata/core-properties" Target="/docProps/core.xml" Id="R1d379951801e4324" /><Relationship Type="http://schemas.openxmlformats.org/officeDocument/2006/relationships/extended-properties" Target="/docProps/app.xml" Id="R5a9c030db28a4244" /><Relationship Type="http://schemas.openxmlformats.org/officeDocument/2006/relationships/officeDocument" Target="/ppt/presentation.xml" Id="Rc0527fbe50274047" /></Relationships>
</file>

<file path=ppt/presentation.xml><?xml version="1.0" encoding="utf-8"?>
<p:presentation xmlns:p="http://schemas.openxmlformats.org/presentationml/2006/main">
  <p:sldMasterIdLst>
    <p:sldMasterId xmlns:r="http://schemas.openxmlformats.org/officeDocument/2006/relationships" id="2147483648" r:id="R6b969ded505c40bf"/>
  </p:sldMasterIdLst>
  <p:notesMasterIdLst>
    <p:notesMasterId xmlns:r="http://schemas.openxmlformats.org/officeDocument/2006/relationships" r:id="R7648adc8af3e4062"/>
  </p:notesMasterIdLst>
  <p:sldIdLst>
    <p:sldId xmlns:r="http://schemas.openxmlformats.org/officeDocument/2006/relationships" id="256" r:id="R7bf479ece9fc4e66"/>
    <p:sldId xmlns:r="http://schemas.openxmlformats.org/officeDocument/2006/relationships" id="257" r:id="Rfcc0bcd5b27a4a8e"/>
    <p:sldId xmlns:r="http://schemas.openxmlformats.org/officeDocument/2006/relationships" id="258" r:id="R8407f7e4f0ee46ab"/>
    <p:sldId xmlns:r="http://schemas.openxmlformats.org/officeDocument/2006/relationships" id="259" r:id="R119e0a34911845b5"/>
    <p:sldId xmlns:r="http://schemas.openxmlformats.org/officeDocument/2006/relationships" id="260" r:id="R71afdb560f6e4e3a"/>
    <p:sldId xmlns:r="http://schemas.openxmlformats.org/officeDocument/2006/relationships" id="261" r:id="R2a913c5b8f2f4ea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5a18a29bfa244bd" /><Relationship Type="http://schemas.openxmlformats.org/officeDocument/2006/relationships/slideMaster" Target="/ppt/slideMasters/slideMaster1.xml" Id="R6b969ded505c40bf" /><Relationship Type="http://schemas.openxmlformats.org/officeDocument/2006/relationships/notesMaster" Target="/ppt/notesMasters/notesMaster1.xml" Id="R7648adc8af3e4062" /><Relationship Type="http://schemas.openxmlformats.org/officeDocument/2006/relationships/presProps" Target="/ppt/presProps.xml" Id="Rd96de9faa0694eb6" /><Relationship Type="http://schemas.openxmlformats.org/officeDocument/2006/relationships/tableStyles" Target="/ppt/tableStyles.xml" Id="Rde22c4a184764f7c" /><Relationship Type="http://schemas.openxmlformats.org/officeDocument/2006/relationships/slide" Target="/ppt/slides/slide1.xml" Id="R7bf479ece9fc4e66" /><Relationship Type="http://schemas.openxmlformats.org/officeDocument/2006/relationships/slide" Target="/ppt/slides/slide2.xml" Id="Rfcc0bcd5b27a4a8e" /><Relationship Type="http://schemas.openxmlformats.org/officeDocument/2006/relationships/slide" Target="/ppt/slides/slide3.xml" Id="R8407f7e4f0ee46ab" /><Relationship Type="http://schemas.openxmlformats.org/officeDocument/2006/relationships/slide" Target="/ppt/slides/slide4.xml" Id="R119e0a34911845b5" /><Relationship Type="http://schemas.openxmlformats.org/officeDocument/2006/relationships/slide" Target="/ppt/slides/slide5.xml" Id="R71afdb560f6e4e3a" /><Relationship Type="http://schemas.openxmlformats.org/officeDocument/2006/relationships/slide" Target="/ppt/slides/slide6.xml" Id="R2a913c5b8f2f4ea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e277557d27541c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89f2f315b564f1f" /><Relationship Type="http://schemas.openxmlformats.org/officeDocument/2006/relationships/notesMaster" Target="/ppt/notesMasters/notesMaster1.xml" Id="Rbf9c542abc7f4391" /></Relationships>
</file>

<file path=ppt/notesSlides/_rels/notesSlide2.xml.rels>&#65279;<?xml version="1.0" encoding="utf-8"?><Relationships xmlns="http://schemas.openxmlformats.org/package/2006/relationships"><Relationship Type="http://schemas.openxmlformats.org/officeDocument/2006/relationships/slide" Target="/ppt/slides/slide2.xml" Id="R1df0e78ec6954f7b" /><Relationship Type="http://schemas.openxmlformats.org/officeDocument/2006/relationships/notesMaster" Target="/ppt/notesMasters/notesMaster1.xml" Id="Rd9b7609c78ad4429" /></Relationships>
</file>

<file path=ppt/notesSlides/_rels/notesSlide3.xml.rels>&#65279;<?xml version="1.0" encoding="utf-8"?><Relationships xmlns="http://schemas.openxmlformats.org/package/2006/relationships"><Relationship Type="http://schemas.openxmlformats.org/officeDocument/2006/relationships/slide" Target="/ppt/slides/slide3.xml" Id="R58d762b439444ca9" /><Relationship Type="http://schemas.openxmlformats.org/officeDocument/2006/relationships/notesMaster" Target="/ppt/notesMasters/notesMaster1.xml" Id="R399493dfec0c46ef" /></Relationships>
</file>

<file path=ppt/notesSlides/_rels/notesSlide4.xml.rels>&#65279;<?xml version="1.0" encoding="utf-8"?><Relationships xmlns="http://schemas.openxmlformats.org/package/2006/relationships"><Relationship Type="http://schemas.openxmlformats.org/officeDocument/2006/relationships/slide" Target="/ppt/slides/slide4.xml" Id="Rd49475be839c4c59" /><Relationship Type="http://schemas.openxmlformats.org/officeDocument/2006/relationships/notesMaster" Target="/ppt/notesMasters/notesMaster1.xml" Id="Rb23c9eaaa37f4a24" /></Relationships>
</file>

<file path=ppt/notesSlides/_rels/notesSlide5.xml.rels>&#65279;<?xml version="1.0" encoding="utf-8"?><Relationships xmlns="http://schemas.openxmlformats.org/package/2006/relationships"><Relationship Type="http://schemas.openxmlformats.org/officeDocument/2006/relationships/slide" Target="/ppt/slides/slide5.xml" Id="Rc7ecd18e93864f63" /><Relationship Type="http://schemas.openxmlformats.org/officeDocument/2006/relationships/notesMaster" Target="/ppt/notesMasters/notesMaster1.xml" Id="R7edd741ba1d748cc" /></Relationships>
</file>

<file path=ppt/notesSlides/_rels/notesSlide6.xml.rels>&#65279;<?xml version="1.0" encoding="utf-8"?><Relationships xmlns="http://schemas.openxmlformats.org/package/2006/relationships"><Relationship Type="http://schemas.openxmlformats.org/officeDocument/2006/relationships/slide" Target="/ppt/slides/slide6.xml" Id="R5e1343169dc342ff" /><Relationship Type="http://schemas.openxmlformats.org/officeDocument/2006/relationships/notesMaster" Target="/ppt/notesMasters/notesMaster1.xml" Id="R40d5e279ab6e4e8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TOKEN2049 Origins 2026. Main team OY Labs and partner team Orca Labs have the same four members. This deterministic shopping agent compares four OY-operated signed test offers. It uses no LLM or independent marketplace. Operator-funded test coins have no cash value. The voucher cannot buy real coffee or admission. Actual shopping order e63c7700-2bc4-4fe6-adca-a3074149120c settled after eleven official CRE simulation checks. Source: docs/SHOPPING.md and docs/evidence/shopping-order.json.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 supplier-price budget of one test ADA the server rejects every offer before allocating a purchase or funding job. At two or three it selects the valid two test ADA offer. Four offers exercise altered-price signatures, wrong item, over-budget price and a valid matching coffee pass. The agent selects the cheapest eligible offer from the fixed OY catalog. Network fees have a separate one test ADA ceiling. The browser preview cannot authorize a different selection: checkout creates a fresh signed plan and commits the full goal, budget and offer set before funding. Sources: docs/SHOPPING.md, packages/core/src/shopping.ts and docs/evidence/shopping-budget.json.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embedded movie is 89.02 seconds of edited actual public-app screen recording with synthetic narration. It shows a real goal/budget comparison, the same actual Cardano preprod purchase and Solana Devnet settlement, eleven official CRE checks, pass use and duplicate refusal. Pauses and chain confirmation waits are shortened. This recorded order 4b722b39-0a23-41de-a60b-ab977f16cd98 required operator-assisted recovery of the exact already-confirmed payment after an HTTP402 response; no second purchase. The automatic recovery code is now repaired. The older expired checkout is excluded from all movie footage. The catalog is OY-operated, the selection is deterministic policy and the voucher does not buy real coffee. Evidence: https://oy-orders.vercel.app/api/orders/4b722b39-0a23-41de-a60b-ab977f16cd98/evidence and docs/evidence/STATUS.md.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Sponsor logos are original vector assets identifying actual technology use, without endorsement. Source: apps/web/src/assets/README.md, Chainlink https://chain.link/brand-assets and NOWNodes https://nownodes.io. Official requirements reread 7 October: https://builderbase.com/track/solana-best-use-of-solana ; https://builderbase.com/track/cardano-agentic-commerce ; https://builderbase.com/track/chainlink-best-workflow-with-cre ; https://builderbase.com/track/nownodes-multichain-infrastructure-challenge . Solana program 2rdpj8fQHaZ7BbyaRFvZfHagJfT4QAWPrCUsC8LKobkj on Devnet binds immutable task input and ceiling. Cardano exact x402 pays for the chosen resource on preprod. CRE recomputes the committed shopping selection and verifies independent payment records. The supplier purchase is final. There is no bridge or currency swap. AWS is not integrated.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69 meaningful tests and type checking pass. 12 actual paid testnet orders: 10 settled, 1 signed false-report rejection with its task reward refunded, and 1 earlier payment-response-error order that expired without delivery and had its separate task reward refunded. Both Cardano supplier purchases remain final. The older expired checkout is not in the movie. Recorded shopping order 4b722b39-0a23-41de-a60b-ab977f16cd98 passed 11/11 official CRE checks after operator-assisted recovery of its confirmed payment, then accepted first use and refused replay. Official CRE simulation, trusted relayer, operator-owned test coins and OY supplier catalog. Supporting evidence: docs/evidence/recorded-shopping-order.json, recorded-shopping-video.json, expired-payment-error.json and 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Commercial hypothesis: merchants selling digital vouchers and agents purchasing benefits from suppliers. A verification fee per checkout is a hypothesis. Validate one merchant pilot, independent seller integration and customer wallet authorization before real assets. No merchant acceptance, customer interview, revenue or traction is claimed. Production needs DON-authorized settlement, separated operators, durable queues and clear support/refund policies. Public demo https://oy-orders.vercel.app/ . Submission deadline 7 October 2026 23:59 Singapore / 17:59 Berlin. No prize outcome is guaranteed.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08a69557dc9490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6c10d56e2d844d9" /><Relationship Type="http://schemas.openxmlformats.org/officeDocument/2006/relationships/slideLayout" Target="/ppt/slideLayouts/slideLayout1.xml" Id="R4c0a5f8feae6468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c0a5f8feae6468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e9e57ba7e0574d60" /><Relationship Type="http://schemas.openxmlformats.org/officeDocument/2006/relationships/image" Target="/ppt/media/image.png" Id="Ra11002fbd5ef4a7c" /><Relationship Type="http://schemas.openxmlformats.org/officeDocument/2006/relationships/notesSlide" Target="/ppt/notesSlides/notesSlide1.xml" Id="Rd9aa492056344d5e"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82155942d0af460c" /><Relationship Type="http://schemas.openxmlformats.org/officeDocument/2006/relationships/image" Target="/ppt/media/image2.png" Id="R02bbf497f2814483" /><Relationship Type="http://schemas.openxmlformats.org/officeDocument/2006/relationships/notesSlide" Target="/ppt/notesSlides/notesSlide2.xml" Id="R805c05d3f8a04464" /></Relationships>
</file>

<file path=ppt/slides/_rels/slide3.xml.rels><?xml version='1.0' encoding='utf-8'?>
<Relationships xmlns="http://schemas.openxmlformats.org/package/2006/relationships"><Relationship Type="http://schemas.openxmlformats.org/officeDocument/2006/relationships/slideLayout" Target="/ppt/slideLayouts/slideLayout1.xml" Id="Rcef5eb01a2c64dff" /><Relationship Type="http://schemas.openxmlformats.org/officeDocument/2006/relationships/image" Target="/ppt/media/image3.png" Id="R75e82addbf9e4ef3" /><Relationship Type="http://schemas.openxmlformats.org/officeDocument/2006/relationships/notesSlide" Target="/ppt/notesSlides/notesSlide3.xml" Id="Rf78c1bbc2ec44e8f" /><Relationship Id="rOYVideo" Type="http://schemas.openxmlformats.org/officeDocument/2006/relationships/video" Target="../media/oy-demo.mp4" /><Relationship Id="rOYMedia" Type="http://schemas.microsoft.com/office/2007/relationships/media" Target="../media/oy-demo.mp4"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2abc22ba12a14db4" /><Relationship Type="http://schemas.openxmlformats.org/officeDocument/2006/relationships/image" Target="/ppt/media/image4.png" Id="R53979e0c3d044767" /><Relationship Type="http://schemas.openxmlformats.org/officeDocument/2006/relationships/image" Target="/ppt/media/image.svg" Id="R51df6b5c96c94236" /><Relationship Type="http://schemas.openxmlformats.org/officeDocument/2006/relationships/image" Target="/ppt/media/image5.png" Id="Re32900ca58ce4da3" /><Relationship Type="http://schemas.openxmlformats.org/officeDocument/2006/relationships/image" Target="/ppt/media/image2.svg" Id="Re6bf2d135601460d" /><Relationship Type="http://schemas.openxmlformats.org/officeDocument/2006/relationships/image" Target="/ppt/media/image6.png" Id="R0e9a115f269b4240" /><Relationship Type="http://schemas.openxmlformats.org/officeDocument/2006/relationships/image" Target="/ppt/media/image3.svg" Id="R576e099c189c4b6a" /><Relationship Type="http://schemas.openxmlformats.org/officeDocument/2006/relationships/image" Target="/ppt/media/image7.png" Id="Rc6dfc0486d4f46f5" /><Relationship Type="http://schemas.openxmlformats.org/officeDocument/2006/relationships/image" Target="/ppt/media/image4.svg" Id="R6d7b7197246548ce" /><Relationship Type="http://schemas.openxmlformats.org/officeDocument/2006/relationships/notesSlide" Target="/ppt/notesSlides/notesSlide4.xml" Id="R85a46abc01af41e5"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5da4ec2372d84bf5" /><Relationship Type="http://schemas.openxmlformats.org/officeDocument/2006/relationships/notesSlide" Target="/ppt/notesSlides/notesSlide5.xml" Id="R8970746137ac4d5a"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e51a070652d44d8a" /><Relationship Type="http://schemas.openxmlformats.org/officeDocument/2006/relationships/notesSlide" Target="/ppt/notesSlides/notesSlide6.xml" Id="Rd26230aa837946cd" /></Relationships>
</file>

<file path=ppt/slides/slide1.xml><?xml version="1.0" encoding="utf-8"?>
<p:sld xmlns:p="http://schemas.openxmlformats.org/presentationml/2006/main">
  <p:cSld>
    <p:bg>
      <p:bgPr>
        <a:solidFill xmlns:a="http://schemas.openxmlformats.org/drawingml/2006/main">
          <a:srgbClr val="173B2B"/>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2BA7C8DF-E2DF-4F76-A257-80EA4A6D1254}"/>
              </a:ext>
            </a:extLst>
          </p:cNvPr>
          <p:cNvSpPr>
            <a:spLocks xmlns:a="http://schemas.openxmlformats.org/drawingml/2006/main" noGrp="1"/>
          </p:cNvSpPr>
          <p:nvPr/>
        </p:nvSpPr>
        <p:spPr>
          <a:xfrm xmlns:a="http://schemas.openxmlformats.org/drawingml/2006/main">
            <a:off x="609600" y="428625"/>
            <a:ext cx="109728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FFFFFF"/>
                </a:solidFill>
                <a:latin typeface="Arial"/>
                <a:ea typeface="Arial"/>
                <a:cs typeface="Arial"/>
              </a:defRPr>
            </a:pPr>
            <a:r>
              <a:rPr sz="3450" b="1">
                <a:solidFill>
                  <a:srgbClr val="FFFFFF"/>
                </a:solidFill>
                <a:latin typeface="Arial"/>
                <a:ea typeface="Arial"/>
                <a:cs typeface="Arial"/>
              </a:rPr>
              <a:t>OY Orders</a:t>
            </a:r>
          </a:p>
        </p:txBody>
      </p:sp>
      <p:sp>
        <p:nvSpPr>
          <p:cNvPr id="2" name="">
            <a:extLst xmlns:a="http://schemas.openxmlformats.org/drawingml/2006/main">
              <a:ext uri="{FF2B5EF4-FFF2-40B4-BE49-F238E27FC236}">
                <a16:creationId xmlns:a16="http://schemas.microsoft.com/office/drawing/2014/main" id="{A6796858-D969-4791-9F95-A0996E81D02C}"/>
              </a:ext>
            </a:extLst>
          </p:cNvPr>
          <p:cNvSpPr>
            <a:spLocks xmlns:a="http://schemas.openxmlformats.org/drawingml/2006/main" noGrp="1"/>
          </p:cNvSpPr>
          <p:nvPr/>
        </p:nvSpPr>
        <p:spPr>
          <a:xfrm xmlns:a="http://schemas.openxmlformats.org/drawingml/2006/main">
            <a:off x="609600" y="1809750"/>
            <a:ext cx="7524750"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950" b="1">
                <a:solidFill>
                  <a:srgbClr val="FFFFFF"/>
                </a:solidFill>
                <a:latin typeface="Arial"/>
                <a:ea typeface="Arial"/>
                <a:cs typeface="Arial"/>
              </a:defRPr>
            </a:pPr>
            <a:r>
              <a:rPr sz="4950" b="1">
                <a:solidFill>
                  <a:srgbClr val="FFFFFF"/>
                </a:solidFill>
                <a:latin typeface="Arial"/>
                <a:ea typeface="Arial"/>
                <a:cs typeface="Arial"/>
              </a:rPr>
              <a:t>Your shopping agent.</a:t>
            </a:r>
          </a:p>
          <a:p xmlns:a="http://schemas.openxmlformats.org/drawingml/2006/main">
            <a:pPr>
              <a:defRPr sz="4950" b="1">
                <a:solidFill>
                  <a:srgbClr val="FFFFFF"/>
                </a:solidFill>
                <a:latin typeface="Arial"/>
                <a:ea typeface="Arial"/>
                <a:cs typeface="Arial"/>
              </a:defRPr>
            </a:pPr>
            <a:r>
              <a:rPr sz="4950" b="1">
                <a:solidFill>
                  <a:srgbClr val="FFFFFF"/>
                </a:solidFill>
                <a:latin typeface="Arial"/>
                <a:ea typeface="Arial"/>
                <a:cs typeface="Arial"/>
              </a:rPr>
              <a:t>Your budget.</a:t>
            </a:r>
          </a:p>
        </p:txBody>
      </p:sp>
      <p:sp>
        <p:nvSpPr>
          <p:cNvPr id="3" name="">
            <a:extLst xmlns:a="http://schemas.openxmlformats.org/drawingml/2006/main">
              <a:ext uri="{FF2B5EF4-FFF2-40B4-BE49-F238E27FC236}">
                <a16:creationId xmlns:a16="http://schemas.microsoft.com/office/drawing/2014/main" id="{266CFDD4-5159-4966-8875-D4AEB162468F}"/>
              </a:ext>
            </a:extLst>
          </p:cNvPr>
          <p:cNvSpPr>
            <a:spLocks xmlns:a="http://schemas.openxmlformats.org/drawingml/2006/main" noGrp="1"/>
          </p:cNvSpPr>
          <p:nvPr/>
        </p:nvSpPr>
        <p:spPr>
          <a:xfrm xmlns:a="http://schemas.openxmlformats.org/drawingml/2006/main">
            <a:off x="609600" y="4381500"/>
            <a:ext cx="70485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D4E9D6"/>
                </a:solidFill>
                <a:latin typeface="Arial"/>
                <a:ea typeface="Arial"/>
                <a:cs typeface="Arial"/>
              </a:defRPr>
            </a:pPr>
            <a:r>
              <a:rPr sz="2550" b="0">
                <a:solidFill>
                  <a:srgbClr val="D4E9D6"/>
                </a:solidFill>
                <a:latin typeface="Arial"/>
                <a:ea typeface="Arial"/>
                <a:cs typeface="Arial"/>
              </a:rPr>
              <a:t>It refuses bad deals.</a:t>
            </a:r>
          </a:p>
          <a:p xmlns:a="http://schemas.openxmlformats.org/drawingml/2006/main">
            <a:pPr>
              <a:defRPr sz="2550" b="0">
                <a:solidFill>
                  <a:srgbClr val="D4E9D6"/>
                </a:solidFill>
                <a:latin typeface="Arial"/>
                <a:ea typeface="Arial"/>
                <a:cs typeface="Arial"/>
              </a:defRPr>
            </a:pPr>
            <a:r>
              <a:rPr sz="2550" b="0">
                <a:solidFill>
                  <a:srgbClr val="D4E9D6"/>
                </a:solidFill>
                <a:latin typeface="Arial"/>
                <a:ea typeface="Arial"/>
                <a:cs typeface="Arial"/>
              </a:rPr>
              <a:t>It buys the matching pass.</a:t>
            </a:r>
          </a:p>
        </p:txBody>
      </p:sp>
      <p:sp>
        <p:nvSpPr>
          <p:cNvPr id="4" name="">
            <a:extLst xmlns:a="http://schemas.openxmlformats.org/drawingml/2006/main">
              <a:ext uri="{FF2B5EF4-FFF2-40B4-BE49-F238E27FC236}">
                <a16:creationId xmlns:a16="http://schemas.microsoft.com/office/drawing/2014/main" id="{5EDFAC38-907F-4AB4-8BFA-47E2D16A789D}"/>
              </a:ext>
            </a:extLst>
          </p:cNvPr>
          <p:cNvSpPr>
            <a:spLocks xmlns:a="http://schemas.openxmlformats.org/drawingml/2006/main" noGrp="1"/>
          </p:cNvSpPr>
          <p:nvPr/>
        </p:nvSpPr>
        <p:spPr>
          <a:xfrm xmlns:a="http://schemas.openxmlformats.org/drawingml/2006/main">
            <a:off x="609600" y="6076950"/>
            <a:ext cx="7048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4E9D6"/>
                </a:solidFill>
                <a:latin typeface="Arial"/>
                <a:ea typeface="Arial"/>
                <a:cs typeface="Arial"/>
              </a:defRPr>
            </a:pPr>
            <a:r>
              <a:rPr sz="1725" b="0">
                <a:solidFill>
                  <a:srgbClr val="D4E9D6"/>
                </a:solidFill>
                <a:latin typeface="Arial"/>
                <a:ea typeface="Arial"/>
                <a:cs typeface="Arial"/>
              </a:rPr>
              <a:t>OY demo catalog. Test coins only.</a:t>
            </a:r>
          </a:p>
        </p:txBody>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a11002fbd5ef4a7c"/>
          <a:stretch xmlns:a="http://schemas.openxmlformats.org/drawingml/2006/main"/>
        </p:blipFill>
        <p:spPr>
          <a:xfrm xmlns:a="http://schemas.openxmlformats.org/drawingml/2006/main">
            <a:off x="8572500" y="1073604"/>
            <a:ext cx="2914650" cy="4996543"/>
          </a:xfrm>
          <a:prstGeom xmlns:a="http://schemas.openxmlformats.org/drawingml/2006/main" prst="rect">
            <a:avLst/>
          </a:prstGeom>
        </p:spPr>
      </p:pic>
    </p:spTree>
    <p:extLst>
      <p:ext uri="{BB962C8B-B14F-4D97-AF65-F5344CB8AC3E}">
        <p14:creationId xmlns:p14="http://schemas.microsoft.com/office/powerpoint/2010/main" val="431931455"/>
      </p:ext>
    </p:extLst>
  </p:cSld>
</p:sld>
</file>

<file path=ppt/slides/slide2.xml><?xml version="1.0" encoding="utf-8"?>
<p:sld xmlns:p="http://schemas.openxmlformats.org/presentationml/2006/main">
  <p:cSld>
    <p:bg>
      <p:bgPr>
        <a:solidFill xmlns:a="http://schemas.openxmlformats.org/drawingml/2006/main">
          <a:srgbClr val="F4F6EC"/>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68F5E49-8587-4AD5-9E65-D735450388D4}"/>
              </a:ext>
            </a:extLst>
          </p:cNvPr>
          <p:cNvSpPr>
            <a:spLocks xmlns:a="http://schemas.openxmlformats.org/drawingml/2006/main" noGrp="1"/>
          </p:cNvSpPr>
          <p:nvPr/>
        </p:nvSpPr>
        <p:spPr>
          <a:xfrm xmlns:a="http://schemas.openxmlformats.org/drawingml/2006/main">
            <a:off x="609600" y="428625"/>
            <a:ext cx="109728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173B2B"/>
                </a:solidFill>
                <a:latin typeface="Arial"/>
                <a:ea typeface="Arial"/>
                <a:cs typeface="Arial"/>
              </a:defRPr>
            </a:pPr>
            <a:r>
              <a:rPr sz="3450" b="1">
                <a:solidFill>
                  <a:srgbClr val="173B2B"/>
                </a:solidFill>
                <a:latin typeface="Arial"/>
                <a:ea typeface="Arial"/>
                <a:cs typeface="Arial"/>
              </a:rPr>
              <a:t>A shopping mission with a spending limit</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02bbf497f2814483"/>
          <a:stretch xmlns:a="http://schemas.openxmlformats.org/drawingml/2006/main"/>
        </p:blipFill>
        <p:spPr>
          <a:xfrm xmlns:a="http://schemas.openxmlformats.org/drawingml/2006/main">
            <a:off x="609600" y="1467488"/>
            <a:ext cx="4381500" cy="4799323"/>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FD7CA1FF-54C2-46B2-A6D8-8144A1AB77EA}"/>
              </a:ext>
            </a:extLst>
          </p:cNvPr>
          <p:cNvSpPr>
            <a:spLocks xmlns:a="http://schemas.openxmlformats.org/drawingml/2006/main" noGrp="1"/>
          </p:cNvSpPr>
          <p:nvPr/>
        </p:nvSpPr>
        <p:spPr>
          <a:xfrm xmlns:a="http://schemas.openxmlformats.org/drawingml/2006/main">
            <a:off x="5524500" y="1714500"/>
            <a:ext cx="6000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75" b="1">
                <a:solidFill>
                  <a:srgbClr val="173B2B"/>
                </a:solidFill>
                <a:latin typeface="Arial"/>
                <a:ea typeface="Arial"/>
                <a:cs typeface="Arial"/>
              </a:defRPr>
            </a:pPr>
            <a:r>
              <a:rPr sz="2775" b="1">
                <a:solidFill>
                  <a:srgbClr val="173B2B"/>
                </a:solidFill>
                <a:latin typeface="Arial"/>
                <a:ea typeface="Arial"/>
                <a:cs typeface="Arial"/>
              </a:rPr>
              <a:t>“Buy me a coffee pass.”</a:t>
            </a:r>
          </a:p>
        </p:txBody>
      </p:sp>
      <p:sp>
        <p:nvSpPr>
          <p:cNvPr id="4" name="">
            <a:extLst xmlns:a="http://schemas.openxmlformats.org/drawingml/2006/main">
              <a:ext uri="{FF2B5EF4-FFF2-40B4-BE49-F238E27FC236}">
                <a16:creationId xmlns:a16="http://schemas.microsoft.com/office/drawing/2014/main" id="{9138D8B7-7179-4555-A288-6CDD0533AE77}"/>
              </a:ext>
            </a:extLst>
          </p:cNvPr>
          <p:cNvSpPr>
            <a:spLocks xmlns:a="http://schemas.openxmlformats.org/drawingml/2006/main" noGrp="1"/>
          </p:cNvSpPr>
          <p:nvPr/>
        </p:nvSpPr>
        <p:spPr>
          <a:xfrm xmlns:a="http://schemas.openxmlformats.org/drawingml/2006/main">
            <a:off x="5524500" y="3190875"/>
            <a:ext cx="6000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75" b="1">
                <a:solidFill>
                  <a:srgbClr val="173B2B"/>
                </a:solidFill>
                <a:latin typeface="Arial"/>
                <a:ea typeface="Arial"/>
                <a:cs typeface="Arial"/>
              </a:defRPr>
            </a:pPr>
            <a:r>
              <a:rPr sz="2775" b="1">
                <a:solidFill>
                  <a:srgbClr val="173B2B"/>
                </a:solidFill>
                <a:latin typeface="Arial"/>
                <a:ea typeface="Arial"/>
                <a:cs typeface="Arial"/>
              </a:rPr>
              <a:t>1 test ADA</a:t>
            </a:r>
          </a:p>
        </p:txBody>
      </p:sp>
      <p:sp>
        <p:nvSpPr>
          <p:cNvPr id="5" name="">
            <a:extLst xmlns:a="http://schemas.openxmlformats.org/drawingml/2006/main">
              <a:ext uri="{FF2B5EF4-FFF2-40B4-BE49-F238E27FC236}">
                <a16:creationId xmlns:a16="http://schemas.microsoft.com/office/drawing/2014/main" id="{E623B400-BE6B-4874-9464-323498A62468}"/>
              </a:ext>
            </a:extLst>
          </p:cNvPr>
          <p:cNvSpPr>
            <a:spLocks xmlns:a="http://schemas.openxmlformats.org/drawingml/2006/main" noGrp="1"/>
          </p:cNvSpPr>
          <p:nvPr/>
        </p:nvSpPr>
        <p:spPr>
          <a:xfrm xmlns:a="http://schemas.openxmlformats.org/drawingml/2006/main">
            <a:off x="5524500" y="3905250"/>
            <a:ext cx="6000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58705F"/>
                </a:solidFill>
                <a:latin typeface="Arial"/>
                <a:ea typeface="Arial"/>
                <a:cs typeface="Arial"/>
              </a:defRPr>
            </a:pPr>
            <a:r>
              <a:rPr sz="2250" b="0">
                <a:solidFill>
                  <a:srgbClr val="58705F"/>
                </a:solidFill>
                <a:latin typeface="Arial"/>
                <a:ea typeface="Arial"/>
                <a:cs typeface="Arial"/>
              </a:rPr>
              <a:t>Nothing fits. No purchase.</a:t>
            </a:r>
          </a:p>
        </p:txBody>
      </p:sp>
      <p:sp>
        <p:nvSpPr>
          <p:cNvPr id="6" name="">
            <a:extLst xmlns:a="http://schemas.openxmlformats.org/drawingml/2006/main">
              <a:ext uri="{FF2B5EF4-FFF2-40B4-BE49-F238E27FC236}">
                <a16:creationId xmlns:a16="http://schemas.microsoft.com/office/drawing/2014/main" id="{7F1A7C76-AD54-4EB3-BA11-D16FEBE47E27}"/>
              </a:ext>
            </a:extLst>
          </p:cNvPr>
          <p:cNvSpPr>
            <a:spLocks xmlns:a="http://schemas.openxmlformats.org/drawingml/2006/main" noGrp="1"/>
          </p:cNvSpPr>
          <p:nvPr/>
        </p:nvSpPr>
        <p:spPr>
          <a:xfrm xmlns:a="http://schemas.openxmlformats.org/drawingml/2006/main">
            <a:off x="5524500" y="4933950"/>
            <a:ext cx="6000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75" b="1">
                <a:solidFill>
                  <a:srgbClr val="173B2B"/>
                </a:solidFill>
                <a:latin typeface="Arial"/>
                <a:ea typeface="Arial"/>
                <a:cs typeface="Arial"/>
              </a:defRPr>
            </a:pPr>
            <a:r>
              <a:rPr sz="2775" b="1">
                <a:solidFill>
                  <a:srgbClr val="173B2B"/>
                </a:solidFill>
                <a:latin typeface="Arial"/>
                <a:ea typeface="Arial"/>
                <a:cs typeface="Arial"/>
              </a:rPr>
              <a:t>2 test ADA</a:t>
            </a:r>
          </a:p>
        </p:txBody>
      </p:sp>
      <p:sp>
        <p:nvSpPr>
          <p:cNvPr id="7" name="">
            <a:extLst xmlns:a="http://schemas.openxmlformats.org/drawingml/2006/main">
              <a:ext uri="{FF2B5EF4-FFF2-40B4-BE49-F238E27FC236}">
                <a16:creationId xmlns:a16="http://schemas.microsoft.com/office/drawing/2014/main" id="{D7E48BD3-A4EB-4792-A016-19038062B9B9}"/>
              </a:ext>
            </a:extLst>
          </p:cNvPr>
          <p:cNvSpPr>
            <a:spLocks xmlns:a="http://schemas.openxmlformats.org/drawingml/2006/main" noGrp="1"/>
          </p:cNvSpPr>
          <p:nvPr/>
        </p:nvSpPr>
        <p:spPr>
          <a:xfrm xmlns:a="http://schemas.openxmlformats.org/drawingml/2006/main">
            <a:off x="5524500" y="5667375"/>
            <a:ext cx="6000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58705F"/>
                </a:solidFill>
                <a:latin typeface="Arial"/>
                <a:ea typeface="Arial"/>
                <a:cs typeface="Arial"/>
              </a:defRPr>
            </a:pPr>
            <a:r>
              <a:rPr sz="2250" b="0">
                <a:solidFill>
                  <a:srgbClr val="58705F"/>
                </a:solidFill>
                <a:latin typeface="Arial"/>
                <a:ea typeface="Arial"/>
                <a:cs typeface="Arial"/>
              </a:rPr>
              <a:t>The valid matching offer fits.</a:t>
            </a:r>
          </a:p>
        </p:txBody>
      </p:sp>
    </p:spTree>
    <p:extLst>
      <p:ext uri="{BB962C8B-B14F-4D97-AF65-F5344CB8AC3E}">
        <p14:creationId xmlns:p14="http://schemas.microsoft.com/office/powerpoint/2010/main" val="1478150348"/>
      </p:ext>
    </p:extLst>
  </p:cSld>
</p:sld>
</file>

<file path=ppt/slides/slide3.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4F6EC"/>
        </a:solidFill>
      </p:bgPr>
    </p:bg>
    <p:spTree>
      <p:nvGrpSpPr>
        <p:cNvPr id="1" name=""/>
        <p:cNvGrpSpPr/>
        <p:nvPr/>
      </p:nvGrpSpPr>
      <p:grpSpPr>
        <a:xfrm/>
      </p:grpSpPr>
      <p:sp>
        <p:nvSpPr>
          <p:cNvPr id="7" name="">
            <a:extLst>
              <a:ext uri="{FF2B5EF4-FFF2-40B4-BE49-F238E27FC236}">
                <ns2:creationId id="{7697693A-744D-455D-9F84-CFD71721F4F3}"/>
              </a:ext>
            </a:extLst>
          </p:cNvPr>
          <p:cNvSpPr>
            <a:spLocks noGrp="1"/>
          </p:cNvSpPr>
          <p:nvPr/>
        </p:nvSpPr>
        <p:spPr>
          <a:xfrm>
            <a:off x="609600" y="428625"/>
            <a:ext cx="10972800" cy="809625"/>
          </a:xfrm>
          <a:prstGeom prst="rect">
            <a:avLst/>
          </a:prstGeom>
          <a:noFill/>
          <a:ln w="0">
            <a:noFill/>
          </a:ln>
        </p:spPr>
        <p:txBody>
          <a:bodyPr>
            <a:noAutofit/>
          </a:bodyPr>
          <a:lstStyle/>
          <a:p>
            <a:pPr>
              <a:defRPr sz="3450" b="1">
                <a:solidFill>
                  <a:srgbClr val="173B2B"/>
                </a:solidFill>
                <a:latin typeface="Arial"/>
                <a:ea typeface="Arial"/>
                <a:cs typeface="Arial"/>
              </a:defRPr>
            </a:pPr>
            <a:r>
              <a:rPr sz="3450" b="1">
                <a:solidFill>
                  <a:srgbClr val="173B2B"/>
                </a:solidFill>
                <a:latin typeface="Arial"/>
                <a:ea typeface="Arial"/>
                <a:cs typeface="Arial"/>
              </a:rPr>
              <a:t>The shopping agent in action</a:t>
            </a:r>
          </a:p>
        </p:txBody>
      </p:sp>
      <p:pic>
        <p:nvPicPr>
          <p:cNvPr id="8" name="OY Orders shopping mission tour">
            <a:hlinkClick action="ppaction://media"/>
          </p:cNvPr>
          <p:cNvPicPr>
            <a:picLocks noChangeAspect="1"/>
          </p:cNvPicPr>
          <p:nvPr>
            <a:videoFile r:link="rOYVideo"/>
            <p:extLst>
              <p:ext uri="{DAA4B4D4-6D71-4841-9C94-3DE7FCFB9230}">
                <p14:media r:embed="rOYMedia"/>
              </p:ext>
            </p:extLst>
          </p:nvPr>
        </p:nvPicPr>
        <p:blipFill>
          <a:blip r:embed="R75e82addbf9e4ef3"/>
          <a:stretch/>
        </p:blipFill>
        <p:spPr>
          <a:xfrm>
            <a:off x="2441314" y="1619250"/>
            <a:ext cx="3956573" cy="4333875"/>
          </a:xfrm>
          <a:prstGeom prst="rect">
            <a:avLst/>
          </a:prstGeom>
        </p:spPr>
      </p:pic>
      <p:sp>
        <p:nvSpPr>
          <p:cNvPr id="3" name="">
            <a:extLst>
              <a:ext uri="{FF2B5EF4-FFF2-40B4-BE49-F238E27FC236}">
                <ns2:creationId id="{0D7F0F56-6D3B-4C54-A801-014B71F8DACE}"/>
              </a:ext>
            </a:extLst>
          </p:cNvPr>
          <p:cNvSpPr>
            <a:spLocks noGrp="1"/>
          </p:cNvSpPr>
          <p:nvPr/>
        </p:nvSpPr>
        <p:spPr>
          <a:xfrm>
            <a:off x="8705850" y="1866900"/>
            <a:ext cx="2809875" cy="895350"/>
          </a:xfrm>
          <a:prstGeom prst="rect">
            <a:avLst/>
          </a:prstGeom>
          <a:noFill/>
          <a:ln w="0">
            <a:noFill/>
          </a:ln>
        </p:spPr>
        <p:txBody>
          <a:bodyPr>
            <a:noAutofit/>
          </a:bodyPr>
          <a:lstStyle/>
          <a:p>
            <a:pPr>
              <a:defRPr sz="2250" b="1">
                <a:solidFill>
                  <a:srgbClr val="173B2B"/>
                </a:solidFill>
                <a:latin typeface="Arial"/>
                <a:ea typeface="Arial"/>
                <a:cs typeface="Arial"/>
              </a:defRPr>
            </a:pPr>
            <a:r>
              <a:rPr sz="2250" b="1">
                <a:solidFill>
                  <a:srgbClr val="173B2B"/>
                </a:solidFill>
                <a:latin typeface="Arial"/>
                <a:ea typeface="Arial"/>
                <a:cs typeface="Arial"/>
              </a:rPr>
              <a:t>Fake price caught</a:t>
            </a:r>
          </a:p>
        </p:txBody>
      </p:sp>
      <p:sp>
        <p:nvSpPr>
          <p:cNvPr id="4" name="">
            <a:extLst>
              <a:ext uri="{FF2B5EF4-FFF2-40B4-BE49-F238E27FC236}">
                <ns2:creationId id="{3EC8918A-077A-4BF8-8310-8F9BD688DC6E}"/>
              </a:ext>
            </a:extLst>
          </p:cNvPr>
          <p:cNvSpPr>
            <a:spLocks noGrp="1"/>
          </p:cNvSpPr>
          <p:nvPr/>
        </p:nvSpPr>
        <p:spPr>
          <a:xfrm>
            <a:off x="8705850" y="3171825"/>
            <a:ext cx="2809875" cy="895350"/>
          </a:xfrm>
          <a:prstGeom prst="rect">
            <a:avLst/>
          </a:prstGeom>
          <a:noFill/>
          <a:ln w="0">
            <a:noFill/>
          </a:ln>
        </p:spPr>
        <p:txBody>
          <a:bodyPr>
            <a:noAutofit/>
          </a:bodyPr>
          <a:lstStyle/>
          <a:p>
            <a:pPr>
              <a:defRPr sz="2250" b="1">
                <a:solidFill>
                  <a:srgbClr val="173B2B"/>
                </a:solidFill>
                <a:latin typeface="Arial"/>
                <a:ea typeface="Arial"/>
                <a:cs typeface="Arial"/>
              </a:defRPr>
            </a:pPr>
            <a:r>
              <a:rPr sz="2250" b="1">
                <a:solidFill>
                  <a:srgbClr val="173B2B"/>
                </a:solidFill>
                <a:latin typeface="Arial"/>
                <a:ea typeface="Arial"/>
                <a:cs typeface="Arial"/>
              </a:rPr>
              <a:t>Wrong item refused</a:t>
            </a:r>
          </a:p>
        </p:txBody>
      </p:sp>
      <p:sp>
        <p:nvSpPr>
          <p:cNvPr id="5" name="">
            <a:extLst>
              <a:ext uri="{FF2B5EF4-FFF2-40B4-BE49-F238E27FC236}">
                <ns2:creationId id="{00BB593B-747A-442C-872D-E5512AA2CDA9}"/>
              </a:ext>
            </a:extLst>
          </p:cNvPr>
          <p:cNvSpPr>
            <a:spLocks noGrp="1"/>
          </p:cNvSpPr>
          <p:nvPr/>
        </p:nvSpPr>
        <p:spPr>
          <a:xfrm>
            <a:off x="8705850" y="4476750"/>
            <a:ext cx="2809875" cy="895350"/>
          </a:xfrm>
          <a:prstGeom prst="rect">
            <a:avLst/>
          </a:prstGeom>
          <a:noFill/>
          <a:ln w="0">
            <a:noFill/>
          </a:ln>
        </p:spPr>
        <p:txBody>
          <a:bodyPr>
            <a:noAutofit/>
          </a:bodyPr>
          <a:lstStyle/>
          <a:p>
            <a:pPr>
              <a:defRPr sz="2250" b="1">
                <a:solidFill>
                  <a:srgbClr val="173B2B"/>
                </a:solidFill>
                <a:latin typeface="Arial"/>
                <a:ea typeface="Arial"/>
                <a:cs typeface="Arial"/>
              </a:defRPr>
            </a:pPr>
            <a:r>
              <a:rPr sz="2250" b="1">
                <a:solidFill>
                  <a:srgbClr val="173B2B"/>
                </a:solidFill>
                <a:latin typeface="Arial"/>
                <a:ea typeface="Arial"/>
                <a:cs typeface="Arial"/>
              </a:rPr>
              <a:t>Valid deal selected</a:t>
            </a:r>
          </a:p>
        </p:txBody>
      </p:sp>
      <p:sp>
        <p:nvSpPr>
          <p:cNvPr id="6" name="">
            <a:extLst>
              <a:ext uri="{FF2B5EF4-FFF2-40B4-BE49-F238E27FC236}">
                <ns2:creationId id="{DD434190-C258-4850-87B9-2229D1BBBA41}"/>
              </a:ext>
            </a:extLst>
          </p:cNvPr>
          <p:cNvSpPr>
            <a:spLocks noGrp="1"/>
          </p:cNvSpPr>
          <p:nvPr/>
        </p:nvSpPr>
        <p:spPr>
          <a:xfrm>
            <a:off x="609600" y="6191250"/>
            <a:ext cx="10953750" cy="361950"/>
          </a:xfrm>
          <a:prstGeom prst="rect">
            <a:avLst/>
          </a:prstGeom>
          <a:noFill/>
          <a:ln w="0">
            <a:noFill/>
          </a:ln>
        </p:spPr>
        <p:txBody>
          <a:bodyPr>
            <a:noAutofit/>
          </a:bodyPr>
          <a:lstStyle/>
          <a:p>
            <a:pPr>
              <a:defRPr sz="1725" b="0">
                <a:solidFill>
                  <a:srgbClr val="58705F"/>
                </a:solidFill>
                <a:latin typeface="Arial"/>
                <a:ea typeface="Arial"/>
                <a:cs typeface="Arial"/>
              </a:defRPr>
            </a:pPr>
            <a:r>
              <a:rPr sz="1725" b="0">
                <a:solidFill>
                  <a:srgbClr val="58705F"/>
                </a:solidFill>
                <a:latin typeface="Arial"/>
                <a:ea typeface="Arial"/>
                <a:cs typeface="Arial"/>
              </a:rPr>
              <a:t>Actual app evidence. Test coins and a demo voucher.</a:t>
            </a:r>
          </a:p>
        </p:txBody>
      </p:sp>
    </p:spTree>
    <p:extLst>
      <p:ext uri="{BB962C8B-B14F-4D97-AF65-F5344CB8AC3E}">
        <p14:creationId val="565046207"/>
      </p:ext>
    </p:extLst>
  </p:cSld>
  <p:timing>
    <p:tnLst>
      <p:par>
        <p:cTn id="1" dur="indefinite" restart="never" nodeType="tmRoot">
          <p:childTnLst>
            <p:video fullScrn="1">
              <p:cMediaNode vol="80000">
                <p:cTn id="2" fill="hold" display="0">
                  <p:stCondLst>
                    <p:cond delay="0"/>
                  </p:stCondLst>
                </p:cTn>
                <p:tgtEl>
                  <p:spTgt spid="8"/>
                </p:tgtEl>
              </p:cMediaNode>
            </p:video>
          </p:childTnLst>
        </p:cTn>
      </p:par>
    </p:tnLst>
  </p:timing>
</p:sld>
</file>

<file path=ppt/slides/slide4.xml><?xml version="1.0" encoding="utf-8"?>
<p:sld xmlns:p="http://schemas.openxmlformats.org/presentationml/2006/main">
  <p:cSld>
    <p:bg>
      <p:bgPr>
        <a:solidFill xmlns:a="http://schemas.openxmlformats.org/drawingml/2006/main">
          <a:srgbClr val="173B2B"/>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702029EE-0AC4-4335-8C34-B9C9C421314D}"/>
              </a:ext>
            </a:extLst>
          </p:cNvPr>
          <p:cNvSpPr>
            <a:spLocks xmlns:a="http://schemas.openxmlformats.org/drawingml/2006/main" noGrp="1"/>
          </p:cNvSpPr>
          <p:nvPr/>
        </p:nvSpPr>
        <p:spPr>
          <a:xfrm xmlns:a="http://schemas.openxmlformats.org/drawingml/2006/main">
            <a:off x="609600" y="428625"/>
            <a:ext cx="109728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FFFFFF"/>
                </a:solidFill>
                <a:latin typeface="Arial"/>
                <a:ea typeface="Arial"/>
                <a:cs typeface="Arial"/>
              </a:defRPr>
            </a:pPr>
            <a:r>
              <a:rPr sz="3450" b="1">
                <a:solidFill>
                  <a:srgbClr val="FFFFFF"/>
                </a:solidFill>
                <a:latin typeface="Arial"/>
                <a:ea typeface="Arial"/>
                <a:cs typeface="Arial"/>
              </a:rPr>
              <a:t>Why each technology is here</a:t>
            </a:r>
          </a:p>
        </p:txBody>
      </p:sp>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53979e0c3d044767">
            <a:extLst>
              <a:ext uri="{96DAC541-7B7A-43D3-8B79-37D633B846F1}">
                <asvg:svgBlip xmlns:asvg="http://schemas.microsoft.com/office/drawing/2016/SVG/main" r:embed="R51df6b5c96c94236"/>
              </a:ext>
            </a:extLst>
          </a:blip>
          <a:stretch xmlns:a="http://schemas.openxmlformats.org/drawingml/2006/main"/>
        </p:blipFill>
        <p:spPr>
          <a:xfrm xmlns:a="http://schemas.openxmlformats.org/drawingml/2006/main">
            <a:off x="609600" y="1685925"/>
            <a:ext cx="495300" cy="55245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7BB0DA06-2422-4932-827C-EE2DCB77F410}"/>
              </a:ext>
            </a:extLst>
          </p:cNvPr>
          <p:cNvSpPr>
            <a:spLocks xmlns:a="http://schemas.openxmlformats.org/drawingml/2006/main" noGrp="1"/>
          </p:cNvSpPr>
          <p:nvPr/>
        </p:nvSpPr>
        <p:spPr>
          <a:xfrm xmlns:a="http://schemas.openxmlformats.org/drawingml/2006/main">
            <a:off x="1352550" y="1724025"/>
            <a:ext cx="31432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1">
                <a:solidFill>
                  <a:srgbClr val="FFFFFF"/>
                </a:solidFill>
                <a:latin typeface="Arial"/>
                <a:ea typeface="Arial"/>
                <a:cs typeface="Arial"/>
              </a:defRPr>
            </a:pPr>
            <a:r>
              <a:rPr sz="2400" b="1">
                <a:solidFill>
                  <a:srgbClr val="FFFFFF"/>
                </a:solidFill>
                <a:latin typeface="Arial"/>
                <a:ea typeface="Arial"/>
                <a:cs typeface="Arial"/>
              </a:rPr>
              <a:t>Solana</a:t>
            </a:r>
          </a:p>
        </p:txBody>
      </p:sp>
      <p:sp>
        <p:nvSpPr>
          <p:cNvPr id="4" name="">
            <a:extLst xmlns:a="http://schemas.openxmlformats.org/drawingml/2006/main">
              <a:ext uri="{FF2B5EF4-FFF2-40B4-BE49-F238E27FC236}">
                <a16:creationId xmlns:a16="http://schemas.microsoft.com/office/drawing/2014/main" id="{59D35B34-14D9-43E4-9C69-7053FBDAABBA}"/>
              </a:ext>
            </a:extLst>
          </p:cNvPr>
          <p:cNvSpPr>
            <a:spLocks xmlns:a="http://schemas.openxmlformats.org/drawingml/2006/main" noGrp="1"/>
          </p:cNvSpPr>
          <p:nvPr/>
        </p:nvSpPr>
        <p:spPr>
          <a:xfrm xmlns:a="http://schemas.openxmlformats.org/drawingml/2006/main">
            <a:off x="4667250" y="1704975"/>
            <a:ext cx="68580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4E9D6"/>
                </a:solidFill>
                <a:latin typeface="Arial"/>
                <a:ea typeface="Arial"/>
                <a:cs typeface="Arial"/>
              </a:defRPr>
            </a:pPr>
            <a:r>
              <a:rPr sz="2100" b="0">
                <a:solidFill>
                  <a:srgbClr val="D4E9D6"/>
                </a:solidFill>
                <a:latin typeface="Arial"/>
                <a:ea typeface="Arial"/>
                <a:cs typeface="Arial"/>
              </a:rPr>
              <a:t>Bind the budget and protect the agent reward.</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e32900ca58ce4da3">
            <a:extLst>
              <a:ext uri="{96DAC541-7B7A-43D3-8B79-37D633B846F1}">
                <asvg:svgBlip xmlns:asvg="http://schemas.microsoft.com/office/drawing/2016/SVG/main" r:embed="Re6bf2d135601460d"/>
              </a:ext>
            </a:extLst>
          </a:blip>
          <a:stretch xmlns:a="http://schemas.openxmlformats.org/drawingml/2006/main"/>
        </p:blipFill>
        <p:spPr>
          <a:xfrm xmlns:a="http://schemas.openxmlformats.org/drawingml/2006/main">
            <a:off x="609600" y="2686050"/>
            <a:ext cx="495300" cy="5524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7019D5CB-6EE1-474A-8384-33833E674364}"/>
              </a:ext>
            </a:extLst>
          </p:cNvPr>
          <p:cNvSpPr>
            <a:spLocks xmlns:a="http://schemas.openxmlformats.org/drawingml/2006/main" noGrp="1"/>
          </p:cNvSpPr>
          <p:nvPr/>
        </p:nvSpPr>
        <p:spPr>
          <a:xfrm xmlns:a="http://schemas.openxmlformats.org/drawingml/2006/main">
            <a:off x="1352550" y="2724150"/>
            <a:ext cx="31432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1">
                <a:solidFill>
                  <a:srgbClr val="FFFFFF"/>
                </a:solidFill>
                <a:latin typeface="Arial"/>
                <a:ea typeface="Arial"/>
                <a:cs typeface="Arial"/>
              </a:defRPr>
            </a:pPr>
            <a:r>
              <a:rPr sz="2400" b="1">
                <a:solidFill>
                  <a:srgbClr val="FFFFFF"/>
                </a:solidFill>
                <a:latin typeface="Arial"/>
                <a:ea typeface="Arial"/>
                <a:cs typeface="Arial"/>
              </a:rPr>
              <a:t>Cardano</a:t>
            </a:r>
          </a:p>
        </p:txBody>
      </p:sp>
      <p:sp>
        <p:nvSpPr>
          <p:cNvPr id="7" name="">
            <a:extLst xmlns:a="http://schemas.openxmlformats.org/drawingml/2006/main">
              <a:ext uri="{FF2B5EF4-FFF2-40B4-BE49-F238E27FC236}">
                <a16:creationId xmlns:a16="http://schemas.microsoft.com/office/drawing/2014/main" id="{19BA405B-6D3A-4792-A231-6E801044C473}"/>
              </a:ext>
            </a:extLst>
          </p:cNvPr>
          <p:cNvSpPr>
            <a:spLocks xmlns:a="http://schemas.openxmlformats.org/drawingml/2006/main" noGrp="1"/>
          </p:cNvSpPr>
          <p:nvPr/>
        </p:nvSpPr>
        <p:spPr>
          <a:xfrm xmlns:a="http://schemas.openxmlformats.org/drawingml/2006/main">
            <a:off x="4667250" y="2705100"/>
            <a:ext cx="68580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4E9D6"/>
                </a:solidFill>
                <a:latin typeface="Arial"/>
                <a:ea typeface="Arial"/>
                <a:cs typeface="Arial"/>
              </a:defRPr>
            </a:pPr>
            <a:r>
              <a:rPr sz="2100" b="0">
                <a:solidFill>
                  <a:srgbClr val="D4E9D6"/>
                </a:solidFill>
                <a:latin typeface="Arial"/>
                <a:ea typeface="Arial"/>
                <a:cs typeface="Arial"/>
              </a:rPr>
              <a:t>Buy the selected supplier offer through x402.</a:t>
            </a:r>
          </a:p>
        </p:txBody>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0e9a115f269b4240">
            <a:extLst>
              <a:ext uri="{96DAC541-7B7A-43D3-8B79-37D633B846F1}">
                <asvg:svgBlip xmlns:asvg="http://schemas.microsoft.com/office/drawing/2016/SVG/main" r:embed="R576e099c189c4b6a"/>
              </a:ext>
            </a:extLst>
          </a:blip>
          <a:stretch xmlns:a="http://schemas.openxmlformats.org/drawingml/2006/main"/>
        </p:blipFill>
        <p:spPr>
          <a:xfrm xmlns:a="http://schemas.openxmlformats.org/drawingml/2006/main">
            <a:off x="609600" y="3686175"/>
            <a:ext cx="495300" cy="552450"/>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AE49EED0-388C-42EE-BDB6-E92FB1779938}"/>
              </a:ext>
            </a:extLst>
          </p:cNvPr>
          <p:cNvSpPr>
            <a:spLocks xmlns:a="http://schemas.openxmlformats.org/drawingml/2006/main" noGrp="1"/>
          </p:cNvSpPr>
          <p:nvPr/>
        </p:nvSpPr>
        <p:spPr>
          <a:xfrm xmlns:a="http://schemas.openxmlformats.org/drawingml/2006/main">
            <a:off x="1352550" y="3724275"/>
            <a:ext cx="31432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1">
                <a:solidFill>
                  <a:srgbClr val="FFFFFF"/>
                </a:solidFill>
                <a:latin typeface="Arial"/>
                <a:ea typeface="Arial"/>
                <a:cs typeface="Arial"/>
              </a:defRPr>
            </a:pPr>
            <a:r>
              <a:rPr sz="2400" b="1">
                <a:solidFill>
                  <a:srgbClr val="FFFFFF"/>
                </a:solidFill>
                <a:latin typeface="Arial"/>
                <a:ea typeface="Arial"/>
                <a:cs typeface="Arial"/>
              </a:rPr>
              <a:t>Chainlink CRE</a:t>
            </a:r>
          </a:p>
        </p:txBody>
      </p:sp>
      <p:sp>
        <p:nvSpPr>
          <p:cNvPr id="10" name="">
            <a:extLst xmlns:a="http://schemas.openxmlformats.org/drawingml/2006/main">
              <a:ext uri="{FF2B5EF4-FFF2-40B4-BE49-F238E27FC236}">
                <a16:creationId xmlns:a16="http://schemas.microsoft.com/office/drawing/2014/main" id="{AF504D10-BC7F-4CCB-8F59-FC8363B47A13}"/>
              </a:ext>
            </a:extLst>
          </p:cNvPr>
          <p:cNvSpPr>
            <a:spLocks xmlns:a="http://schemas.openxmlformats.org/drawingml/2006/main" noGrp="1"/>
          </p:cNvSpPr>
          <p:nvPr/>
        </p:nvSpPr>
        <p:spPr>
          <a:xfrm xmlns:a="http://schemas.openxmlformats.org/drawingml/2006/main">
            <a:off x="4667250" y="3705225"/>
            <a:ext cx="68580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4E9D6"/>
                </a:solidFill>
                <a:latin typeface="Arial"/>
                <a:ea typeface="Arial"/>
                <a:cs typeface="Arial"/>
              </a:defRPr>
            </a:pPr>
            <a:r>
              <a:rPr sz="2100" b="0">
                <a:solidFill>
                  <a:srgbClr val="D4E9D6"/>
                </a:solidFill>
                <a:latin typeface="Arial"/>
                <a:ea typeface="Arial"/>
                <a:cs typeface="Arial"/>
              </a:rPr>
              <a:t>Recheck the decision and delivery before payout.</a:t>
            </a:r>
          </a:p>
        </p:txBody>
      </p:sp>
      <p:pic>
        <p:nvPicPr>
          <p:cNvPr id="25" name=""/>
          <p:cNvPicPr>
            <a:picLocks xmlns:a="http://schemas.openxmlformats.org/drawingml/2006/main" noChangeAspect="1"/>
          </p:cNvPicPr>
          <p:nvPr/>
        </p:nvPicPr>
        <p:blipFill>
          <a:blip xmlns:r="http://schemas.openxmlformats.org/officeDocument/2006/relationships" xmlns:a="http://schemas.openxmlformats.org/drawingml/2006/main" r:embed="Rc6dfc0486d4f46f5">
            <a:extLst>
              <a:ext uri="{96DAC541-7B7A-43D3-8B79-37D633B846F1}">
                <asvg:svgBlip xmlns:asvg="http://schemas.microsoft.com/office/drawing/2016/SVG/main" r:embed="R6d7b7197246548ce"/>
              </a:ext>
            </a:extLst>
          </a:blip>
          <a:stretch xmlns:a="http://schemas.openxmlformats.org/drawingml/2006/main"/>
        </p:blipFill>
        <p:spPr>
          <a:xfrm xmlns:a="http://schemas.openxmlformats.org/drawingml/2006/main">
            <a:off x="609600" y="4686300"/>
            <a:ext cx="495300" cy="552450"/>
          </a:xfrm>
          <a:prstGeom xmlns:a="http://schemas.openxmlformats.org/drawingml/2006/main" prst="rect">
            <a:avLst/>
          </a:prstGeom>
        </p:spPr>
      </p:pic>
      <p:sp>
        <p:nvSpPr>
          <p:cNvPr id="12" name="">
            <a:extLst xmlns:a="http://schemas.openxmlformats.org/drawingml/2006/main">
              <a:ext uri="{FF2B5EF4-FFF2-40B4-BE49-F238E27FC236}">
                <a16:creationId xmlns:a16="http://schemas.microsoft.com/office/drawing/2014/main" id="{27BD2490-6092-4B67-A33C-367167FED70A}"/>
              </a:ext>
            </a:extLst>
          </p:cNvPr>
          <p:cNvSpPr>
            <a:spLocks xmlns:a="http://schemas.openxmlformats.org/drawingml/2006/main" noGrp="1"/>
          </p:cNvSpPr>
          <p:nvPr/>
        </p:nvSpPr>
        <p:spPr>
          <a:xfrm xmlns:a="http://schemas.openxmlformats.org/drawingml/2006/main">
            <a:off x="1352550" y="4724400"/>
            <a:ext cx="31432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1">
                <a:solidFill>
                  <a:srgbClr val="FFFFFF"/>
                </a:solidFill>
                <a:latin typeface="Arial"/>
                <a:ea typeface="Arial"/>
                <a:cs typeface="Arial"/>
              </a:defRPr>
            </a:pPr>
            <a:r>
              <a:rPr sz="2400" b="1">
                <a:solidFill>
                  <a:srgbClr val="FFFFFF"/>
                </a:solidFill>
                <a:latin typeface="Arial"/>
                <a:ea typeface="Arial"/>
                <a:cs typeface="Arial"/>
              </a:rPr>
              <a:t>NOWNodes</a:t>
            </a:r>
          </a:p>
        </p:txBody>
      </p:sp>
      <p:sp>
        <p:nvSpPr>
          <p:cNvPr id="13" name="">
            <a:extLst xmlns:a="http://schemas.openxmlformats.org/drawingml/2006/main">
              <a:ext uri="{FF2B5EF4-FFF2-40B4-BE49-F238E27FC236}">
                <a16:creationId xmlns:a16="http://schemas.microsoft.com/office/drawing/2014/main" id="{4B089F97-11D9-439F-B5AF-8FE742F0445C}"/>
              </a:ext>
            </a:extLst>
          </p:cNvPr>
          <p:cNvSpPr>
            <a:spLocks xmlns:a="http://schemas.openxmlformats.org/drawingml/2006/main" noGrp="1"/>
          </p:cNvSpPr>
          <p:nvPr/>
        </p:nvSpPr>
        <p:spPr>
          <a:xfrm xmlns:a="http://schemas.openxmlformats.org/drawingml/2006/main">
            <a:off x="4667250" y="4705350"/>
            <a:ext cx="68580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4E9D6"/>
                </a:solidFill>
                <a:latin typeface="Arial"/>
                <a:ea typeface="Arial"/>
                <a:cs typeface="Arial"/>
              </a:defRPr>
            </a:pPr>
            <a:r>
              <a:rPr sz="2100" b="0">
                <a:solidFill>
                  <a:srgbClr val="D4E9D6"/>
                </a:solidFill>
                <a:latin typeface="Arial"/>
                <a:ea typeface="Arial"/>
                <a:cs typeface="Arial"/>
              </a:rPr>
              <a:t>Read the original supplier payment records.</a:t>
            </a:r>
          </a:p>
        </p:txBody>
      </p:sp>
      <p:sp>
        <p:nvSpPr>
          <p:cNvPr id="14" name="">
            <a:extLst xmlns:a="http://schemas.openxmlformats.org/drawingml/2006/main">
              <a:ext uri="{FF2B5EF4-FFF2-40B4-BE49-F238E27FC236}">
                <a16:creationId xmlns:a16="http://schemas.microsoft.com/office/drawing/2014/main" id="{B708C3D4-69D5-4D99-AC5A-AE429834C9A4}"/>
              </a:ext>
            </a:extLst>
          </p:cNvPr>
          <p:cNvSpPr>
            <a:spLocks xmlns:a="http://schemas.openxmlformats.org/drawingml/2006/main" noGrp="1"/>
          </p:cNvSpPr>
          <p:nvPr/>
        </p:nvSpPr>
        <p:spPr>
          <a:xfrm xmlns:a="http://schemas.openxmlformats.org/drawingml/2006/main">
            <a:off x="609600" y="6096000"/>
            <a:ext cx="10858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4E9D6"/>
                </a:solidFill>
                <a:latin typeface="Arial"/>
                <a:ea typeface="Arial"/>
                <a:cs typeface="Arial"/>
              </a:defRPr>
            </a:pPr>
            <a:r>
              <a:rPr sz="1725" b="0">
                <a:solidFill>
                  <a:srgbClr val="D4E9D6"/>
                </a:solidFill>
                <a:latin typeface="Arial"/>
                <a:ea typeface="Arial"/>
                <a:cs typeface="Arial"/>
              </a:rPr>
              <a:t>2 tADA supplier price plus fees. Separate 0.01 tSOL reward.</a:t>
            </a:r>
          </a:p>
        </p:txBody>
      </p:sp>
    </p:spTree>
    <p:extLst>
      <p:ext uri="{BB962C8B-B14F-4D97-AF65-F5344CB8AC3E}">
        <p14:creationId xmlns:p14="http://schemas.microsoft.com/office/powerpoint/2010/main" val="64156404"/>
      </p:ext>
    </p:extLst>
  </p:cSld>
</p:sld>
</file>

<file path=ppt/slides/slide5.xml><?xml version="1.0" encoding="utf-8"?>
<p:sld xmlns:p="http://schemas.openxmlformats.org/presentationml/2006/main">
  <p:cSld>
    <p:bg>
      <p:bgPr>
        <a:solidFill xmlns:a="http://schemas.openxmlformats.org/drawingml/2006/main">
          <a:srgbClr val="F4F6EC"/>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FA291A59-AA74-48B2-87D3-079F2D14F180}"/>
              </a:ext>
            </a:extLst>
          </p:cNvPr>
          <p:cNvSpPr>
            <a:spLocks xmlns:a="http://schemas.openxmlformats.org/drawingml/2006/main" noGrp="1"/>
          </p:cNvSpPr>
          <p:nvPr/>
        </p:nvSpPr>
        <p:spPr>
          <a:xfrm xmlns:a="http://schemas.openxmlformats.org/drawingml/2006/main">
            <a:off x="609600" y="428625"/>
            <a:ext cx="109728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173B2B"/>
                </a:solidFill>
                <a:latin typeface="Arial"/>
                <a:ea typeface="Arial"/>
                <a:cs typeface="Arial"/>
              </a:defRPr>
            </a:pPr>
            <a:r>
              <a:rPr sz="3450" b="1">
                <a:solidFill>
                  <a:srgbClr val="173B2B"/>
                </a:solidFill>
                <a:latin typeface="Arial"/>
                <a:ea typeface="Arial"/>
                <a:cs typeface="Arial"/>
              </a:rPr>
              <a:t>Executed proof</a:t>
            </a:r>
          </a:p>
        </p:txBody>
      </p:sp>
      <p:sp>
        <p:nvSpPr>
          <p:cNvPr id="2" name="">
            <a:extLst xmlns:a="http://schemas.openxmlformats.org/drawingml/2006/main">
              <a:ext uri="{FF2B5EF4-FFF2-40B4-BE49-F238E27FC236}">
                <a16:creationId xmlns:a16="http://schemas.microsoft.com/office/drawing/2014/main" id="{EF97C42D-28C4-4201-B4FA-F2DD07A6A72B}"/>
              </a:ext>
            </a:extLst>
          </p:cNvPr>
          <p:cNvSpPr>
            <a:spLocks xmlns:a="http://schemas.openxmlformats.org/drawingml/2006/main" noGrp="1"/>
          </p:cNvSpPr>
          <p:nvPr/>
        </p:nvSpPr>
        <p:spPr>
          <a:xfrm xmlns:a="http://schemas.openxmlformats.org/drawingml/2006/main">
            <a:off x="609600" y="1619250"/>
            <a:ext cx="371475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850" b="1">
                <a:solidFill>
                  <a:srgbClr val="173B2B"/>
                </a:solidFill>
                <a:latin typeface="Arial"/>
                <a:ea typeface="Arial"/>
                <a:cs typeface="Arial"/>
              </a:defRPr>
            </a:pPr>
            <a:r>
              <a:rPr sz="8850" b="1">
                <a:solidFill>
                  <a:srgbClr val="173B2B"/>
                </a:solidFill>
                <a:latin typeface="Arial"/>
                <a:ea typeface="Arial"/>
                <a:cs typeface="Arial"/>
              </a:rPr>
              <a:t>69</a:t>
            </a:r>
          </a:p>
        </p:txBody>
      </p:sp>
      <p:sp>
        <p:nvSpPr>
          <p:cNvPr id="3" name="">
            <a:extLst xmlns:a="http://schemas.openxmlformats.org/drawingml/2006/main">
              <a:ext uri="{FF2B5EF4-FFF2-40B4-BE49-F238E27FC236}">
                <a16:creationId xmlns:a16="http://schemas.microsoft.com/office/drawing/2014/main" id="{84EACC04-6DE1-49DC-A600-18597CE03F66}"/>
              </a:ext>
            </a:extLst>
          </p:cNvPr>
          <p:cNvSpPr>
            <a:spLocks xmlns:a="http://schemas.openxmlformats.org/drawingml/2006/main" noGrp="1"/>
          </p:cNvSpPr>
          <p:nvPr/>
        </p:nvSpPr>
        <p:spPr>
          <a:xfrm xmlns:a="http://schemas.openxmlformats.org/drawingml/2006/main">
            <a:off x="609600" y="3238500"/>
            <a:ext cx="4286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173B2B"/>
                </a:solidFill>
                <a:latin typeface="Arial"/>
                <a:ea typeface="Arial"/>
                <a:cs typeface="Arial"/>
              </a:defRPr>
            </a:pPr>
            <a:r>
              <a:rPr sz="2700" b="1">
                <a:solidFill>
                  <a:srgbClr val="173B2B"/>
                </a:solidFill>
                <a:latin typeface="Arial"/>
                <a:ea typeface="Arial"/>
                <a:cs typeface="Arial"/>
              </a:rPr>
              <a:t>passing tests</a:t>
            </a:r>
          </a:p>
        </p:txBody>
      </p:sp>
      <p:sp>
        <p:nvSpPr>
          <p:cNvPr id="4" name="">
            <a:extLst xmlns:a="http://schemas.openxmlformats.org/drawingml/2006/main">
              <a:ext uri="{FF2B5EF4-FFF2-40B4-BE49-F238E27FC236}">
                <a16:creationId xmlns:a16="http://schemas.microsoft.com/office/drawing/2014/main" id="{643B1A9D-373D-4F41-8781-290EE53EF6C0}"/>
              </a:ext>
            </a:extLst>
          </p:cNvPr>
          <p:cNvSpPr>
            <a:spLocks xmlns:a="http://schemas.openxmlformats.org/drawingml/2006/main" noGrp="1"/>
          </p:cNvSpPr>
          <p:nvPr/>
        </p:nvSpPr>
        <p:spPr>
          <a:xfrm xmlns:a="http://schemas.openxmlformats.org/drawingml/2006/main">
            <a:off x="609600" y="4171950"/>
            <a:ext cx="4524375"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58705F"/>
                </a:solidFill>
                <a:latin typeface="Arial"/>
                <a:ea typeface="Arial"/>
                <a:cs typeface="Arial"/>
              </a:defRPr>
            </a:pPr>
            <a:r>
              <a:rPr sz="2025" b="0">
                <a:solidFill>
                  <a:srgbClr val="58705F"/>
                </a:solidFill>
                <a:latin typeface="Arial"/>
                <a:ea typeface="Arial"/>
                <a:cs typeface="Arial"/>
              </a:rPr>
              <a:t>Signed offer and budget checks</a:t>
            </a:r>
          </a:p>
          <a:p xmlns:a="http://schemas.openxmlformats.org/drawingml/2006/main">
            <a:pPr>
              <a:defRPr sz="2025" b="0">
                <a:solidFill>
                  <a:srgbClr val="58705F"/>
                </a:solidFill>
                <a:latin typeface="Arial"/>
                <a:ea typeface="Arial"/>
                <a:cs typeface="Arial"/>
              </a:defRPr>
            </a:pPr>
            <a:r>
              <a:rPr sz="2025" b="0">
                <a:solidFill>
                  <a:srgbClr val="58705F"/>
                </a:solidFill>
                <a:latin typeface="Arial"/>
                <a:ea typeface="Arial"/>
                <a:cs typeface="Arial"/>
              </a:rPr>
              <a:t>Committed decision tamper checks</a:t>
            </a:r>
          </a:p>
          <a:p xmlns:a="http://schemas.openxmlformats.org/drawingml/2006/main">
            <a:pPr>
              <a:defRPr sz="2025" b="0">
                <a:solidFill>
                  <a:srgbClr val="58705F"/>
                </a:solidFill>
                <a:latin typeface="Arial"/>
                <a:ea typeface="Arial"/>
                <a:cs typeface="Arial"/>
              </a:defRPr>
            </a:pPr>
            <a:r>
              <a:rPr sz="2025" b="0">
                <a:solidFill>
                  <a:srgbClr val="58705F"/>
                </a:solidFill>
                <a:latin typeface="Arial"/>
                <a:ea typeface="Arial"/>
                <a:cs typeface="Arial"/>
              </a:rPr>
              <a:t>Compiled Solana program execution</a:t>
            </a:r>
          </a:p>
        </p:txBody>
      </p:sp>
      <p:sp>
        <p:nvSpPr>
          <p:cNvPr id="5" name="">
            <a:extLst xmlns:a="http://schemas.openxmlformats.org/drawingml/2006/main">
              <a:ext uri="{FF2B5EF4-FFF2-40B4-BE49-F238E27FC236}">
                <a16:creationId xmlns:a16="http://schemas.microsoft.com/office/drawing/2014/main" id="{C66DCA4B-15EC-402A-9D94-00B40B7BFBEF}"/>
              </a:ext>
            </a:extLst>
          </p:cNvPr>
          <p:cNvSpPr>
            <a:spLocks xmlns:a="http://schemas.openxmlformats.org/drawingml/2006/main" noGrp="1"/>
          </p:cNvSpPr>
          <p:nvPr/>
        </p:nvSpPr>
        <p:spPr>
          <a:xfrm xmlns:a="http://schemas.openxmlformats.org/drawingml/2006/main">
            <a:off x="5619750" y="1752600"/>
            <a:ext cx="5905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173B2B"/>
                </a:solidFill>
                <a:latin typeface="Arial"/>
                <a:ea typeface="Arial"/>
                <a:cs typeface="Arial"/>
              </a:defRPr>
            </a:pPr>
            <a:r>
              <a:rPr sz="2925" b="1">
                <a:solidFill>
                  <a:srgbClr val="173B2B"/>
                </a:solidFill>
                <a:latin typeface="Arial"/>
                <a:ea typeface="Arial"/>
                <a:cs typeface="Arial"/>
              </a:rPr>
              <a:t>11/11 delivery checks</a:t>
            </a:r>
          </a:p>
        </p:txBody>
      </p:sp>
      <p:sp>
        <p:nvSpPr>
          <p:cNvPr id="6" name="">
            <a:extLst xmlns:a="http://schemas.openxmlformats.org/drawingml/2006/main">
              <a:ext uri="{FF2B5EF4-FFF2-40B4-BE49-F238E27FC236}">
                <a16:creationId xmlns:a16="http://schemas.microsoft.com/office/drawing/2014/main" id="{A2EEF2D2-CA20-4D62-9A29-1216088DA2D3}"/>
              </a:ext>
            </a:extLst>
          </p:cNvPr>
          <p:cNvSpPr>
            <a:spLocks xmlns:a="http://schemas.openxmlformats.org/drawingml/2006/main" noGrp="1"/>
          </p:cNvSpPr>
          <p:nvPr/>
        </p:nvSpPr>
        <p:spPr>
          <a:xfrm xmlns:a="http://schemas.openxmlformats.org/drawingml/2006/main">
            <a:off x="5619750" y="2695575"/>
            <a:ext cx="5905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58705F"/>
                </a:solidFill>
                <a:latin typeface="Arial"/>
                <a:ea typeface="Arial"/>
                <a:cs typeface="Arial"/>
              </a:defRPr>
            </a:pPr>
            <a:r>
              <a:rPr sz="2100" b="0">
                <a:solidFill>
                  <a:srgbClr val="58705F"/>
                </a:solidFill>
                <a:latin typeface="Arial"/>
                <a:ea typeface="Arial"/>
                <a:cs typeface="Arial"/>
              </a:rPr>
              <a:t>Real shopping purchase and settlement</a:t>
            </a:r>
          </a:p>
        </p:txBody>
      </p:sp>
      <p:sp>
        <p:nvSpPr>
          <p:cNvPr id="7" name="">
            <a:extLst xmlns:a="http://schemas.openxmlformats.org/drawingml/2006/main">
              <a:ext uri="{FF2B5EF4-FFF2-40B4-BE49-F238E27FC236}">
                <a16:creationId xmlns:a16="http://schemas.microsoft.com/office/drawing/2014/main" id="{39D02F83-02D9-4DF8-8800-8420D15AD7D5}"/>
              </a:ext>
            </a:extLst>
          </p:cNvPr>
          <p:cNvSpPr>
            <a:spLocks xmlns:a="http://schemas.openxmlformats.org/drawingml/2006/main" noGrp="1"/>
          </p:cNvSpPr>
          <p:nvPr/>
        </p:nvSpPr>
        <p:spPr>
          <a:xfrm xmlns:a="http://schemas.openxmlformats.org/drawingml/2006/main">
            <a:off x="5619750" y="4000500"/>
            <a:ext cx="5905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173B2B"/>
                </a:solidFill>
                <a:latin typeface="Arial"/>
                <a:ea typeface="Arial"/>
                <a:cs typeface="Arial"/>
              </a:defRPr>
            </a:pPr>
            <a:r>
              <a:rPr sz="2625" b="1">
                <a:solidFill>
                  <a:srgbClr val="173B2B"/>
                </a:solidFill>
                <a:latin typeface="Arial"/>
                <a:ea typeface="Arial"/>
                <a:cs typeface="Arial"/>
              </a:rPr>
              <a:t>12 paid testnet orders</a:t>
            </a:r>
          </a:p>
        </p:txBody>
      </p:sp>
      <p:sp>
        <p:nvSpPr>
          <p:cNvPr id="8" name="">
            <a:extLst xmlns:a="http://schemas.openxmlformats.org/drawingml/2006/main">
              <a:ext uri="{FF2B5EF4-FFF2-40B4-BE49-F238E27FC236}">
                <a16:creationId xmlns:a16="http://schemas.microsoft.com/office/drawing/2014/main" id="{DA3F6E6F-86D8-45B8-A5A0-288C8AA7C8E3}"/>
              </a:ext>
            </a:extLst>
          </p:cNvPr>
          <p:cNvSpPr>
            <a:spLocks xmlns:a="http://schemas.openxmlformats.org/drawingml/2006/main" noGrp="1"/>
          </p:cNvSpPr>
          <p:nvPr/>
        </p:nvSpPr>
        <p:spPr>
          <a:xfrm xmlns:a="http://schemas.openxmlformats.org/drawingml/2006/main">
            <a:off x="5619750" y="4838700"/>
            <a:ext cx="5905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58705F"/>
                </a:solidFill>
                <a:latin typeface="Arial"/>
                <a:ea typeface="Arial"/>
                <a:cs typeface="Arial"/>
              </a:defRPr>
            </a:pPr>
            <a:r>
              <a:rPr sz="2025" b="0">
                <a:solidFill>
                  <a:srgbClr val="58705F"/>
                </a:solidFill>
                <a:latin typeface="Arial"/>
                <a:ea typeface="Arial"/>
                <a:cs typeface="Arial"/>
              </a:rPr>
              <a:t>10 settled. 2 task rewards refunded.</a:t>
            </a:r>
          </a:p>
        </p:txBody>
      </p:sp>
      <p:sp>
        <p:nvSpPr>
          <p:cNvPr id="9" name="">
            <a:extLst xmlns:a="http://schemas.openxmlformats.org/drawingml/2006/main">
              <a:ext uri="{FF2B5EF4-FFF2-40B4-BE49-F238E27FC236}">
                <a16:creationId xmlns:a16="http://schemas.microsoft.com/office/drawing/2014/main" id="{1C7CEA08-6497-445A-A619-D33428EDDF5A}"/>
              </a:ext>
            </a:extLst>
          </p:cNvPr>
          <p:cNvSpPr>
            <a:spLocks xmlns:a="http://schemas.openxmlformats.org/drawingml/2006/main" noGrp="1"/>
          </p:cNvSpPr>
          <p:nvPr/>
        </p:nvSpPr>
        <p:spPr>
          <a:xfrm xmlns:a="http://schemas.openxmlformats.org/drawingml/2006/main">
            <a:off x="609600" y="6229350"/>
            <a:ext cx="10953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8705F"/>
                </a:solidFill>
                <a:latin typeface="Arial"/>
                <a:ea typeface="Arial"/>
                <a:cs typeface="Arial"/>
              </a:defRPr>
            </a:pPr>
            <a:r>
              <a:rPr sz="1650" b="0">
                <a:solidFill>
                  <a:srgbClr val="58705F"/>
                </a:solidFill>
                <a:latin typeface="Arial"/>
                <a:ea typeface="Arial"/>
                <a:cs typeface="Arial"/>
              </a:rPr>
              <a:t>Devnet and preprod. Official CRE simulation. Trusted relayer.</a:t>
            </a:r>
          </a:p>
        </p:txBody>
      </p:sp>
    </p:spTree>
    <p:extLst>
      <p:ext uri="{BB962C8B-B14F-4D97-AF65-F5344CB8AC3E}">
        <p14:creationId xmlns:p14="http://schemas.microsoft.com/office/powerpoint/2010/main" val="331520611"/>
      </p:ext>
    </p:extLst>
  </p:cSld>
</p:sld>
</file>

<file path=ppt/slides/slide6.xml><?xml version="1.0" encoding="utf-8"?>
<p:sld xmlns:p="http://schemas.openxmlformats.org/presentationml/2006/main">
  <p:cSld>
    <p:bg>
      <p:bgPr>
        <a:solidFill xmlns:a="http://schemas.openxmlformats.org/drawingml/2006/main">
          <a:srgbClr val="F4F6E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0D3258A-1993-4EBB-A3C2-B82C7C7ACA8A}"/>
              </a:ext>
            </a:extLst>
          </p:cNvPr>
          <p:cNvSpPr>
            <a:spLocks xmlns:a="http://schemas.openxmlformats.org/drawingml/2006/main" noGrp="1"/>
          </p:cNvSpPr>
          <p:nvPr/>
        </p:nvSpPr>
        <p:spPr>
          <a:xfrm xmlns:a="http://schemas.openxmlformats.org/drawingml/2006/main">
            <a:off x="609600" y="428625"/>
            <a:ext cx="109728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173B2B"/>
                </a:solidFill>
                <a:latin typeface="Arial"/>
                <a:ea typeface="Arial"/>
                <a:cs typeface="Arial"/>
              </a:defRPr>
            </a:pPr>
            <a:r>
              <a:rPr sz="3450" b="1">
                <a:solidFill>
                  <a:srgbClr val="173B2B"/>
                </a:solidFill>
                <a:latin typeface="Arial"/>
                <a:ea typeface="Arial"/>
                <a:cs typeface="Arial"/>
              </a:rPr>
              <a:t>A merchant pilot for digital benefits</a:t>
            </a:r>
          </a:p>
        </p:txBody>
      </p:sp>
      <p:sp>
        <p:nvSpPr>
          <p:cNvPr id="2" name="">
            <a:extLst xmlns:a="http://schemas.openxmlformats.org/drawingml/2006/main">
              <a:ext uri="{FF2B5EF4-FFF2-40B4-BE49-F238E27FC236}">
                <a16:creationId xmlns:a16="http://schemas.microsoft.com/office/drawing/2014/main" id="{103192CF-8751-487B-915E-2029AE2BFC59}"/>
              </a:ext>
            </a:extLst>
          </p:cNvPr>
          <p:cNvSpPr>
            <a:spLocks xmlns:a="http://schemas.openxmlformats.org/drawingml/2006/main" noGrp="1"/>
          </p:cNvSpPr>
          <p:nvPr/>
        </p:nvSpPr>
        <p:spPr>
          <a:xfrm xmlns:a="http://schemas.openxmlformats.org/drawingml/2006/main">
            <a:off x="609600" y="1838325"/>
            <a:ext cx="3238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58705F"/>
                </a:solidFill>
                <a:latin typeface="Arial"/>
                <a:ea typeface="Arial"/>
                <a:cs typeface="Arial"/>
              </a:defRPr>
            </a:pPr>
            <a:r>
              <a:rPr sz="2175" b="1">
                <a:solidFill>
                  <a:srgbClr val="58705F"/>
                </a:solidFill>
                <a:latin typeface="Arial"/>
                <a:ea typeface="Arial"/>
                <a:cs typeface="Arial"/>
              </a:rPr>
              <a:t>First use case</a:t>
            </a:r>
          </a:p>
        </p:txBody>
      </p:sp>
      <p:sp>
        <p:nvSpPr>
          <p:cNvPr id="3" name="">
            <a:extLst xmlns:a="http://schemas.openxmlformats.org/drawingml/2006/main">
              <a:ext uri="{FF2B5EF4-FFF2-40B4-BE49-F238E27FC236}">
                <a16:creationId xmlns:a16="http://schemas.microsoft.com/office/drawing/2014/main" id="{420C27AE-0120-4369-B9D4-0A23A89FE391}"/>
              </a:ext>
            </a:extLst>
          </p:cNvPr>
          <p:cNvSpPr>
            <a:spLocks xmlns:a="http://schemas.openxmlformats.org/drawingml/2006/main" noGrp="1"/>
          </p:cNvSpPr>
          <p:nvPr/>
        </p:nvSpPr>
        <p:spPr>
          <a:xfrm xmlns:a="http://schemas.openxmlformats.org/drawingml/2006/main">
            <a:off x="4000500" y="1714500"/>
            <a:ext cx="75247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173B2B"/>
                </a:solidFill>
                <a:latin typeface="Arial"/>
                <a:ea typeface="Arial"/>
                <a:cs typeface="Arial"/>
              </a:defRPr>
            </a:pPr>
            <a:r>
              <a:rPr sz="3150" b="1">
                <a:solidFill>
                  <a:srgbClr val="173B2B"/>
                </a:solidFill>
                <a:latin typeface="Arial"/>
                <a:ea typeface="Arial"/>
                <a:cs typeface="Arial"/>
              </a:rPr>
              <a:t>Agents buying digital benefits</a:t>
            </a:r>
          </a:p>
        </p:txBody>
      </p:sp>
      <p:sp>
        <p:nvSpPr>
          <p:cNvPr id="4" name="">
            <a:extLst xmlns:a="http://schemas.openxmlformats.org/drawingml/2006/main">
              <a:ext uri="{FF2B5EF4-FFF2-40B4-BE49-F238E27FC236}">
                <a16:creationId xmlns:a16="http://schemas.microsoft.com/office/drawing/2014/main" id="{F142E7EB-46A2-471C-BD1A-9B7D7F0AA97A}"/>
              </a:ext>
            </a:extLst>
          </p:cNvPr>
          <p:cNvSpPr>
            <a:spLocks xmlns:a="http://schemas.openxmlformats.org/drawingml/2006/main" noGrp="1"/>
          </p:cNvSpPr>
          <p:nvPr/>
        </p:nvSpPr>
        <p:spPr>
          <a:xfrm xmlns:a="http://schemas.openxmlformats.org/drawingml/2006/main">
            <a:off x="609600" y="3581400"/>
            <a:ext cx="333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58705F"/>
                </a:solidFill>
                <a:latin typeface="Arial"/>
                <a:ea typeface="Arial"/>
                <a:cs typeface="Arial"/>
              </a:defRPr>
            </a:pPr>
            <a:r>
              <a:rPr sz="2100" b="1">
                <a:solidFill>
                  <a:srgbClr val="58705F"/>
                </a:solidFill>
                <a:latin typeface="Arial"/>
                <a:ea typeface="Arial"/>
                <a:cs typeface="Arial"/>
              </a:rPr>
              <a:t>Business hypothesis</a:t>
            </a:r>
          </a:p>
        </p:txBody>
      </p:sp>
      <p:sp>
        <p:nvSpPr>
          <p:cNvPr id="5" name="">
            <a:extLst xmlns:a="http://schemas.openxmlformats.org/drawingml/2006/main">
              <a:ext uri="{FF2B5EF4-FFF2-40B4-BE49-F238E27FC236}">
                <a16:creationId xmlns:a16="http://schemas.microsoft.com/office/drawing/2014/main" id="{77A0E807-3527-434F-83DC-B69807736F34}"/>
              </a:ext>
            </a:extLst>
          </p:cNvPr>
          <p:cNvSpPr>
            <a:spLocks xmlns:a="http://schemas.openxmlformats.org/drawingml/2006/main" noGrp="1"/>
          </p:cNvSpPr>
          <p:nvPr/>
        </p:nvSpPr>
        <p:spPr>
          <a:xfrm xmlns:a="http://schemas.openxmlformats.org/drawingml/2006/main">
            <a:off x="4000500" y="3562350"/>
            <a:ext cx="752475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73B2B"/>
                </a:solidFill>
                <a:latin typeface="Arial"/>
                <a:ea typeface="Arial"/>
                <a:cs typeface="Arial"/>
              </a:defRPr>
            </a:pPr>
            <a:r>
              <a:rPr sz="2400" b="0">
                <a:solidFill>
                  <a:srgbClr val="173B2B"/>
                </a:solidFill>
                <a:latin typeface="Arial"/>
                <a:ea typeface="Arial"/>
                <a:cs typeface="Arial"/>
              </a:rPr>
              <a:t>A verification fee per checkout.</a:t>
            </a:r>
          </a:p>
          <a:p xmlns:a="http://schemas.openxmlformats.org/drawingml/2006/main">
            <a:pPr>
              <a:defRPr sz="2400" b="0">
                <a:solidFill>
                  <a:srgbClr val="173B2B"/>
                </a:solidFill>
                <a:latin typeface="Arial"/>
                <a:ea typeface="Arial"/>
                <a:cs typeface="Arial"/>
              </a:defRPr>
            </a:pPr>
            <a:r>
              <a:rPr sz="2400" b="0">
                <a:solidFill>
                  <a:srgbClr val="173B2B"/>
                </a:solidFill>
                <a:latin typeface="Arial"/>
                <a:ea typeface="Arial"/>
                <a:cs typeface="Arial"/>
              </a:rPr>
              <a:t>One merchant pilot before real funds.</a:t>
            </a:r>
          </a:p>
        </p:txBody>
      </p:sp>
      <p:sp>
        <p:nvSpPr>
          <p:cNvPr id="6" name="">
            <a:extLst xmlns:a="http://schemas.openxmlformats.org/drawingml/2006/main">
              <a:ext uri="{FF2B5EF4-FFF2-40B4-BE49-F238E27FC236}">
                <a16:creationId xmlns:a16="http://schemas.microsoft.com/office/drawing/2014/main" id="{F56A3E0A-4786-4860-BCEA-57397B0E3FE6}"/>
              </a:ext>
            </a:extLst>
          </p:cNvPr>
          <p:cNvSpPr>
            <a:spLocks xmlns:a="http://schemas.openxmlformats.org/drawingml/2006/main" noGrp="1"/>
          </p:cNvSpPr>
          <p:nvPr/>
        </p:nvSpPr>
        <p:spPr>
          <a:xfrm xmlns:a="http://schemas.openxmlformats.org/drawingml/2006/main">
            <a:off x="609600" y="5410200"/>
            <a:ext cx="3238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58705F"/>
                </a:solidFill>
                <a:latin typeface="Arial"/>
                <a:ea typeface="Arial"/>
                <a:cs typeface="Arial"/>
              </a:defRPr>
            </a:pPr>
            <a:r>
              <a:rPr sz="2175" b="1">
                <a:solidFill>
                  <a:srgbClr val="58705F"/>
                </a:solidFill>
                <a:latin typeface="Arial"/>
                <a:ea typeface="Arial"/>
                <a:cs typeface="Arial"/>
              </a:rPr>
              <a:t>Demo</a:t>
            </a:r>
          </a:p>
        </p:txBody>
      </p:sp>
      <p:sp>
        <p:nvSpPr>
          <p:cNvPr id="7" name="">
            <a:extLst xmlns:a="http://schemas.openxmlformats.org/drawingml/2006/main">
              <a:ext uri="{FF2B5EF4-FFF2-40B4-BE49-F238E27FC236}">
                <a16:creationId xmlns:a16="http://schemas.microsoft.com/office/drawing/2014/main" id="{53A52EE5-A04E-4E07-8FEA-56424F03FED6}"/>
              </a:ext>
            </a:extLst>
          </p:cNvPr>
          <p:cNvSpPr>
            <a:spLocks xmlns:a="http://schemas.openxmlformats.org/drawingml/2006/main" noGrp="1"/>
          </p:cNvSpPr>
          <p:nvPr/>
        </p:nvSpPr>
        <p:spPr>
          <a:xfrm xmlns:a="http://schemas.openxmlformats.org/drawingml/2006/main">
            <a:off x="4000500" y="5286375"/>
            <a:ext cx="7524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3B2B"/>
                </a:solidFill>
                <a:latin typeface="Arial"/>
                <a:ea typeface="Arial"/>
                <a:cs typeface="Arial"/>
              </a:defRPr>
            </a:pPr>
            <a:r>
              <a:rPr sz="3300" b="1">
                <a:solidFill>
                  <a:srgbClr val="173B2B"/>
                </a:solidFill>
                <a:latin typeface="Arial"/>
                <a:ea typeface="Arial"/>
                <a:cs typeface="Arial"/>
              </a:rPr>
              <a:t>oy-orders.vercel.app</a:t>
            </a:r>
          </a:p>
        </p:txBody>
      </p:sp>
      <p:sp>
        <p:nvSpPr>
          <p:cNvPr id="8" name="">
            <a:extLst xmlns:a="http://schemas.openxmlformats.org/drawingml/2006/main">
              <a:ext uri="{FF2B5EF4-FFF2-40B4-BE49-F238E27FC236}">
                <a16:creationId xmlns:a16="http://schemas.microsoft.com/office/drawing/2014/main" id="{4E1C7445-BD38-401E-921C-B36EBA127C30}"/>
              </a:ext>
            </a:extLst>
          </p:cNvPr>
          <p:cNvSpPr>
            <a:spLocks xmlns:a="http://schemas.openxmlformats.org/drawingml/2006/main" noGrp="1"/>
          </p:cNvSpPr>
          <p:nvPr/>
        </p:nvSpPr>
        <p:spPr>
          <a:xfrm xmlns:a="http://schemas.openxmlformats.org/drawingml/2006/main">
            <a:off x="609600" y="6229350"/>
            <a:ext cx="10953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8705F"/>
                </a:solidFill>
                <a:latin typeface="Arial"/>
                <a:ea typeface="Arial"/>
                <a:cs typeface="Arial"/>
              </a:defRPr>
            </a:pPr>
            <a:r>
              <a:rPr sz="1650" b="0">
                <a:solidFill>
                  <a:srgbClr val="58705F"/>
                </a:solidFill>
                <a:latin typeface="Arial"/>
                <a:ea typeface="Arial"/>
                <a:cs typeface="Arial"/>
              </a:rPr>
              <a:t>OY demo catalog. Customer demand remains unvalidated.</a:t>
            </a:r>
          </a:p>
        </p:txBody>
      </p:sp>
    </p:spTree>
    <p:extLst>
      <p:ext uri="{BB962C8B-B14F-4D97-AF65-F5344CB8AC3E}">
        <p14:creationId xmlns:p14="http://schemas.microsoft.com/office/powerpoint/2010/main" val="88307565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2026-10-07T11:10:11.1940000Z</dcterms:created>
  <dcterms:modified xsi:type="dcterms:W3CDTF">2026-10-07T11:10:11.1940000Z</dcterms:modified>
</coreProperties>
</file>