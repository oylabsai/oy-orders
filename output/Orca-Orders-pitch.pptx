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9c4f190c5abb4892" /><Relationship Type="http://schemas.openxmlformats.org/officeDocument/2006/relationships/extended-properties" Target="/docProps/app.xml" Id="R18c99d38df274148" /><Relationship Type="http://schemas.openxmlformats.org/officeDocument/2006/relationships/officeDocument" Target="/ppt/presentation.xml" Id="R3f3086d15c3047dc" /></Relationships>
</file>

<file path=ppt/presentation.xml><?xml version="1.0" encoding="utf-8"?>
<p:presentation xmlns:p="http://schemas.openxmlformats.org/presentationml/2006/main">
  <p:sldMasterIdLst>
    <p:sldMasterId xmlns:r="http://schemas.openxmlformats.org/officeDocument/2006/relationships" id="2147483648" r:id="R7257152f006d4094"/>
  </p:sldMasterIdLst>
  <p:notesMasterIdLst>
    <p:notesMasterId xmlns:r="http://schemas.openxmlformats.org/officeDocument/2006/relationships" r:id="Ra76da32ea8164d48"/>
  </p:notesMasterIdLst>
  <p:sldIdLst>
    <p:sldId xmlns:r="http://schemas.openxmlformats.org/officeDocument/2006/relationships" id="256" r:id="Ra170f2fcd26f4260"/>
    <p:sldId xmlns:r="http://schemas.openxmlformats.org/officeDocument/2006/relationships" id="257" r:id="R805ca48ec3264538"/>
    <p:sldId xmlns:r="http://schemas.openxmlformats.org/officeDocument/2006/relationships" id="258" r:id="R92c10c8c98bc4796"/>
    <p:sldId xmlns:r="http://schemas.openxmlformats.org/officeDocument/2006/relationships" id="259" r:id="R914288e072ff4387"/>
    <p:sldId xmlns:r="http://schemas.openxmlformats.org/officeDocument/2006/relationships" id="260" r:id="R2d002bdf36654a64"/>
    <p:sldId xmlns:r="http://schemas.openxmlformats.org/officeDocument/2006/relationships" id="261" r:id="R480b706e0f0e43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2996e2c48248ca" /><Relationship Type="http://schemas.openxmlformats.org/officeDocument/2006/relationships/slideMaster" Target="/ppt/slideMasters/slideMaster1.xml" Id="R7257152f006d4094" /><Relationship Type="http://schemas.openxmlformats.org/officeDocument/2006/relationships/notesMaster" Target="/ppt/notesMasters/notesMaster1.xml" Id="Ra76da32ea8164d48" /><Relationship Type="http://schemas.openxmlformats.org/officeDocument/2006/relationships/presProps" Target="/ppt/presProps.xml" Id="R601d29e4f30b4ba1" /><Relationship Type="http://schemas.openxmlformats.org/officeDocument/2006/relationships/tableStyles" Target="/ppt/tableStyles.xml" Id="Rb78ac0f7b4a9479d" /><Relationship Type="http://schemas.openxmlformats.org/officeDocument/2006/relationships/slide" Target="/ppt/slides/slide1.xml" Id="Ra170f2fcd26f4260" /><Relationship Type="http://schemas.openxmlformats.org/officeDocument/2006/relationships/slide" Target="/ppt/slides/slide2.xml" Id="R805ca48ec3264538" /><Relationship Type="http://schemas.openxmlformats.org/officeDocument/2006/relationships/slide" Target="/ppt/slides/slide3.xml" Id="R92c10c8c98bc4796" /><Relationship Type="http://schemas.openxmlformats.org/officeDocument/2006/relationships/slide" Target="/ppt/slides/slide4.xml" Id="R914288e072ff4387" /><Relationship Type="http://schemas.openxmlformats.org/officeDocument/2006/relationships/slide" Target="/ppt/slides/slide5.xml" Id="R2d002bdf36654a64" /><Relationship Type="http://schemas.openxmlformats.org/officeDocument/2006/relationships/slide" Target="/ppt/slides/slide6.xml" Id="R480b706e0f0e43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bbe20c94f146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11d4034b574592" /><Relationship Type="http://schemas.openxmlformats.org/officeDocument/2006/relationships/notesMaster" Target="/ppt/notesMasters/notesMaster1.xml" Id="R26228bf65cbb4e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b7782a3455449a" /><Relationship Type="http://schemas.openxmlformats.org/officeDocument/2006/relationships/notesMaster" Target="/ppt/notesMasters/notesMaster1.xml" Id="R239b583c9c6f4c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2d32077d23e446f" /><Relationship Type="http://schemas.openxmlformats.org/officeDocument/2006/relationships/notesMaster" Target="/ppt/notesMasters/notesMaster1.xml" Id="R9ad98559972347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234a55d00e4c55" /><Relationship Type="http://schemas.openxmlformats.org/officeDocument/2006/relationships/notesMaster" Target="/ppt/notesMasters/notesMaster1.xml" Id="R497a07d1b23e4a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c8e5924ff224d40" /><Relationship Type="http://schemas.openxmlformats.org/officeDocument/2006/relationships/notesMaster" Target="/ppt/notesMasters/notesMaster1.xml" Id="R056eefa6303940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f9c0db776345e7" /><Relationship Type="http://schemas.openxmlformats.org/officeDocument/2006/relationships/notesMaster" Target="/ppt/notesMasters/notesMaster1.xml" Id="R129a94cd58cd4f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Orca Labs — TOKEN2049 Origins 2026. Open with the need for bounded agent spending and independently verified results. This deck accompanies the implemented rehearsal. Actual sponsor execution remains pending. Never present the rehearsal as deployed chain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hypothesis: blockchain operations teams commissioning repeatable wallet reports. No interviews, revenue or traction have been collected. An agent can pay for a service but still needs a defined budget and a verified output. Separate test-asset payments: Solana task reward and Cardano supplier spend; no bridge or exchange-rate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 the embedded 52.7-second rehearsal recording on this slide. It was captured from the actual local interface in success, tampered-report and expiry/refund scenarios. Idle time between clips is removed; no assets move, and no sponsor executions are shown. Speak over the clip: immutable budget, reserved quote, seller signature, independent verification, rejection, refund. The movie is embedded in PPTX; playback in legacy PPT and the actual stage player must still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Integration source: docs/ARCHITECTURE.md and implemented adapters. Event track pages: https://builderbase.com/track/solana-best-use-of-solana ; https://builderbase.com/track/cardano-agentic-commerce ; https://builderbase.com/track/chainlink-best-workflow-with-cre ; https://builderbase.com/track/nownodes-multichain-infrastructure-challenge . This describes implemented live architecture, not completed sponsor execution. CRE independently reads escrow and payment plus NOWNodes facts. The prototype uses a local simulation and trusted relayer, not a production DON.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29 tests passed on 6 October 2026. They include compiled Solana ELF execution in LiteSVM and CRE verifier fixture tests. The native program compiled using Solana Playground; CRE compiled to WebAssembly with the official SDK/Javy compiler. This is not deployed program evidence or a successful CRE CLI simulation. NOWNodes €15 credit was redeemed but plan/API activation is pending. Cardano preprod wallet funding and Blockfrost key are pending. No actual live integration, transaction hashes, or user traction are claimed. See docs/evidence/STATUS.md.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model hypothesis only: per-task execution/verification fee or team subscription. No paying customers or interview findings are claimed. First validation: speak to blockchain ops teams about reporting errors, budget approvals and audit needs. Prioritize one genuine end-to-end execution before scope expansion. Deadline verified in event dashboard: 7 October 2026 23:59 Singapore / 17:59 Berlin. Internal target 22:00 Singapore / 16:00 Berlin. Stage deck should contain the recorded technical demo rather than a live technical demo. https://builderbase.com/event/token2049-origins-hackathon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b650de9bcb43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155b154a2d419e" /><Relationship Type="http://schemas.openxmlformats.org/officeDocument/2006/relationships/slideLayout" Target="/ppt/slideLayouts/slideLayout1.xml" Id="R3503fd4ed32f43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03fd4ed32f43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82670bc9dd4896" /><Relationship Type="http://schemas.openxmlformats.org/officeDocument/2006/relationships/notesSlide" Target="/ppt/notesSlides/notesSlide1.xml" Id="R9b00321ba26f4c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c025476ee4421e" /><Relationship Type="http://schemas.openxmlformats.org/officeDocument/2006/relationships/notesSlide" Target="/ppt/notesSlides/notesSlide2.xml" Id="R9ec1339911864016" /></Relationships>
</file>

<file path=ppt/slides/_rels/slide3.xml.rels><?xml version='1.0' encoding='utf-8'?>
<Relationships xmlns="http://schemas.openxmlformats.org/package/2006/relationships"><Relationship Type="http://schemas.openxmlformats.org/officeDocument/2006/relationships/slideLayout" Target="/ppt/slideLayouts/slideLayout1.xml" Id="Rd8d38ae07a3740c8" /><Relationship Type="http://schemas.openxmlformats.org/officeDocument/2006/relationships/image" Target="/ppt/media/image.png" Id="Rb602b80126804c0e" /><Relationship Type="http://schemas.openxmlformats.org/officeDocument/2006/relationships/notesSlide" Target="/ppt/notesSlides/notesSlide3.xml" Id="R7cd9f2ef251a4b6c" /><Relationship Id="rOrcaVideo" Type="http://schemas.openxmlformats.org/officeDocument/2006/relationships/video" Target="../media/orca-rehearsal.mp4" /><Relationship Id="rOrcaMedia" Type="http://schemas.microsoft.com/office/2007/relationships/media" Target="../media/orca-rehearsal.mp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6902046e8f4c45" /><Relationship Type="http://schemas.openxmlformats.org/officeDocument/2006/relationships/notesSlide" Target="/ppt/notesSlides/notesSlide4.xml" Id="R8447a005a0e443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c373274c39b4376" /><Relationship Type="http://schemas.openxmlformats.org/officeDocument/2006/relationships/notesSlide" Target="/ppt/notesSlides/notesSlide5.xml" Id="R8eec9d582f3b4d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be0f52dcb64b4e" /><Relationship Type="http://schemas.openxmlformats.org/officeDocument/2006/relationships/notesSlide" Target="/ppt/notesSlides/notesSlide6.xml" Id="Ra59234f9ea6d4f94" /></Relationships>
</file>

<file path=ppt/slides/slide1.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9915A8-463B-4B38-B023-39DF15667C58}"/>
              </a:ext>
            </a:extLst>
          </p:cNvPr>
          <p:cNvSpPr>
            <a:spLocks xmlns:a="http://schemas.openxmlformats.org/drawingml/2006/main" noGrp="1"/>
          </p:cNvSpPr>
          <p:nvPr/>
        </p:nvSpPr>
        <p:spPr>
          <a:xfrm xmlns:a="http://schemas.openxmlformats.org/drawingml/2006/main">
            <a:off x="609600" y="42862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523"/>
                </a:solidFill>
                <a:latin typeface="Arial"/>
                <a:ea typeface="Arial"/>
                <a:cs typeface="Arial"/>
              </a:defRPr>
            </a:pPr>
            <a:r>
              <a:rPr sz="3450" b="1">
                <a:solidFill>
                  <a:srgbClr val="202523"/>
                </a:solidFill>
                <a:latin typeface="Arial"/>
                <a:ea typeface="Arial"/>
                <a:cs typeface="Arial"/>
              </a:rPr>
              <a:t>Orca Orders</a:t>
            </a:r>
          </a:p>
        </p:txBody>
      </p:sp>
      <p:sp>
        <p:nvSpPr>
          <p:cNvPr id="2" name="">
            <a:extLst xmlns:a="http://schemas.openxmlformats.org/drawingml/2006/main">
              <a:ext uri="{FF2B5EF4-FFF2-40B4-BE49-F238E27FC236}">
                <a16:creationId xmlns:a16="http://schemas.microsoft.com/office/drawing/2014/main" id="{AE0AA3E2-9F3F-4B35-85AA-0FC7485D0A9B}"/>
              </a:ext>
            </a:extLst>
          </p:cNvPr>
          <p:cNvSpPr>
            <a:spLocks xmlns:a="http://schemas.openxmlformats.org/drawingml/2006/main" noGrp="1"/>
          </p:cNvSpPr>
          <p:nvPr/>
        </p:nvSpPr>
        <p:spPr>
          <a:xfrm xmlns:a="http://schemas.openxmlformats.org/drawingml/2006/main">
            <a:off x="609600" y="1905000"/>
            <a:ext cx="10572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02523"/>
                </a:solidFill>
                <a:latin typeface="Arial"/>
                <a:ea typeface="Arial"/>
                <a:cs typeface="Arial"/>
              </a:defRPr>
            </a:pPr>
            <a:r>
              <a:rPr sz="5400" b="1">
                <a:solidFill>
                  <a:srgbClr val="202523"/>
                </a:solidFill>
                <a:latin typeface="Arial"/>
                <a:ea typeface="Arial"/>
                <a:cs typeface="Arial"/>
              </a:rPr>
              <a:t>Give your agent a job.</a:t>
            </a:r>
          </a:p>
          <a:p xmlns:a="http://schemas.openxmlformats.org/drawingml/2006/main">
            <a:pPr>
              <a:defRPr sz="5400" b="1">
                <a:solidFill>
                  <a:srgbClr val="202523"/>
                </a:solidFill>
                <a:latin typeface="Arial"/>
                <a:ea typeface="Arial"/>
                <a:cs typeface="Arial"/>
              </a:defRPr>
            </a:pPr>
            <a:r>
              <a:rPr sz="5400" b="1">
                <a:solidFill>
                  <a:srgbClr val="202523"/>
                </a:solidFill>
                <a:latin typeface="Arial"/>
                <a:ea typeface="Arial"/>
                <a:cs typeface="Arial"/>
              </a:rPr>
              <a:t>Keep control of the spend.</a:t>
            </a:r>
          </a:p>
        </p:txBody>
      </p:sp>
      <p:sp>
        <p:nvSpPr>
          <p:cNvPr id="3" name="">
            <a:extLst xmlns:a="http://schemas.openxmlformats.org/drawingml/2006/main">
              <a:ext uri="{FF2B5EF4-FFF2-40B4-BE49-F238E27FC236}">
                <a16:creationId xmlns:a16="http://schemas.microsoft.com/office/drawing/2014/main" id="{6D5E47A7-1DF0-477C-971D-882FCF30EDE3}"/>
              </a:ext>
            </a:extLst>
          </p:cNvPr>
          <p:cNvSpPr>
            <a:spLocks xmlns:a="http://schemas.openxmlformats.org/drawingml/2006/main" noGrp="1"/>
          </p:cNvSpPr>
          <p:nvPr/>
        </p:nvSpPr>
        <p:spPr>
          <a:xfrm xmlns:a="http://schemas.openxmlformats.org/drawingml/2006/main">
            <a:off x="609600" y="42481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626963"/>
                </a:solidFill>
                <a:latin typeface="Arial"/>
                <a:ea typeface="Arial"/>
                <a:cs typeface="Arial"/>
              </a:defRPr>
            </a:pPr>
            <a:r>
              <a:rPr sz="2550" b="0">
                <a:solidFill>
                  <a:srgbClr val="626963"/>
                </a:solidFill>
                <a:latin typeface="Arial"/>
                <a:ea typeface="Arial"/>
                <a:cs typeface="Arial"/>
              </a:rPr>
              <a:t>A bounded purchase. A signed receipt.</a:t>
            </a:r>
          </a:p>
          <a:p xmlns:a="http://schemas.openxmlformats.org/drawingml/2006/main">
            <a:pPr>
              <a:defRPr sz="2550" b="0">
                <a:solidFill>
                  <a:srgbClr val="626963"/>
                </a:solidFill>
                <a:latin typeface="Arial"/>
                <a:ea typeface="Arial"/>
                <a:cs typeface="Arial"/>
              </a:defRPr>
            </a:pPr>
            <a:r>
              <a:rPr sz="2550" b="0">
                <a:solidFill>
                  <a:srgbClr val="626963"/>
                </a:solidFill>
                <a:latin typeface="Arial"/>
                <a:ea typeface="Arial"/>
                <a:cs typeface="Arial"/>
              </a:rPr>
              <a:t>A task reward released after verification.</a:t>
            </a:r>
          </a:p>
        </p:txBody>
      </p:sp>
      <p:sp>
        <p:nvSpPr>
          <p:cNvPr id="4" name="">
            <a:extLst xmlns:a="http://schemas.openxmlformats.org/drawingml/2006/main">
              <a:ext uri="{FF2B5EF4-FFF2-40B4-BE49-F238E27FC236}">
                <a16:creationId xmlns:a16="http://schemas.microsoft.com/office/drawing/2014/main" id="{0C0D7CB7-CA95-4544-964E-39224934DB0A}"/>
              </a:ext>
            </a:extLst>
          </p:cNvPr>
          <p:cNvSpPr>
            <a:spLocks xmlns:a="http://schemas.openxmlformats.org/drawingml/2006/main" noGrp="1"/>
          </p:cNvSpPr>
          <p:nvPr/>
        </p:nvSpPr>
        <p:spPr>
          <a:xfrm xmlns:a="http://schemas.openxmlformats.org/drawingml/2006/main">
            <a:off x="609600" y="60579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53CD5"/>
                </a:solidFill>
                <a:latin typeface="Arial"/>
                <a:ea typeface="Arial"/>
                <a:cs typeface="Arial"/>
              </a:defRPr>
            </a:pPr>
            <a:r>
              <a:rPr sz="1725" b="0">
                <a:solidFill>
                  <a:srgbClr val="253CD5"/>
                </a:solidFill>
                <a:latin typeface="Arial"/>
                <a:ea typeface="Arial"/>
                <a:cs typeface="Arial"/>
              </a:rPr>
              <a:t>Orca Labs  ·  TOKEN2049 Origins 2026</a:t>
            </a:r>
          </a:p>
        </p:txBody>
      </p:sp>
    </p:spTree>
    <p:extLst>
      <p:ext uri="{BB962C8B-B14F-4D97-AF65-F5344CB8AC3E}">
        <p14:creationId xmlns:p14="http://schemas.microsoft.com/office/powerpoint/2010/main" val="2060831620"/>
      </p:ext>
    </p:extLst>
  </p:cSld>
</p:sld>
</file>

<file path=ppt/slides/slide2.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E6788E8-3070-48CD-8A50-4E2B0DC71C83}"/>
              </a:ext>
            </a:extLst>
          </p:cNvPr>
          <p:cNvSpPr>
            <a:spLocks xmlns:a="http://schemas.openxmlformats.org/drawingml/2006/main" noGrp="1"/>
          </p:cNvSpPr>
          <p:nvPr/>
        </p:nvSpPr>
        <p:spPr>
          <a:xfrm xmlns:a="http://schemas.openxmlformats.org/drawingml/2006/main">
            <a:off x="609600" y="42862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523"/>
                </a:solidFill>
                <a:latin typeface="Arial"/>
                <a:ea typeface="Arial"/>
                <a:cs typeface="Arial"/>
              </a:defRPr>
            </a:pPr>
            <a:r>
              <a:rPr sz="3450" b="1">
                <a:solidFill>
                  <a:srgbClr val="202523"/>
                </a:solidFill>
                <a:latin typeface="Arial"/>
                <a:ea typeface="Arial"/>
                <a:cs typeface="Arial"/>
              </a:rPr>
              <a:t>Payment is only half the task.</a:t>
            </a:r>
          </a:p>
        </p:txBody>
      </p:sp>
      <p:sp>
        <p:nvSpPr>
          <p:cNvPr id="2" name="">
            <a:extLst xmlns:a="http://schemas.openxmlformats.org/drawingml/2006/main">
              <a:ext uri="{FF2B5EF4-FFF2-40B4-BE49-F238E27FC236}">
                <a16:creationId xmlns:a16="http://schemas.microsoft.com/office/drawing/2014/main" id="{983AC833-5478-4AE4-B4CA-8D35565DC865}"/>
              </a:ext>
            </a:extLst>
          </p:cNvPr>
          <p:cNvSpPr>
            <a:spLocks xmlns:a="http://schemas.openxmlformats.org/drawingml/2006/main" noGrp="1"/>
          </p:cNvSpPr>
          <p:nvPr/>
        </p:nvSpPr>
        <p:spPr>
          <a:xfrm xmlns:a="http://schemas.openxmlformats.org/drawingml/2006/main">
            <a:off x="609600" y="1676400"/>
            <a:ext cx="1047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02523"/>
                </a:solidFill>
                <a:latin typeface="Arial"/>
                <a:ea typeface="Arial"/>
                <a:cs typeface="Arial"/>
              </a:defRPr>
            </a:pPr>
            <a:r>
              <a:rPr sz="3150" b="1">
                <a:solidFill>
                  <a:srgbClr val="202523"/>
                </a:solidFill>
                <a:latin typeface="Arial"/>
                <a:ea typeface="Arial"/>
                <a:cs typeface="Arial"/>
              </a:rPr>
              <a:t>An agent can buy a report.</a:t>
            </a:r>
          </a:p>
          <a:p xmlns:a="http://schemas.openxmlformats.org/drawingml/2006/main">
            <a:pPr>
              <a:defRPr sz="3150" b="1">
                <a:solidFill>
                  <a:srgbClr val="202523"/>
                </a:solidFill>
                <a:latin typeface="Arial"/>
                <a:ea typeface="Arial"/>
                <a:cs typeface="Arial"/>
              </a:defRPr>
            </a:pPr>
            <a:r>
              <a:rPr sz="3150" b="1">
                <a:solidFill>
                  <a:srgbClr val="202523"/>
                </a:solidFill>
                <a:latin typeface="Arial"/>
                <a:ea typeface="Arial"/>
                <a:cs typeface="Arial"/>
              </a:rPr>
              <a:t>Who checks the spend and the answer?</a:t>
            </a:r>
          </a:p>
        </p:txBody>
      </p:sp>
      <p:sp>
        <p:nvSpPr>
          <p:cNvPr id="3" name="">
            <a:extLst xmlns:a="http://schemas.openxmlformats.org/drawingml/2006/main">
              <a:ext uri="{FF2B5EF4-FFF2-40B4-BE49-F238E27FC236}">
                <a16:creationId xmlns:a16="http://schemas.microsoft.com/office/drawing/2014/main" id="{B15CBCBE-EFBF-4A5E-9666-ABC7D0060248}"/>
              </a:ext>
            </a:extLst>
          </p:cNvPr>
          <p:cNvSpPr>
            <a:spLocks xmlns:a="http://schemas.openxmlformats.org/drawingml/2006/main" noGrp="1"/>
          </p:cNvSpPr>
          <p:nvPr/>
        </p:nvSpPr>
        <p:spPr>
          <a:xfrm xmlns:a="http://schemas.openxmlformats.org/drawingml/2006/main">
            <a:off x="609600" y="33528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53CD5"/>
                </a:solidFill>
                <a:latin typeface="Arial"/>
                <a:ea typeface="Arial"/>
                <a:cs typeface="Arial"/>
              </a:defRPr>
            </a:pPr>
            <a:r>
              <a:rPr sz="2550" b="1">
                <a:solidFill>
                  <a:srgbClr val="253CD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CB1F8D4-4534-4461-837E-6E96110AD7C1}"/>
              </a:ext>
            </a:extLst>
          </p:cNvPr>
          <p:cNvSpPr>
            <a:spLocks xmlns:a="http://schemas.openxmlformats.org/drawingml/2006/main" noGrp="1"/>
          </p:cNvSpPr>
          <p:nvPr/>
        </p:nvSpPr>
        <p:spPr>
          <a:xfrm xmlns:a="http://schemas.openxmlformats.org/drawingml/2006/main">
            <a:off x="1571625" y="33528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523"/>
                </a:solidFill>
                <a:latin typeface="Arial"/>
                <a:ea typeface="Arial"/>
                <a:cs typeface="Arial"/>
              </a:defRPr>
            </a:pPr>
            <a:r>
              <a:rPr sz="2175" b="1">
                <a:solidFill>
                  <a:srgbClr val="202523"/>
                </a:solidFill>
                <a:latin typeface="Arial"/>
                <a:ea typeface="Arial"/>
                <a:cs typeface="Arial"/>
              </a:rPr>
              <a:t>Bound the purchase</a:t>
            </a:r>
          </a:p>
        </p:txBody>
      </p:sp>
      <p:sp>
        <p:nvSpPr>
          <p:cNvPr id="5" name="">
            <a:extLst xmlns:a="http://schemas.openxmlformats.org/drawingml/2006/main">
              <a:ext uri="{FF2B5EF4-FFF2-40B4-BE49-F238E27FC236}">
                <a16:creationId xmlns:a16="http://schemas.microsoft.com/office/drawing/2014/main" id="{D8AD6E94-DC7C-4BF2-A1A2-F76D1138DCA9}"/>
              </a:ext>
            </a:extLst>
          </p:cNvPr>
          <p:cNvSpPr>
            <a:spLocks xmlns:a="http://schemas.openxmlformats.org/drawingml/2006/main" noGrp="1"/>
          </p:cNvSpPr>
          <p:nvPr/>
        </p:nvSpPr>
        <p:spPr>
          <a:xfrm xmlns:a="http://schemas.openxmlformats.org/drawingml/2006/main">
            <a:off x="5334000" y="3352800"/>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523"/>
                </a:solidFill>
                <a:latin typeface="Arial"/>
                <a:ea typeface="Arial"/>
                <a:cs typeface="Arial"/>
              </a:defRPr>
            </a:pPr>
            <a:r>
              <a:rPr sz="2025" b="0">
                <a:solidFill>
                  <a:srgbClr val="202523"/>
                </a:solidFill>
                <a:latin typeface="Arial"/>
                <a:ea typeface="Arial"/>
                <a:cs typeface="Arial"/>
              </a:rPr>
              <a:t>Reserve the supplier, price and deadline before signing.</a:t>
            </a:r>
          </a:p>
        </p:txBody>
      </p:sp>
      <p:sp>
        <p:nvSpPr>
          <p:cNvPr id="6" name="">
            <a:extLst xmlns:a="http://schemas.openxmlformats.org/drawingml/2006/main">
              <a:ext uri="{FF2B5EF4-FFF2-40B4-BE49-F238E27FC236}">
                <a16:creationId xmlns:a16="http://schemas.microsoft.com/office/drawing/2014/main" id="{C99EE098-364B-4DB3-86E7-8CB3F465D75D}"/>
              </a:ext>
            </a:extLst>
          </p:cNvPr>
          <p:cNvSpPr>
            <a:spLocks xmlns:a="http://schemas.openxmlformats.org/drawingml/2006/main" noGrp="1"/>
          </p:cNvSpPr>
          <p:nvPr/>
        </p:nvSpPr>
        <p:spPr>
          <a:xfrm xmlns:a="http://schemas.openxmlformats.org/drawingml/2006/main">
            <a:off x="609600" y="425767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53CD5"/>
                </a:solidFill>
                <a:latin typeface="Arial"/>
                <a:ea typeface="Arial"/>
                <a:cs typeface="Arial"/>
              </a:defRPr>
            </a:pPr>
            <a:r>
              <a:rPr sz="2550" b="1">
                <a:solidFill>
                  <a:srgbClr val="253CD5"/>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AF3C072C-CC5E-4940-ACC2-13EBBE1989DF}"/>
              </a:ext>
            </a:extLst>
          </p:cNvPr>
          <p:cNvSpPr>
            <a:spLocks xmlns:a="http://schemas.openxmlformats.org/drawingml/2006/main" noGrp="1"/>
          </p:cNvSpPr>
          <p:nvPr/>
        </p:nvSpPr>
        <p:spPr>
          <a:xfrm xmlns:a="http://schemas.openxmlformats.org/drawingml/2006/main">
            <a:off x="1571625" y="4257675"/>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523"/>
                </a:solidFill>
                <a:latin typeface="Arial"/>
                <a:ea typeface="Arial"/>
                <a:cs typeface="Arial"/>
              </a:defRPr>
            </a:pPr>
            <a:r>
              <a:rPr sz="2175" b="1">
                <a:solidFill>
                  <a:srgbClr val="202523"/>
                </a:solidFill>
                <a:latin typeface="Arial"/>
                <a:ea typeface="Arial"/>
                <a:cs typeface="Arial"/>
              </a:rPr>
              <a:t>Check the deliverable</a:t>
            </a:r>
          </a:p>
        </p:txBody>
      </p:sp>
      <p:sp>
        <p:nvSpPr>
          <p:cNvPr id="8" name="">
            <a:extLst xmlns:a="http://schemas.openxmlformats.org/drawingml/2006/main">
              <a:ext uri="{FF2B5EF4-FFF2-40B4-BE49-F238E27FC236}">
                <a16:creationId xmlns:a16="http://schemas.microsoft.com/office/drawing/2014/main" id="{6FFB1952-93BA-4D46-B265-693666821761}"/>
              </a:ext>
            </a:extLst>
          </p:cNvPr>
          <p:cNvSpPr>
            <a:spLocks xmlns:a="http://schemas.openxmlformats.org/drawingml/2006/main" noGrp="1"/>
          </p:cNvSpPr>
          <p:nvPr/>
        </p:nvSpPr>
        <p:spPr>
          <a:xfrm xmlns:a="http://schemas.openxmlformats.org/drawingml/2006/main">
            <a:off x="5334000" y="4257675"/>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523"/>
                </a:solidFill>
                <a:latin typeface="Arial"/>
                <a:ea typeface="Arial"/>
                <a:cs typeface="Arial"/>
              </a:defRPr>
            </a:pPr>
            <a:r>
              <a:rPr sz="2025" b="0">
                <a:solidFill>
                  <a:srgbClr val="202523"/>
                </a:solidFill>
                <a:latin typeface="Arial"/>
                <a:ea typeface="Arial"/>
                <a:cs typeface="Arial"/>
              </a:rPr>
              <a:t>Bind the receipt to the order; independently re-fetch facts.</a:t>
            </a:r>
          </a:p>
        </p:txBody>
      </p:sp>
      <p:sp>
        <p:nvSpPr>
          <p:cNvPr id="9" name="">
            <a:extLst xmlns:a="http://schemas.openxmlformats.org/drawingml/2006/main">
              <a:ext uri="{FF2B5EF4-FFF2-40B4-BE49-F238E27FC236}">
                <a16:creationId xmlns:a16="http://schemas.microsoft.com/office/drawing/2014/main" id="{F20E2C85-B583-41CF-A5B0-F2C6D170BD25}"/>
              </a:ext>
            </a:extLst>
          </p:cNvPr>
          <p:cNvSpPr>
            <a:spLocks xmlns:a="http://schemas.openxmlformats.org/drawingml/2006/main" noGrp="1"/>
          </p:cNvSpPr>
          <p:nvPr/>
        </p:nvSpPr>
        <p:spPr>
          <a:xfrm xmlns:a="http://schemas.openxmlformats.org/drawingml/2006/main">
            <a:off x="609600" y="51625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53CD5"/>
                </a:solidFill>
                <a:latin typeface="Arial"/>
                <a:ea typeface="Arial"/>
                <a:cs typeface="Arial"/>
              </a:defRPr>
            </a:pPr>
            <a:r>
              <a:rPr sz="2550" b="1">
                <a:solidFill>
                  <a:srgbClr val="253CD5"/>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26C0909-B6D5-4937-82F9-5CDE1BB2807E}"/>
              </a:ext>
            </a:extLst>
          </p:cNvPr>
          <p:cNvSpPr>
            <a:spLocks xmlns:a="http://schemas.openxmlformats.org/drawingml/2006/main" noGrp="1"/>
          </p:cNvSpPr>
          <p:nvPr/>
        </p:nvSpPr>
        <p:spPr>
          <a:xfrm xmlns:a="http://schemas.openxmlformats.org/drawingml/2006/main">
            <a:off x="1571625" y="51625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523"/>
                </a:solidFill>
                <a:latin typeface="Arial"/>
                <a:ea typeface="Arial"/>
                <a:cs typeface="Arial"/>
              </a:defRPr>
            </a:pPr>
            <a:r>
              <a:rPr sz="2175" b="1">
                <a:solidFill>
                  <a:srgbClr val="202523"/>
                </a:solidFill>
                <a:latin typeface="Arial"/>
                <a:ea typeface="Arial"/>
                <a:cs typeface="Arial"/>
              </a:rPr>
              <a:t>Protect the task reward</a:t>
            </a:r>
          </a:p>
        </p:txBody>
      </p:sp>
      <p:sp>
        <p:nvSpPr>
          <p:cNvPr id="11" name="">
            <a:extLst xmlns:a="http://schemas.openxmlformats.org/drawingml/2006/main">
              <a:ext uri="{FF2B5EF4-FFF2-40B4-BE49-F238E27FC236}">
                <a16:creationId xmlns:a16="http://schemas.microsoft.com/office/drawing/2014/main" id="{1E23B351-B079-4320-924F-6FB9154EC390}"/>
              </a:ext>
            </a:extLst>
          </p:cNvPr>
          <p:cNvSpPr>
            <a:spLocks xmlns:a="http://schemas.openxmlformats.org/drawingml/2006/main" noGrp="1"/>
          </p:cNvSpPr>
          <p:nvPr/>
        </p:nvSpPr>
        <p:spPr>
          <a:xfrm xmlns:a="http://schemas.openxmlformats.org/drawingml/2006/main">
            <a:off x="5334000" y="5162550"/>
            <a:ext cx="619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523"/>
                </a:solidFill>
                <a:latin typeface="Arial"/>
                <a:ea typeface="Arial"/>
                <a:cs typeface="Arial"/>
              </a:defRPr>
            </a:pPr>
            <a:r>
              <a:rPr sz="2025" b="0">
                <a:solidFill>
                  <a:srgbClr val="202523"/>
                </a:solidFill>
                <a:latin typeface="Arial"/>
                <a:ea typeface="Arial"/>
                <a:cs typeface="Arial"/>
              </a:rPr>
              <a:t>Reject altered reports; refund the reward after expiry.</a:t>
            </a:r>
          </a:p>
        </p:txBody>
      </p:sp>
      <p:sp>
        <p:nvSpPr>
          <p:cNvPr id="12" name="">
            <a:extLst xmlns:a="http://schemas.openxmlformats.org/drawingml/2006/main">
              <a:ext uri="{FF2B5EF4-FFF2-40B4-BE49-F238E27FC236}">
                <a16:creationId xmlns:a16="http://schemas.microsoft.com/office/drawing/2014/main" id="{57B1E7AC-F54A-4D44-B7F4-2FE54ECED7BE}"/>
              </a:ext>
            </a:extLst>
          </p:cNvPr>
          <p:cNvSpPr>
            <a:spLocks xmlns:a="http://schemas.openxmlformats.org/drawingml/2006/main" noGrp="1"/>
          </p:cNvSpPr>
          <p:nvPr/>
        </p:nvSpPr>
        <p:spPr>
          <a:xfrm xmlns:a="http://schemas.openxmlformats.org/drawingml/2006/main">
            <a:off x="609600" y="62293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6963"/>
                </a:solidFill>
                <a:latin typeface="Arial"/>
                <a:ea typeface="Arial"/>
                <a:cs typeface="Arial"/>
              </a:defRPr>
            </a:pPr>
            <a:r>
              <a:rPr sz="1650" b="0">
                <a:solidFill>
                  <a:srgbClr val="626963"/>
                </a:solidFill>
                <a:latin typeface="Arial"/>
                <a:ea typeface="Arial"/>
                <a:cs typeface="Arial"/>
              </a:rPr>
              <a:t>First use case: paid Solana + Cardano wallet transaction reports.</a:t>
            </a:r>
          </a:p>
        </p:txBody>
      </p:sp>
    </p:spTree>
    <p:extLst>
      <p:ext uri="{BB962C8B-B14F-4D97-AF65-F5344CB8AC3E}">
        <p14:creationId xmlns:p14="http://schemas.microsoft.com/office/powerpoint/2010/main" val="2118412426"/>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4F3ED"/>
        </a:solidFill>
      </p:bgPr>
    </p:bg>
    <p:spTree>
      <p:nvGrpSpPr>
        <p:cNvPr id="1" name=""/>
        <p:cNvGrpSpPr/>
        <p:nvPr/>
      </p:nvGrpSpPr>
      <p:grpSpPr>
        <a:xfrm/>
      </p:grpSpPr>
      <p:sp>
        <p:nvSpPr>
          <p:cNvPr id="7" name="">
            <a:extLst>
              <a:ext uri="{FF2B5EF4-FFF2-40B4-BE49-F238E27FC236}">
                <ns2:creationId id="{241A82EB-40B6-49CB-A0A8-4E1F040B6824}"/>
              </a:ext>
            </a:extLst>
          </p:cNvPr>
          <p:cNvSpPr>
            <a:spLocks noGrp="1"/>
          </p:cNvSpPr>
          <p:nvPr/>
        </p:nvSpPr>
        <p:spPr>
          <a:xfrm>
            <a:off x="609600" y="428625"/>
            <a:ext cx="10972800" cy="1000125"/>
          </a:xfrm>
          <a:prstGeom prst="rect">
            <a:avLst/>
          </a:prstGeom>
          <a:noFill/>
          <a:ln w="0">
            <a:noFill/>
          </a:ln>
        </p:spPr>
        <p:txBody>
          <a:bodyPr>
            <a:noAutofit/>
          </a:bodyPr>
          <a:lstStyle/>
          <a:p>
            <a:pPr>
              <a:defRPr sz="3450" b="1">
                <a:solidFill>
                  <a:srgbClr val="202523"/>
                </a:solidFill>
                <a:latin typeface="Arial"/>
                <a:ea typeface="Arial"/>
                <a:cs typeface="Arial"/>
              </a:defRPr>
            </a:pPr>
            <a:r>
              <a:rPr sz="3450" b="1">
                <a:solidFill>
                  <a:srgbClr val="202523"/>
                </a:solidFill>
                <a:latin typeface="Arial"/>
                <a:ea typeface="Arial"/>
                <a:cs typeface="Arial"/>
              </a:rPr>
              <a:t>The working prototype</a:t>
            </a:r>
          </a:p>
        </p:txBody>
      </p:sp>
      <p:sp>
        <p:nvSpPr>
          <p:cNvPr id="2" name="">
            <a:extLst>
              <a:ext uri="{FF2B5EF4-FFF2-40B4-BE49-F238E27FC236}">
                <ns2:creationId id="{34B46F0F-611D-46D8-9EFB-3CDA30B75CD8}"/>
              </a:ext>
            </a:extLst>
          </p:cNvPr>
          <p:cNvSpPr>
            <a:spLocks noGrp="1"/>
          </p:cNvSpPr>
          <p:nvPr/>
        </p:nvSpPr>
        <p:spPr>
          <a:xfrm>
            <a:off x="609600" y="1333500"/>
            <a:ext cx="10572750" cy="381000"/>
          </a:xfrm>
          <a:prstGeom prst="rect">
            <a:avLst/>
          </a:prstGeom>
          <a:noFill/>
          <a:ln w="0">
            <a:noFill/>
          </a:ln>
        </p:spPr>
        <p:txBody>
          <a:bodyPr>
            <a:noAutofit/>
          </a:bodyPr>
          <a:lstStyle/>
          <a:p>
            <a:pPr>
              <a:defRPr sz="1800" b="0">
                <a:solidFill>
                  <a:srgbClr val="253CD5"/>
                </a:solidFill>
                <a:latin typeface="Arial"/>
                <a:ea typeface="Arial"/>
                <a:cs typeface="Arial"/>
              </a:defRPr>
            </a:pPr>
            <a:r>
              <a:rPr sz="1800" b="0">
                <a:solidFill>
                  <a:srgbClr val="253CD5"/>
                </a:solidFill>
                <a:latin typeface="Arial"/>
                <a:ea typeface="Arial"/>
                <a:cs typeface="Arial"/>
              </a:rPr>
              <a:t>Recorded rehearsal · sample data · no assets moved</a:t>
            </a:r>
          </a:p>
        </p:txBody>
      </p:sp>
      <p:pic>
        <p:nvPicPr>
          <p:cNvPr id="9" name="Orca Orders recorded rehearsal">
            <a:hlinkClick action="ppaction://media"/>
          </p:cNvPr>
          <p:cNvPicPr>
            <a:picLocks noChangeAspect="1"/>
          </p:cNvPicPr>
          <p:nvPr>
            <a:videoFile r:link="rOrcaVideo"/>
            <p:extLst>
              <p:ext uri="{DAA4B4D4-6D71-4841-9C94-3DE7FCFB9230}">
                <p14:media r:embed="rOrcaMedia"/>
              </p:ext>
            </p:extLst>
          </p:nvPr>
        </p:nvPicPr>
        <p:blipFill>
          <a:blip r:embed="Rb602b80126804c0e"/>
          <a:stretch/>
        </p:blipFill>
        <p:spPr>
          <a:xfrm>
            <a:off x="610658" y="1924050"/>
            <a:ext cx="8094133" cy="4552950"/>
          </a:xfrm>
          <a:prstGeom prst="rect">
            <a:avLst/>
          </a:prstGeom>
        </p:spPr>
      </p:pic>
      <p:sp>
        <p:nvSpPr>
          <p:cNvPr id="4" name="">
            <a:extLst>
              <a:ext uri="{FF2B5EF4-FFF2-40B4-BE49-F238E27FC236}">
                <ns2:creationId id="{21926BBC-A1DD-4CF5-B702-6D0FDADA5D99}"/>
              </a:ext>
            </a:extLst>
          </p:cNvPr>
          <p:cNvSpPr>
            <a:spLocks noGrp="1"/>
          </p:cNvSpPr>
          <p:nvPr/>
        </p:nvSpPr>
        <p:spPr>
          <a:xfrm>
            <a:off x="9048750" y="2047875"/>
            <a:ext cx="2571750" cy="1000125"/>
          </a:xfrm>
          <a:prstGeom prst="rect">
            <a:avLst/>
          </a:prstGeom>
          <a:noFill/>
          <a:ln w="0">
            <a:noFill/>
          </a:ln>
        </p:spPr>
        <p:txBody>
          <a:bodyPr>
            <a:noAutofit/>
          </a:bodyPr>
          <a:lstStyle/>
          <a:p>
            <a:pPr>
              <a:defRPr sz="2100" b="1">
                <a:solidFill>
                  <a:srgbClr val="202523"/>
                </a:solidFill>
                <a:latin typeface="Arial"/>
                <a:ea typeface="Arial"/>
                <a:cs typeface="Arial"/>
              </a:defRPr>
            </a:pPr>
            <a:r>
              <a:rPr sz="2100" b="1">
                <a:solidFill>
                  <a:srgbClr val="202523"/>
                </a:solidFill>
                <a:latin typeface="Arial"/>
                <a:ea typeface="Arial"/>
                <a:cs typeface="Arial"/>
              </a:rPr>
              <a:t>Success</a:t>
            </a:r>
          </a:p>
          <a:p>
            <a:pPr>
              <a:defRPr sz="2100" b="1">
                <a:solidFill>
                  <a:srgbClr val="202523"/>
                </a:solidFill>
                <a:latin typeface="Arial"/>
                <a:ea typeface="Arial"/>
                <a:cs typeface="Arial"/>
              </a:defRPr>
            </a:pPr>
            <a:r>
              <a:rPr sz="2100" b="1">
                <a:solidFill>
                  <a:srgbClr val="202523"/>
                </a:solidFill>
                <a:latin typeface="Arial"/>
                <a:ea typeface="Arial"/>
                <a:cs typeface="Arial"/>
              </a:rPr>
              <a:t>Reward released after checks.</a:t>
            </a:r>
          </a:p>
        </p:txBody>
      </p:sp>
      <p:sp>
        <p:nvSpPr>
          <p:cNvPr id="5" name="">
            <a:extLst>
              <a:ext uri="{FF2B5EF4-FFF2-40B4-BE49-F238E27FC236}">
                <ns2:creationId id="{7660B729-D919-412A-A083-9DE0E5B9686E}"/>
              </a:ext>
            </a:extLst>
          </p:cNvPr>
          <p:cNvSpPr>
            <a:spLocks noGrp="1"/>
          </p:cNvSpPr>
          <p:nvPr/>
        </p:nvSpPr>
        <p:spPr>
          <a:xfrm>
            <a:off x="9048750" y="3524250"/>
            <a:ext cx="2571750" cy="1095375"/>
          </a:xfrm>
          <a:prstGeom prst="rect">
            <a:avLst/>
          </a:prstGeom>
          <a:noFill/>
          <a:ln w="0">
            <a:noFill/>
          </a:ln>
        </p:spPr>
        <p:txBody>
          <a:bodyPr>
            <a:noAutofit/>
          </a:bodyPr>
          <a:lstStyle/>
          <a:p>
            <a:pPr>
              <a:defRPr sz="2100" b="1">
                <a:solidFill>
                  <a:srgbClr val="202523"/>
                </a:solidFill>
                <a:latin typeface="Arial"/>
                <a:ea typeface="Arial"/>
                <a:cs typeface="Arial"/>
              </a:defRPr>
            </a:pPr>
            <a:r>
              <a:rPr sz="2100" b="1">
                <a:solidFill>
                  <a:srgbClr val="202523"/>
                </a:solidFill>
                <a:latin typeface="Arial"/>
                <a:ea typeface="Arial"/>
                <a:cs typeface="Arial"/>
              </a:rPr>
              <a:t>Tampering</a:t>
            </a:r>
          </a:p>
          <a:p>
            <a:pPr>
              <a:defRPr sz="2100" b="1">
                <a:solidFill>
                  <a:srgbClr val="202523"/>
                </a:solidFill>
                <a:latin typeface="Arial"/>
                <a:ea typeface="Arial"/>
                <a:cs typeface="Arial"/>
              </a:defRPr>
            </a:pPr>
            <a:r>
              <a:rPr sz="2100" b="1">
                <a:solidFill>
                  <a:srgbClr val="202523"/>
                </a:solidFill>
                <a:latin typeface="Arial"/>
                <a:ea typeface="Arial"/>
                <a:cs typeface="Arial"/>
              </a:rPr>
              <a:t>Changed facts are rejected.</a:t>
            </a:r>
          </a:p>
        </p:txBody>
      </p:sp>
      <p:sp>
        <p:nvSpPr>
          <p:cNvPr id="6" name="">
            <a:extLst>
              <a:ext uri="{FF2B5EF4-FFF2-40B4-BE49-F238E27FC236}">
                <ns2:creationId id="{A3C9122E-153C-4F70-A4DD-91ABE31B6E05}"/>
              </a:ext>
            </a:extLst>
          </p:cNvPr>
          <p:cNvSpPr>
            <a:spLocks noGrp="1"/>
          </p:cNvSpPr>
          <p:nvPr/>
        </p:nvSpPr>
        <p:spPr>
          <a:xfrm>
            <a:off x="9048750" y="5095875"/>
            <a:ext cx="2571750" cy="1047750"/>
          </a:xfrm>
          <a:prstGeom prst="rect">
            <a:avLst/>
          </a:prstGeom>
          <a:noFill/>
          <a:ln w="0">
            <a:noFill/>
          </a:ln>
        </p:spPr>
        <p:txBody>
          <a:bodyPr>
            <a:noAutofit/>
          </a:bodyPr>
          <a:lstStyle/>
          <a:p>
            <a:pPr>
              <a:defRPr sz="2100" b="1">
                <a:solidFill>
                  <a:srgbClr val="202523"/>
                </a:solidFill>
                <a:latin typeface="Arial"/>
                <a:ea typeface="Arial"/>
                <a:cs typeface="Arial"/>
              </a:defRPr>
            </a:pPr>
            <a:r>
              <a:rPr sz="2100" b="1">
                <a:solidFill>
                  <a:srgbClr val="202523"/>
                </a:solidFill>
                <a:latin typeface="Arial"/>
                <a:ea typeface="Arial"/>
                <a:cs typeface="Arial"/>
              </a:rPr>
              <a:t>Expiry</a:t>
            </a:r>
          </a:p>
          <a:p>
            <a:pPr>
              <a:defRPr sz="2100" b="1">
                <a:solidFill>
                  <a:srgbClr val="202523"/>
                </a:solidFill>
                <a:latin typeface="Arial"/>
                <a:ea typeface="Arial"/>
                <a:cs typeface="Arial"/>
              </a:defRPr>
            </a:pPr>
            <a:r>
              <a:rPr sz="2100" b="1">
                <a:solidFill>
                  <a:srgbClr val="202523"/>
                </a:solidFill>
                <a:latin typeface="Arial"/>
                <a:ea typeface="Arial"/>
                <a:cs typeface="Arial"/>
              </a:rPr>
              <a:t>Buyer reward is refunded.</a:t>
            </a:r>
          </a:p>
        </p:txBody>
      </p:sp>
    </p:spTree>
    <p:extLst>
      <p:ext uri="{BB962C8B-B14F-4D97-AF65-F5344CB8AC3E}">
        <p14:creationId val="1832176850"/>
      </p:ext>
    </p:extLst>
  </p:cSld>
  <p:timing>
    <p:tnLst>
      <p:par>
        <p:cTn id="1" dur="indefinite" restart="never" nodeType="tmRoot">
          <p:childTnLst>
            <p:video fullScrn="1">
              <p:cMediaNode vol="80000">
                <p:cTn id="2" fill="hold" display="0">
                  <p:stCondLst>
                    <p:cond delay="0"/>
                  </p:stCondLst>
                </p:cTn>
                <p:tgtEl>
                  <p:spTgt spid="9"/>
                </p:tgtEl>
              </p:cMediaNode>
            </p:video>
          </p:childTnLst>
        </p:cTn>
      </p:par>
    </p:tnLst>
  </p:timing>
</p:sld>
</file>

<file path=ppt/slides/slide4.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FEDCBAA-D88F-45AC-A46C-4E47CC0365A5}"/>
              </a:ext>
            </a:extLst>
          </p:cNvPr>
          <p:cNvSpPr>
            <a:spLocks xmlns:a="http://schemas.openxmlformats.org/drawingml/2006/main" noGrp="1"/>
          </p:cNvSpPr>
          <p:nvPr/>
        </p:nvSpPr>
        <p:spPr>
          <a:xfrm xmlns:a="http://schemas.openxmlformats.org/drawingml/2006/main">
            <a:off x="609600" y="42862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523"/>
                </a:solidFill>
                <a:latin typeface="Arial"/>
                <a:ea typeface="Arial"/>
                <a:cs typeface="Arial"/>
              </a:defRPr>
            </a:pPr>
            <a:r>
              <a:rPr sz="3450" b="1">
                <a:solidFill>
                  <a:srgbClr val="202523"/>
                </a:solidFill>
                <a:latin typeface="Arial"/>
                <a:ea typeface="Arial"/>
                <a:cs typeface="Arial"/>
              </a:rPr>
              <a:t>Four sponsors. One necessary flow.</a:t>
            </a:r>
          </a:p>
        </p:txBody>
      </p:sp>
      <p:sp>
        <p:nvSpPr>
          <p:cNvPr id="2" name="">
            <a:extLst xmlns:a="http://schemas.openxmlformats.org/drawingml/2006/main">
              <a:ext uri="{FF2B5EF4-FFF2-40B4-BE49-F238E27FC236}">
                <a16:creationId xmlns:a16="http://schemas.microsoft.com/office/drawing/2014/main" id="{9FE5C98F-A993-4A96-A3E8-D1CFEF877203}"/>
              </a:ext>
            </a:extLst>
          </p:cNvPr>
          <p:cNvSpPr>
            <a:spLocks xmlns:a="http://schemas.openxmlformats.org/drawingml/2006/main" noGrp="1"/>
          </p:cNvSpPr>
          <p:nvPr/>
        </p:nvSpPr>
        <p:spPr>
          <a:xfrm xmlns:a="http://schemas.openxmlformats.org/drawingml/2006/main">
            <a:off x="609600" y="18669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53CD5"/>
                </a:solidFill>
                <a:latin typeface="Arial"/>
                <a:ea typeface="Arial"/>
                <a:cs typeface="Arial"/>
              </a:defRPr>
            </a:pPr>
            <a:r>
              <a:rPr sz="2550" b="1">
                <a:solidFill>
                  <a:srgbClr val="253CD5"/>
                </a:solidFill>
                <a:latin typeface="Arial"/>
                <a:ea typeface="Arial"/>
                <a:cs typeface="Arial"/>
              </a:rPr>
              <a:t>Solana</a:t>
            </a:r>
          </a:p>
        </p:txBody>
      </p:sp>
      <p:sp>
        <p:nvSpPr>
          <p:cNvPr id="3" name="">
            <a:extLst xmlns:a="http://schemas.openxmlformats.org/drawingml/2006/main">
              <a:ext uri="{FF2B5EF4-FFF2-40B4-BE49-F238E27FC236}">
                <a16:creationId xmlns:a16="http://schemas.microsoft.com/office/drawing/2014/main" id="{2F7A5702-91F7-4124-A9A3-E52E653E720F}"/>
              </a:ext>
            </a:extLst>
          </p:cNvPr>
          <p:cNvSpPr>
            <a:spLocks xmlns:a="http://schemas.openxmlformats.org/drawingml/2006/main" noGrp="1"/>
          </p:cNvSpPr>
          <p:nvPr/>
        </p:nvSpPr>
        <p:spPr>
          <a:xfrm xmlns:a="http://schemas.openxmlformats.org/drawingml/2006/main">
            <a:off x="3848100" y="1866900"/>
            <a:ext cx="771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523"/>
                </a:solidFill>
                <a:latin typeface="Arial"/>
                <a:ea typeface="Arial"/>
                <a:cs typeface="Arial"/>
              </a:defRPr>
            </a:pPr>
            <a:r>
              <a:rPr sz="2175" b="0">
                <a:solidFill>
                  <a:srgbClr val="202523"/>
                </a:solidFill>
                <a:latin typeface="Arial"/>
                <a:ea typeface="Arial"/>
                <a:cs typeface="Arial"/>
              </a:rPr>
              <a:t>Task escrow, quote reservation, settlement and expiry refund.</a:t>
            </a:r>
          </a:p>
        </p:txBody>
      </p:sp>
      <p:sp>
        <p:nvSpPr>
          <p:cNvPr id="4" name="">
            <a:extLst xmlns:a="http://schemas.openxmlformats.org/drawingml/2006/main">
              <a:ext uri="{FF2B5EF4-FFF2-40B4-BE49-F238E27FC236}">
                <a16:creationId xmlns:a16="http://schemas.microsoft.com/office/drawing/2014/main" id="{76A11D2C-2537-4821-91D4-110FFDA8FF84}"/>
              </a:ext>
            </a:extLst>
          </p:cNvPr>
          <p:cNvSpPr>
            <a:spLocks xmlns:a="http://schemas.openxmlformats.org/drawingml/2006/main" noGrp="1"/>
          </p:cNvSpPr>
          <p:nvPr/>
        </p:nvSpPr>
        <p:spPr>
          <a:xfrm xmlns:a="http://schemas.openxmlformats.org/drawingml/2006/main">
            <a:off x="609600" y="27813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53CD5"/>
                </a:solidFill>
                <a:latin typeface="Arial"/>
                <a:ea typeface="Arial"/>
                <a:cs typeface="Arial"/>
              </a:defRPr>
            </a:pPr>
            <a:r>
              <a:rPr sz="2550" b="1">
                <a:solidFill>
                  <a:srgbClr val="253CD5"/>
                </a:solidFill>
                <a:latin typeface="Arial"/>
                <a:ea typeface="Arial"/>
                <a:cs typeface="Arial"/>
              </a:rPr>
              <a:t>Cardano</a:t>
            </a:r>
          </a:p>
        </p:txBody>
      </p:sp>
      <p:sp>
        <p:nvSpPr>
          <p:cNvPr id="5" name="">
            <a:extLst xmlns:a="http://schemas.openxmlformats.org/drawingml/2006/main">
              <a:ext uri="{FF2B5EF4-FFF2-40B4-BE49-F238E27FC236}">
                <a16:creationId xmlns:a16="http://schemas.microsoft.com/office/drawing/2014/main" id="{4918EC85-01B1-41F8-BADD-BCF557751772}"/>
              </a:ext>
            </a:extLst>
          </p:cNvPr>
          <p:cNvSpPr>
            <a:spLocks xmlns:a="http://schemas.openxmlformats.org/drawingml/2006/main" noGrp="1"/>
          </p:cNvSpPr>
          <p:nvPr/>
        </p:nvSpPr>
        <p:spPr>
          <a:xfrm xmlns:a="http://schemas.openxmlformats.org/drawingml/2006/main">
            <a:off x="3848100" y="2781300"/>
            <a:ext cx="771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523"/>
                </a:solidFill>
                <a:latin typeface="Arial"/>
                <a:ea typeface="Arial"/>
                <a:cs typeface="Arial"/>
              </a:defRPr>
            </a:pPr>
            <a:r>
              <a:rPr sz="2175" b="0">
                <a:solidFill>
                  <a:srgbClr val="202523"/>
                </a:solidFill>
                <a:latin typeface="Arial"/>
                <a:ea typeface="Arial"/>
                <a:cs typeface="Arial"/>
              </a:rPr>
              <a:t>The agent buys the reporting resource through x402.</a:t>
            </a:r>
          </a:p>
        </p:txBody>
      </p:sp>
      <p:sp>
        <p:nvSpPr>
          <p:cNvPr id="6" name="">
            <a:extLst xmlns:a="http://schemas.openxmlformats.org/drawingml/2006/main">
              <a:ext uri="{FF2B5EF4-FFF2-40B4-BE49-F238E27FC236}">
                <a16:creationId xmlns:a16="http://schemas.microsoft.com/office/drawing/2014/main" id="{8A2C7C59-E21D-4916-9797-3A17BD0AA23D}"/>
              </a:ext>
            </a:extLst>
          </p:cNvPr>
          <p:cNvSpPr>
            <a:spLocks xmlns:a="http://schemas.openxmlformats.org/drawingml/2006/main" noGrp="1"/>
          </p:cNvSpPr>
          <p:nvPr/>
        </p:nvSpPr>
        <p:spPr>
          <a:xfrm xmlns:a="http://schemas.openxmlformats.org/drawingml/2006/main">
            <a:off x="609600" y="36957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53CD5"/>
                </a:solidFill>
                <a:latin typeface="Arial"/>
                <a:ea typeface="Arial"/>
                <a:cs typeface="Arial"/>
              </a:defRPr>
            </a:pPr>
            <a:r>
              <a:rPr sz="2550" b="1">
                <a:solidFill>
                  <a:srgbClr val="253CD5"/>
                </a:solidFill>
                <a:latin typeface="Arial"/>
                <a:ea typeface="Arial"/>
                <a:cs typeface="Arial"/>
              </a:rPr>
              <a:t>NOWNodes</a:t>
            </a:r>
          </a:p>
        </p:txBody>
      </p:sp>
      <p:sp>
        <p:nvSpPr>
          <p:cNvPr id="7" name="">
            <a:extLst xmlns:a="http://schemas.openxmlformats.org/drawingml/2006/main">
              <a:ext uri="{FF2B5EF4-FFF2-40B4-BE49-F238E27FC236}">
                <a16:creationId xmlns:a16="http://schemas.microsoft.com/office/drawing/2014/main" id="{FA330EAC-7B45-4248-88DD-CC4F96E7E278}"/>
              </a:ext>
            </a:extLst>
          </p:cNvPr>
          <p:cNvSpPr>
            <a:spLocks xmlns:a="http://schemas.openxmlformats.org/drawingml/2006/main" noGrp="1"/>
          </p:cNvSpPr>
          <p:nvPr/>
        </p:nvSpPr>
        <p:spPr>
          <a:xfrm xmlns:a="http://schemas.openxmlformats.org/drawingml/2006/main">
            <a:off x="3848100" y="3695700"/>
            <a:ext cx="771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523"/>
                </a:solidFill>
                <a:latin typeface="Arial"/>
                <a:ea typeface="Arial"/>
                <a:cs typeface="Arial"/>
              </a:defRPr>
            </a:pPr>
            <a:r>
              <a:rPr sz="2175" b="0">
                <a:solidFill>
                  <a:srgbClr val="202523"/>
                </a:solidFill>
                <a:latin typeface="Arial"/>
                <a:ea typeface="Arial"/>
                <a:cs typeface="Arial"/>
              </a:rPr>
              <a:t>Confirmed Solana and Cardano mainnet facts.</a:t>
            </a:r>
          </a:p>
        </p:txBody>
      </p:sp>
      <p:sp>
        <p:nvSpPr>
          <p:cNvPr id="8" name="">
            <a:extLst xmlns:a="http://schemas.openxmlformats.org/drawingml/2006/main">
              <a:ext uri="{FF2B5EF4-FFF2-40B4-BE49-F238E27FC236}">
                <a16:creationId xmlns:a16="http://schemas.microsoft.com/office/drawing/2014/main" id="{B9BD9DC2-54F5-4CF6-B486-181ECB0A6BF6}"/>
              </a:ext>
            </a:extLst>
          </p:cNvPr>
          <p:cNvSpPr>
            <a:spLocks xmlns:a="http://schemas.openxmlformats.org/drawingml/2006/main" noGrp="1"/>
          </p:cNvSpPr>
          <p:nvPr/>
        </p:nvSpPr>
        <p:spPr>
          <a:xfrm xmlns:a="http://schemas.openxmlformats.org/drawingml/2006/main">
            <a:off x="609600" y="46101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53CD5"/>
                </a:solidFill>
                <a:latin typeface="Arial"/>
                <a:ea typeface="Arial"/>
                <a:cs typeface="Arial"/>
              </a:defRPr>
            </a:pPr>
            <a:r>
              <a:rPr sz="2550" b="1">
                <a:solidFill>
                  <a:srgbClr val="253CD5"/>
                </a:solidFill>
                <a:latin typeface="Arial"/>
                <a:ea typeface="Arial"/>
                <a:cs typeface="Arial"/>
              </a:rPr>
              <a:t>Chainlink CRE</a:t>
            </a:r>
          </a:p>
        </p:txBody>
      </p:sp>
      <p:sp>
        <p:nvSpPr>
          <p:cNvPr id="9" name="">
            <a:extLst xmlns:a="http://schemas.openxmlformats.org/drawingml/2006/main">
              <a:ext uri="{FF2B5EF4-FFF2-40B4-BE49-F238E27FC236}">
                <a16:creationId xmlns:a16="http://schemas.microsoft.com/office/drawing/2014/main" id="{068E99DD-2534-4B9B-9E01-10B5A5342299}"/>
              </a:ext>
            </a:extLst>
          </p:cNvPr>
          <p:cNvSpPr>
            <a:spLocks xmlns:a="http://schemas.openxmlformats.org/drawingml/2006/main" noGrp="1"/>
          </p:cNvSpPr>
          <p:nvPr/>
        </p:nvSpPr>
        <p:spPr>
          <a:xfrm xmlns:a="http://schemas.openxmlformats.org/drawingml/2006/main">
            <a:off x="3848100" y="4610100"/>
            <a:ext cx="7715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523"/>
                </a:solidFill>
                <a:latin typeface="Arial"/>
                <a:ea typeface="Arial"/>
                <a:cs typeface="Arial"/>
              </a:defRPr>
            </a:pPr>
            <a:r>
              <a:rPr sz="2175" b="0">
                <a:solidFill>
                  <a:srgbClr val="202523"/>
                </a:solidFill>
                <a:latin typeface="Arial"/>
                <a:ea typeface="Arial"/>
                <a:cs typeface="Arial"/>
              </a:rPr>
              <a:t>Independent escrow, payment, signature and fact checks.</a:t>
            </a:r>
          </a:p>
        </p:txBody>
      </p:sp>
      <p:sp>
        <p:nvSpPr>
          <p:cNvPr id="10" name="">
            <a:extLst xmlns:a="http://schemas.openxmlformats.org/drawingml/2006/main">
              <a:ext uri="{FF2B5EF4-FFF2-40B4-BE49-F238E27FC236}">
                <a16:creationId xmlns:a16="http://schemas.microsoft.com/office/drawing/2014/main" id="{F486C826-561C-40FE-9185-87CB2BC909AB}"/>
              </a:ext>
            </a:extLst>
          </p:cNvPr>
          <p:cNvSpPr>
            <a:spLocks xmlns:a="http://schemas.openxmlformats.org/drawingml/2006/main" noGrp="1"/>
          </p:cNvSpPr>
          <p:nvPr/>
        </p:nvSpPr>
        <p:spPr>
          <a:xfrm xmlns:a="http://schemas.openxmlformats.org/drawingml/2006/main">
            <a:off x="609600" y="57340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963"/>
                </a:solidFill>
                <a:latin typeface="Arial"/>
                <a:ea typeface="Arial"/>
                <a:cs typeface="Arial"/>
              </a:defRPr>
            </a:pPr>
            <a:r>
              <a:rPr sz="1875" b="0">
                <a:solidFill>
                  <a:srgbClr val="626963"/>
                </a:solidFill>
                <a:latin typeface="Arial"/>
                <a:ea typeface="Arial"/>
                <a:cs typeface="Arial"/>
              </a:rPr>
              <a:t>Solana Devnet + Cardano preprod · separate test-asset payments</a:t>
            </a:r>
          </a:p>
        </p:txBody>
      </p:sp>
      <p:sp>
        <p:nvSpPr>
          <p:cNvPr id="11" name="">
            <a:extLst xmlns:a="http://schemas.openxmlformats.org/drawingml/2006/main">
              <a:ext uri="{FF2B5EF4-FFF2-40B4-BE49-F238E27FC236}">
                <a16:creationId xmlns:a16="http://schemas.microsoft.com/office/drawing/2014/main" id="{4B3AC576-B072-45A9-9C10-3FEEE17B4B53}"/>
              </a:ext>
            </a:extLst>
          </p:cNvPr>
          <p:cNvSpPr>
            <a:spLocks xmlns:a="http://schemas.openxmlformats.org/drawingml/2006/main" noGrp="1"/>
          </p:cNvSpPr>
          <p:nvPr/>
        </p:nvSpPr>
        <p:spPr>
          <a:xfrm xmlns:a="http://schemas.openxmlformats.org/drawingml/2006/main">
            <a:off x="609600" y="61341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26963"/>
                </a:solidFill>
                <a:latin typeface="Arial"/>
                <a:ea typeface="Arial"/>
                <a:cs typeface="Arial"/>
              </a:defRPr>
            </a:pPr>
            <a:r>
              <a:rPr sz="1875" b="0">
                <a:solidFill>
                  <a:srgbClr val="626963"/>
                </a:solidFill>
                <a:latin typeface="Arial"/>
                <a:ea typeface="Arial"/>
                <a:cs typeface="Arial"/>
              </a:rPr>
              <a:t>CRE local simulation + trusted relayer; no DON deployment claimed.</a:t>
            </a:r>
          </a:p>
        </p:txBody>
      </p:sp>
    </p:spTree>
    <p:extLst>
      <p:ext uri="{BB962C8B-B14F-4D97-AF65-F5344CB8AC3E}">
        <p14:creationId xmlns:p14="http://schemas.microsoft.com/office/powerpoint/2010/main" val="420851476"/>
      </p:ext>
    </p:extLst>
  </p:cSld>
</p:sld>
</file>

<file path=ppt/slides/slide5.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5DC9FCB-D910-4D22-991C-AA242125EC7C}"/>
              </a:ext>
            </a:extLst>
          </p:cNvPr>
          <p:cNvSpPr>
            <a:spLocks xmlns:a="http://schemas.openxmlformats.org/drawingml/2006/main" noGrp="1"/>
          </p:cNvSpPr>
          <p:nvPr/>
        </p:nvSpPr>
        <p:spPr>
          <a:xfrm xmlns:a="http://schemas.openxmlformats.org/drawingml/2006/main">
            <a:off x="609600" y="42862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523"/>
                </a:solidFill>
                <a:latin typeface="Arial"/>
                <a:ea typeface="Arial"/>
                <a:cs typeface="Arial"/>
              </a:defRPr>
            </a:pPr>
            <a:r>
              <a:rPr sz="3450" b="1">
                <a:solidFill>
                  <a:srgbClr val="202523"/>
                </a:solidFill>
                <a:latin typeface="Arial"/>
                <a:ea typeface="Arial"/>
                <a:cs typeface="Arial"/>
              </a:rPr>
              <a:t>Tested locally. Live proof comes next.</a:t>
            </a:r>
          </a:p>
        </p:txBody>
      </p:sp>
      <p:sp>
        <p:nvSpPr>
          <p:cNvPr id="2" name="">
            <a:extLst xmlns:a="http://schemas.openxmlformats.org/drawingml/2006/main">
              <a:ext uri="{FF2B5EF4-FFF2-40B4-BE49-F238E27FC236}">
                <a16:creationId xmlns:a16="http://schemas.microsoft.com/office/drawing/2014/main" id="{9BD46D70-4B83-44CF-9FC4-5E0A03FA1CBC}"/>
              </a:ext>
            </a:extLst>
          </p:cNvPr>
          <p:cNvSpPr>
            <a:spLocks xmlns:a="http://schemas.openxmlformats.org/drawingml/2006/main" noGrp="1"/>
          </p:cNvSpPr>
          <p:nvPr/>
        </p:nvSpPr>
        <p:spPr>
          <a:xfrm xmlns:a="http://schemas.openxmlformats.org/drawingml/2006/main">
            <a:off x="609600" y="1666875"/>
            <a:ext cx="2476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253CD5"/>
                </a:solidFill>
                <a:latin typeface="Arial"/>
                <a:ea typeface="Arial"/>
                <a:cs typeface="Arial"/>
              </a:defRPr>
            </a:pPr>
            <a:r>
              <a:rPr sz="8700" b="1">
                <a:solidFill>
                  <a:srgbClr val="253CD5"/>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69949116-3549-4D1C-9F61-81EA8816141C}"/>
              </a:ext>
            </a:extLst>
          </p:cNvPr>
          <p:cNvSpPr>
            <a:spLocks xmlns:a="http://schemas.openxmlformats.org/drawingml/2006/main" noGrp="1"/>
          </p:cNvSpPr>
          <p:nvPr/>
        </p:nvSpPr>
        <p:spPr>
          <a:xfrm xmlns:a="http://schemas.openxmlformats.org/drawingml/2006/main">
            <a:off x="609600" y="31432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523"/>
                </a:solidFill>
                <a:latin typeface="Arial"/>
                <a:ea typeface="Arial"/>
                <a:cs typeface="Arial"/>
              </a:defRPr>
            </a:pPr>
            <a:r>
              <a:rPr sz="2550" b="1">
                <a:solidFill>
                  <a:srgbClr val="202523"/>
                </a:solidFill>
                <a:latin typeface="Arial"/>
                <a:ea typeface="Arial"/>
                <a:cs typeface="Arial"/>
              </a:rPr>
              <a:t>passing tests</a:t>
            </a:r>
          </a:p>
        </p:txBody>
      </p:sp>
      <p:sp>
        <p:nvSpPr>
          <p:cNvPr id="4" name="">
            <a:extLst xmlns:a="http://schemas.openxmlformats.org/drawingml/2006/main">
              <a:ext uri="{FF2B5EF4-FFF2-40B4-BE49-F238E27FC236}">
                <a16:creationId xmlns:a16="http://schemas.microsoft.com/office/drawing/2014/main" id="{692BB7B7-6D5D-4AA8-9F2D-A9E12BF229B8}"/>
              </a:ext>
            </a:extLst>
          </p:cNvPr>
          <p:cNvSpPr>
            <a:spLocks xmlns:a="http://schemas.openxmlformats.org/drawingml/2006/main" noGrp="1"/>
          </p:cNvSpPr>
          <p:nvPr/>
        </p:nvSpPr>
        <p:spPr>
          <a:xfrm xmlns:a="http://schemas.openxmlformats.org/drawingml/2006/main">
            <a:off x="609600" y="3867150"/>
            <a:ext cx="3810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523"/>
                </a:solidFill>
                <a:latin typeface="Arial"/>
                <a:ea typeface="Arial"/>
                <a:cs typeface="Arial"/>
              </a:defRPr>
            </a:pPr>
            <a:r>
              <a:rPr sz="2025" b="0">
                <a:solidFill>
                  <a:srgbClr val="202523"/>
                </a:solidFill>
                <a:latin typeface="Arial"/>
                <a:ea typeface="Arial"/>
                <a:cs typeface="Arial"/>
              </a:rPr>
              <a:t>Escrow VM checks</a:t>
            </a:r>
          </a:p>
          <a:p xmlns:a="http://schemas.openxmlformats.org/drawingml/2006/main">
            <a:pPr>
              <a:defRPr sz="2025" b="0">
                <a:solidFill>
                  <a:srgbClr val="202523"/>
                </a:solidFill>
                <a:latin typeface="Arial"/>
                <a:ea typeface="Arial"/>
                <a:cs typeface="Arial"/>
              </a:defRPr>
            </a:pPr>
            <a:r>
              <a:rPr sz="2025" b="0">
                <a:solidFill>
                  <a:srgbClr val="202523"/>
                </a:solidFill>
                <a:latin typeface="Arial"/>
                <a:ea typeface="Arial"/>
                <a:cs typeface="Arial"/>
              </a:rPr>
              <a:t>Receipt and payment binding</a:t>
            </a:r>
          </a:p>
          <a:p xmlns:a="http://schemas.openxmlformats.org/drawingml/2006/main">
            <a:pPr>
              <a:defRPr sz="2025" b="0">
                <a:solidFill>
                  <a:srgbClr val="202523"/>
                </a:solidFill>
                <a:latin typeface="Arial"/>
                <a:ea typeface="Arial"/>
                <a:cs typeface="Arial"/>
              </a:defRPr>
            </a:pPr>
            <a:r>
              <a:rPr sz="2025" b="0">
                <a:solidFill>
                  <a:srgbClr val="202523"/>
                </a:solidFill>
                <a:latin typeface="Arial"/>
                <a:ea typeface="Arial"/>
                <a:cs typeface="Arial"/>
              </a:rPr>
              <a:t>Tamper rejection and recovery</a:t>
            </a:r>
          </a:p>
        </p:txBody>
      </p:sp>
      <p:sp>
        <p:nvSpPr>
          <p:cNvPr id="5" name="">
            <a:extLst xmlns:a="http://schemas.openxmlformats.org/drawingml/2006/main">
              <a:ext uri="{FF2B5EF4-FFF2-40B4-BE49-F238E27FC236}">
                <a16:creationId xmlns:a16="http://schemas.microsoft.com/office/drawing/2014/main" id="{4DE64C43-2D74-403A-BC54-537AF9846C16}"/>
              </a:ext>
            </a:extLst>
          </p:cNvPr>
          <p:cNvSpPr>
            <a:spLocks xmlns:a="http://schemas.openxmlformats.org/drawingml/2006/main" noGrp="1"/>
          </p:cNvSpPr>
          <p:nvPr/>
        </p:nvSpPr>
        <p:spPr>
          <a:xfrm xmlns:a="http://schemas.openxmlformats.org/drawingml/2006/main">
            <a:off x="5429250" y="18478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202523"/>
                </a:solidFill>
                <a:latin typeface="Arial"/>
                <a:ea typeface="Arial"/>
                <a:cs typeface="Arial"/>
              </a:defRPr>
            </a:pPr>
            <a:r>
              <a:rPr sz="2775" b="1">
                <a:solidFill>
                  <a:srgbClr val="202523"/>
                </a:solidFill>
                <a:latin typeface="Arial"/>
                <a:ea typeface="Arial"/>
                <a:cs typeface="Arial"/>
              </a:rPr>
              <a:t>Compiled artifacts</a:t>
            </a:r>
          </a:p>
        </p:txBody>
      </p:sp>
      <p:sp>
        <p:nvSpPr>
          <p:cNvPr id="6" name="">
            <a:extLst xmlns:a="http://schemas.openxmlformats.org/drawingml/2006/main">
              <a:ext uri="{FF2B5EF4-FFF2-40B4-BE49-F238E27FC236}">
                <a16:creationId xmlns:a16="http://schemas.microsoft.com/office/drawing/2014/main" id="{3B32ABCE-1D1A-43BB-AA3F-806040F9F7A3}"/>
              </a:ext>
            </a:extLst>
          </p:cNvPr>
          <p:cNvSpPr>
            <a:spLocks xmlns:a="http://schemas.openxmlformats.org/drawingml/2006/main" noGrp="1"/>
          </p:cNvSpPr>
          <p:nvPr/>
        </p:nvSpPr>
        <p:spPr>
          <a:xfrm xmlns:a="http://schemas.openxmlformats.org/drawingml/2006/main">
            <a:off x="5429250" y="2667000"/>
            <a:ext cx="581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523"/>
                </a:solidFill>
                <a:latin typeface="Arial"/>
                <a:ea typeface="Arial"/>
                <a:cs typeface="Arial"/>
              </a:defRPr>
            </a:pPr>
            <a:r>
              <a:rPr sz="2100" b="0">
                <a:solidFill>
                  <a:srgbClr val="202523"/>
                </a:solidFill>
                <a:latin typeface="Arial"/>
                <a:ea typeface="Arial"/>
                <a:cs typeface="Arial"/>
              </a:rPr>
              <a:t>Native Solana program · tested in LiteSVM</a:t>
            </a:r>
          </a:p>
          <a:p xmlns:a="http://schemas.openxmlformats.org/drawingml/2006/main">
            <a:pPr>
              <a:defRPr sz="2100" b="0">
                <a:solidFill>
                  <a:srgbClr val="202523"/>
                </a:solidFill>
                <a:latin typeface="Arial"/>
                <a:ea typeface="Arial"/>
                <a:cs typeface="Arial"/>
              </a:defRPr>
            </a:pPr>
            <a:r>
              <a:rPr sz="2100" b="0">
                <a:solidFill>
                  <a:srgbClr val="202523"/>
                </a:solidFill>
                <a:latin typeface="Arial"/>
                <a:ea typeface="Arial"/>
                <a:cs typeface="Arial"/>
              </a:rPr>
              <a:t>CRE verification workflow · WebAssembly</a:t>
            </a:r>
          </a:p>
        </p:txBody>
      </p:sp>
      <p:sp>
        <p:nvSpPr>
          <p:cNvPr id="7" name="">
            <a:extLst xmlns:a="http://schemas.openxmlformats.org/drawingml/2006/main">
              <a:ext uri="{FF2B5EF4-FFF2-40B4-BE49-F238E27FC236}">
                <a16:creationId xmlns:a16="http://schemas.microsoft.com/office/drawing/2014/main" id="{22A92CAF-BDCA-4FD9-A392-08041A6C3101}"/>
              </a:ext>
            </a:extLst>
          </p:cNvPr>
          <p:cNvSpPr>
            <a:spLocks xmlns:a="http://schemas.openxmlformats.org/drawingml/2006/main" noGrp="1"/>
          </p:cNvSpPr>
          <p:nvPr/>
        </p:nvSpPr>
        <p:spPr>
          <a:xfrm xmlns:a="http://schemas.openxmlformats.org/drawingml/2006/main">
            <a:off x="5429250" y="401955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53CD5"/>
                </a:solidFill>
                <a:latin typeface="Arial"/>
                <a:ea typeface="Arial"/>
                <a:cs typeface="Arial"/>
              </a:defRPr>
            </a:pPr>
            <a:r>
              <a:rPr sz="2400" b="1">
                <a:solidFill>
                  <a:srgbClr val="253CD5"/>
                </a:solidFill>
                <a:latin typeface="Arial"/>
                <a:ea typeface="Arial"/>
                <a:cs typeface="Arial"/>
              </a:rPr>
              <a:t>Still required</a:t>
            </a:r>
          </a:p>
        </p:txBody>
      </p:sp>
      <p:sp>
        <p:nvSpPr>
          <p:cNvPr id="8" name="">
            <a:extLst xmlns:a="http://schemas.openxmlformats.org/drawingml/2006/main">
              <a:ext uri="{FF2B5EF4-FFF2-40B4-BE49-F238E27FC236}">
                <a16:creationId xmlns:a16="http://schemas.microsoft.com/office/drawing/2014/main" id="{D7D01C84-9BB4-4842-9688-167FE7D67A6C}"/>
              </a:ext>
            </a:extLst>
          </p:cNvPr>
          <p:cNvSpPr>
            <a:spLocks xmlns:a="http://schemas.openxmlformats.org/drawingml/2006/main" noGrp="1"/>
          </p:cNvSpPr>
          <p:nvPr/>
        </p:nvSpPr>
        <p:spPr>
          <a:xfrm xmlns:a="http://schemas.openxmlformats.org/drawingml/2006/main">
            <a:off x="5429250" y="4724400"/>
            <a:ext cx="5905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523"/>
                </a:solidFill>
                <a:latin typeface="Arial"/>
                <a:ea typeface="Arial"/>
                <a:cs typeface="Arial"/>
              </a:defRPr>
            </a:pPr>
            <a:r>
              <a:rPr sz="2025" b="0">
                <a:solidFill>
                  <a:srgbClr val="202523"/>
                </a:solidFill>
                <a:latin typeface="Arial"/>
                <a:ea typeface="Arial"/>
                <a:cs typeface="Arial"/>
              </a:rPr>
              <a:t>Sponsor API access and CRE login</a:t>
            </a:r>
          </a:p>
          <a:p xmlns:a="http://schemas.openxmlformats.org/drawingml/2006/main">
            <a:pPr>
              <a:defRPr sz="2025" b="0">
                <a:solidFill>
                  <a:srgbClr val="202523"/>
                </a:solidFill>
                <a:latin typeface="Arial"/>
                <a:ea typeface="Arial"/>
                <a:cs typeface="Arial"/>
              </a:defRPr>
            </a:pPr>
            <a:r>
              <a:rPr sz="2025" b="0">
                <a:solidFill>
                  <a:srgbClr val="202523"/>
                </a:solidFill>
                <a:latin typeface="Arial"/>
                <a:ea typeface="Arial"/>
                <a:cs typeface="Arial"/>
              </a:rPr>
              <a:t>Funded test wallets + actual chain execution</a:t>
            </a:r>
          </a:p>
          <a:p xmlns:a="http://schemas.openxmlformats.org/drawingml/2006/main">
            <a:pPr>
              <a:defRPr sz="2025" b="0">
                <a:solidFill>
                  <a:srgbClr val="202523"/>
                </a:solidFill>
                <a:latin typeface="Arial"/>
                <a:ea typeface="Arial"/>
                <a:cs typeface="Arial"/>
              </a:defRPr>
            </a:pPr>
            <a:r>
              <a:rPr sz="2025" b="0">
                <a:solidFill>
                  <a:srgbClr val="202523"/>
                </a:solidFill>
                <a:latin typeface="Arial"/>
                <a:ea typeface="Arial"/>
                <a:cs typeface="Arial"/>
              </a:rPr>
              <a:t>Stable demo + accessible source repository</a:t>
            </a:r>
          </a:p>
        </p:txBody>
      </p:sp>
      <p:sp>
        <p:nvSpPr>
          <p:cNvPr id="9" name="">
            <a:extLst xmlns:a="http://schemas.openxmlformats.org/drawingml/2006/main">
              <a:ext uri="{FF2B5EF4-FFF2-40B4-BE49-F238E27FC236}">
                <a16:creationId xmlns:a16="http://schemas.microsoft.com/office/drawing/2014/main" id="{4DA506A5-99C5-41E1-B7A0-3C8BA6826D2D}"/>
              </a:ext>
            </a:extLst>
          </p:cNvPr>
          <p:cNvSpPr>
            <a:spLocks xmlns:a="http://schemas.openxmlformats.org/drawingml/2006/main" noGrp="1"/>
          </p:cNvSpPr>
          <p:nvPr/>
        </p:nvSpPr>
        <p:spPr>
          <a:xfrm xmlns:a="http://schemas.openxmlformats.org/drawingml/2006/main">
            <a:off x="609600" y="62674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26963"/>
                </a:solidFill>
                <a:latin typeface="Arial"/>
                <a:ea typeface="Arial"/>
                <a:cs typeface="Arial"/>
              </a:defRPr>
            </a:pPr>
            <a:r>
              <a:rPr sz="1650" b="0">
                <a:solidFill>
                  <a:srgbClr val="626963"/>
                </a:solidFill>
                <a:latin typeface="Arial"/>
                <a:ea typeface="Arial"/>
                <a:cs typeface="Arial"/>
              </a:rPr>
              <a:t>The available recording is rehearsal evidence; sponsor eligibility is pending.</a:t>
            </a:r>
          </a:p>
        </p:txBody>
      </p:sp>
    </p:spTree>
    <p:extLst>
      <p:ext uri="{BB962C8B-B14F-4D97-AF65-F5344CB8AC3E}">
        <p14:creationId xmlns:p14="http://schemas.microsoft.com/office/powerpoint/2010/main" val="1913468683"/>
      </p:ext>
    </p:extLst>
  </p:cSld>
</p:sld>
</file>

<file path=ppt/slides/slide6.xml><?xml version="1.0" encoding="utf-8"?>
<p:sld xmlns:p="http://schemas.openxmlformats.org/presentationml/2006/main">
  <p:cSld>
    <p:bg>
      <p:bgPr>
        <a:solidFill xmlns:a="http://schemas.openxmlformats.org/drawingml/2006/main">
          <a:srgbClr val="F4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08733D-9F26-4AB7-A250-1D5FD6E2F4DF}"/>
              </a:ext>
            </a:extLst>
          </p:cNvPr>
          <p:cNvSpPr>
            <a:spLocks xmlns:a="http://schemas.openxmlformats.org/drawingml/2006/main" noGrp="1"/>
          </p:cNvSpPr>
          <p:nvPr/>
        </p:nvSpPr>
        <p:spPr>
          <a:xfrm xmlns:a="http://schemas.openxmlformats.org/drawingml/2006/main">
            <a:off x="609600" y="42862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202523"/>
                </a:solidFill>
                <a:latin typeface="Arial"/>
                <a:ea typeface="Arial"/>
                <a:cs typeface="Arial"/>
              </a:defRPr>
            </a:pPr>
            <a:r>
              <a:rPr sz="3450" b="1">
                <a:solidFill>
                  <a:srgbClr val="202523"/>
                </a:solidFill>
                <a:latin typeface="Arial"/>
                <a:ea typeface="Arial"/>
                <a:cs typeface="Arial"/>
              </a:rPr>
              <a:t>From one report to repeatable operations.</a:t>
            </a:r>
          </a:p>
        </p:txBody>
      </p:sp>
      <p:sp>
        <p:nvSpPr>
          <p:cNvPr id="2" name="">
            <a:extLst xmlns:a="http://schemas.openxmlformats.org/drawingml/2006/main">
              <a:ext uri="{FF2B5EF4-FFF2-40B4-BE49-F238E27FC236}">
                <a16:creationId xmlns:a16="http://schemas.microsoft.com/office/drawing/2014/main" id="{71173B98-499F-497E-B494-0204CFDB0143}"/>
              </a:ext>
            </a:extLst>
          </p:cNvPr>
          <p:cNvSpPr>
            <a:spLocks xmlns:a="http://schemas.openxmlformats.org/drawingml/2006/main" noGrp="1"/>
          </p:cNvSpPr>
          <p:nvPr/>
        </p:nvSpPr>
        <p:spPr>
          <a:xfrm xmlns:a="http://schemas.openxmlformats.org/drawingml/2006/main">
            <a:off x="609600" y="175260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53CD5"/>
                </a:solidFill>
                <a:latin typeface="Arial"/>
                <a:ea typeface="Arial"/>
                <a:cs typeface="Arial"/>
              </a:defRPr>
            </a:pPr>
            <a:r>
              <a:rPr sz="2400" b="1">
                <a:solidFill>
                  <a:srgbClr val="253CD5"/>
                </a:solidFill>
                <a:latin typeface="Arial"/>
                <a:ea typeface="Arial"/>
                <a:cs typeface="Arial"/>
              </a:rPr>
              <a:t>First users</a:t>
            </a:r>
          </a:p>
        </p:txBody>
      </p:sp>
      <p:sp>
        <p:nvSpPr>
          <p:cNvPr id="3" name="">
            <a:extLst xmlns:a="http://schemas.openxmlformats.org/drawingml/2006/main">
              <a:ext uri="{FF2B5EF4-FFF2-40B4-BE49-F238E27FC236}">
                <a16:creationId xmlns:a16="http://schemas.microsoft.com/office/drawing/2014/main" id="{283EE33A-BFE5-44A1-BAA3-3361F40B6102}"/>
              </a:ext>
            </a:extLst>
          </p:cNvPr>
          <p:cNvSpPr>
            <a:spLocks xmlns:a="http://schemas.openxmlformats.org/drawingml/2006/main" noGrp="1"/>
          </p:cNvSpPr>
          <p:nvPr/>
        </p:nvSpPr>
        <p:spPr>
          <a:xfrm xmlns:a="http://schemas.openxmlformats.org/drawingml/2006/main">
            <a:off x="609600" y="24479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02523"/>
                </a:solidFill>
                <a:latin typeface="Arial"/>
                <a:ea typeface="Arial"/>
                <a:cs typeface="Arial"/>
              </a:defRPr>
            </a:pPr>
            <a:r>
              <a:rPr sz="2850" b="1">
                <a:solidFill>
                  <a:srgbClr val="202523"/>
                </a:solidFill>
                <a:latin typeface="Arial"/>
                <a:ea typeface="Arial"/>
                <a:cs typeface="Arial"/>
              </a:rPr>
              <a:t>Blockchain operations teams buying</a:t>
            </a:r>
          </a:p>
          <a:p xmlns:a="http://schemas.openxmlformats.org/drawingml/2006/main">
            <a:pPr>
              <a:defRPr sz="2850" b="1">
                <a:solidFill>
                  <a:srgbClr val="202523"/>
                </a:solidFill>
                <a:latin typeface="Arial"/>
                <a:ea typeface="Arial"/>
                <a:cs typeface="Arial"/>
              </a:defRPr>
            </a:pPr>
            <a:r>
              <a:rPr sz="2850" b="1">
                <a:solidFill>
                  <a:srgbClr val="202523"/>
                </a:solidFill>
                <a:latin typeface="Arial"/>
                <a:ea typeface="Arial"/>
                <a:cs typeface="Arial"/>
              </a:rPr>
              <a:t>repeatable wallet activity reports.</a:t>
            </a:r>
          </a:p>
        </p:txBody>
      </p:sp>
      <p:sp>
        <p:nvSpPr>
          <p:cNvPr id="4" name="">
            <a:extLst xmlns:a="http://schemas.openxmlformats.org/drawingml/2006/main">
              <a:ext uri="{FF2B5EF4-FFF2-40B4-BE49-F238E27FC236}">
                <a16:creationId xmlns:a16="http://schemas.microsoft.com/office/drawing/2014/main" id="{0800D71F-ACCD-4114-9203-32867FC70FB5}"/>
              </a:ext>
            </a:extLst>
          </p:cNvPr>
          <p:cNvSpPr>
            <a:spLocks xmlns:a="http://schemas.openxmlformats.org/drawingml/2006/main" noGrp="1"/>
          </p:cNvSpPr>
          <p:nvPr/>
        </p:nvSpPr>
        <p:spPr>
          <a:xfrm xmlns:a="http://schemas.openxmlformats.org/drawingml/2006/main">
            <a:off x="609600" y="3829050"/>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523"/>
                </a:solidFill>
                <a:latin typeface="Arial"/>
                <a:ea typeface="Arial"/>
                <a:cs typeface="Arial"/>
              </a:defRPr>
            </a:pPr>
            <a:r>
              <a:rPr sz="2100" b="1">
                <a:solidFill>
                  <a:srgbClr val="202523"/>
                </a:solidFill>
                <a:latin typeface="Arial"/>
                <a:ea typeface="Arial"/>
                <a:cs typeface="Arial"/>
              </a:rPr>
              <a:t>Business hypothesis</a:t>
            </a:r>
          </a:p>
        </p:txBody>
      </p:sp>
      <p:sp>
        <p:nvSpPr>
          <p:cNvPr id="5" name="">
            <a:extLst xmlns:a="http://schemas.openxmlformats.org/drawingml/2006/main">
              <a:ext uri="{FF2B5EF4-FFF2-40B4-BE49-F238E27FC236}">
                <a16:creationId xmlns:a16="http://schemas.microsoft.com/office/drawing/2014/main" id="{65C020D7-8C2B-4550-A4E8-4C7A6039469A}"/>
              </a:ext>
            </a:extLst>
          </p:cNvPr>
          <p:cNvSpPr>
            <a:spLocks xmlns:a="http://schemas.openxmlformats.org/drawingml/2006/main" noGrp="1"/>
          </p:cNvSpPr>
          <p:nvPr/>
        </p:nvSpPr>
        <p:spPr>
          <a:xfrm xmlns:a="http://schemas.openxmlformats.org/drawingml/2006/main">
            <a:off x="4572000" y="3829050"/>
            <a:ext cx="685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523"/>
                </a:solidFill>
                <a:latin typeface="Arial"/>
                <a:ea typeface="Arial"/>
                <a:cs typeface="Arial"/>
              </a:defRPr>
            </a:pPr>
            <a:r>
              <a:rPr sz="2100" b="0">
                <a:solidFill>
                  <a:srgbClr val="202523"/>
                </a:solidFill>
                <a:latin typeface="Arial"/>
                <a:ea typeface="Arial"/>
                <a:cs typeface="Arial"/>
              </a:rPr>
              <a:t>Per-task verification fee or team subscription.</a:t>
            </a:r>
          </a:p>
          <a:p xmlns:a="http://schemas.openxmlformats.org/drawingml/2006/main">
            <a:pPr>
              <a:defRPr sz="2100" b="0">
                <a:solidFill>
                  <a:srgbClr val="202523"/>
                </a:solidFill>
                <a:latin typeface="Arial"/>
                <a:ea typeface="Arial"/>
                <a:cs typeface="Arial"/>
              </a:defRPr>
            </a:pPr>
            <a:r>
              <a:rPr sz="2100" b="0">
                <a:solidFill>
                  <a:srgbClr val="202523"/>
                </a:solidFill>
                <a:latin typeface="Arial"/>
                <a:ea typeface="Arial"/>
                <a:cs typeface="Arial"/>
              </a:rPr>
              <a:t>Validate budgets, reporting errors and audit needs first.</a:t>
            </a:r>
          </a:p>
        </p:txBody>
      </p:sp>
      <p:sp>
        <p:nvSpPr>
          <p:cNvPr id="6" name="">
            <a:extLst xmlns:a="http://schemas.openxmlformats.org/drawingml/2006/main">
              <a:ext uri="{FF2B5EF4-FFF2-40B4-BE49-F238E27FC236}">
                <a16:creationId xmlns:a16="http://schemas.microsoft.com/office/drawing/2014/main" id="{E6C0C757-09CE-4BFF-A2E0-614B8FE1D539}"/>
              </a:ext>
            </a:extLst>
          </p:cNvPr>
          <p:cNvSpPr>
            <a:spLocks xmlns:a="http://schemas.openxmlformats.org/drawingml/2006/main" noGrp="1"/>
          </p:cNvSpPr>
          <p:nvPr/>
        </p:nvSpPr>
        <p:spPr>
          <a:xfrm xmlns:a="http://schemas.openxmlformats.org/drawingml/2006/main">
            <a:off x="609600" y="528637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523"/>
                </a:solidFill>
                <a:latin typeface="Arial"/>
                <a:ea typeface="Arial"/>
                <a:cs typeface="Arial"/>
              </a:defRPr>
            </a:pPr>
            <a:r>
              <a:rPr sz="2100" b="1">
                <a:solidFill>
                  <a:srgbClr val="202523"/>
                </a:solidFill>
                <a:latin typeface="Arial"/>
                <a:ea typeface="Arial"/>
                <a:cs typeface="Arial"/>
              </a:rPr>
              <a:t>Next milestone</a:t>
            </a:r>
          </a:p>
        </p:txBody>
      </p:sp>
      <p:sp>
        <p:nvSpPr>
          <p:cNvPr id="7" name="">
            <a:extLst xmlns:a="http://schemas.openxmlformats.org/drawingml/2006/main">
              <a:ext uri="{FF2B5EF4-FFF2-40B4-BE49-F238E27FC236}">
                <a16:creationId xmlns:a16="http://schemas.microsoft.com/office/drawing/2014/main" id="{E418E00F-D84B-49AD-B26B-3237D4E365B5}"/>
              </a:ext>
            </a:extLst>
          </p:cNvPr>
          <p:cNvSpPr>
            <a:spLocks xmlns:a="http://schemas.openxmlformats.org/drawingml/2006/main" noGrp="1"/>
          </p:cNvSpPr>
          <p:nvPr/>
        </p:nvSpPr>
        <p:spPr>
          <a:xfrm xmlns:a="http://schemas.openxmlformats.org/drawingml/2006/main">
            <a:off x="4572000" y="5286375"/>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523"/>
                </a:solidFill>
                <a:latin typeface="Arial"/>
                <a:ea typeface="Arial"/>
                <a:cs typeface="Arial"/>
              </a:defRPr>
            </a:pPr>
            <a:r>
              <a:rPr sz="2100" b="0">
                <a:solidFill>
                  <a:srgbClr val="202523"/>
                </a:solidFill>
                <a:latin typeface="Arial"/>
                <a:ea typeface="Arial"/>
                <a:cs typeface="Arial"/>
              </a:rPr>
              <a:t>One genuine end-to-end order, then a judge-ready recording.</a:t>
            </a:r>
          </a:p>
        </p:txBody>
      </p:sp>
      <p:sp>
        <p:nvSpPr>
          <p:cNvPr id="8" name="">
            <a:extLst xmlns:a="http://schemas.openxmlformats.org/drawingml/2006/main">
              <a:ext uri="{FF2B5EF4-FFF2-40B4-BE49-F238E27FC236}">
                <a16:creationId xmlns:a16="http://schemas.microsoft.com/office/drawing/2014/main" id="{C66F3C21-97E6-4AFA-A39A-67C14C6A115F}"/>
              </a:ext>
            </a:extLst>
          </p:cNvPr>
          <p:cNvSpPr>
            <a:spLocks xmlns:a="http://schemas.openxmlformats.org/drawingml/2006/main" noGrp="1"/>
          </p:cNvSpPr>
          <p:nvPr/>
        </p:nvSpPr>
        <p:spPr>
          <a:xfrm xmlns:a="http://schemas.openxmlformats.org/drawingml/2006/main">
            <a:off x="609600" y="62293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53CD5"/>
                </a:solidFill>
                <a:latin typeface="Arial"/>
                <a:ea typeface="Arial"/>
                <a:cs typeface="Arial"/>
              </a:defRPr>
            </a:pPr>
            <a:r>
              <a:rPr sz="1725" b="0">
                <a:solidFill>
                  <a:srgbClr val="253CD5"/>
                </a:solidFill>
                <a:latin typeface="Arial"/>
                <a:ea typeface="Arial"/>
                <a:cs typeface="Arial"/>
              </a:rPr>
              <a:t>Submission target: Oct 7, 22:00 Singapore / 16:00 Berlin</a:t>
            </a:r>
          </a:p>
        </p:txBody>
      </p:sp>
    </p:spTree>
    <p:extLst>
      <p:ext uri="{BB962C8B-B14F-4D97-AF65-F5344CB8AC3E}">
        <p14:creationId xmlns:p14="http://schemas.microsoft.com/office/powerpoint/2010/main" val="13154071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2026-10-06T06:44:58.5470000Z</dcterms:created>
  <dcterms:modified xsi:type="dcterms:W3CDTF">2026-10-06T06:44:58.5470000Z</dcterms:modified>
</coreProperties>
</file>